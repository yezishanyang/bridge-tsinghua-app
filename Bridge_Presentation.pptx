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4" roundtripDataSignature="AMtx7mgDT3Ezqq5MPZ1RNbUhE4LJ1yTp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34" Type="http://customschemas.google.com/relationships/presentationmetadata" Target="meta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8386f7cd2_2_0: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f8386f7cd2_2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t/>
            </a:r>
            <a:endParaRPr/>
          </a:p>
        </p:txBody>
      </p:sp>
      <p:sp>
        <p:nvSpPr>
          <p:cNvPr id="160" name="Google Shape;160;g3f8386f7cd2_2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8386f7cd2_2_6: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f8386f7cd2_2_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1200"/>
              </a:spcAft>
              <a:buSzPts val="1100"/>
              <a:buNone/>
            </a:pPr>
            <a:r>
              <a:t/>
            </a:r>
            <a:endParaRPr/>
          </a:p>
        </p:txBody>
      </p:sp>
      <p:sp>
        <p:nvSpPr>
          <p:cNvPr id="166" name="Google Shape;166;g3f8386f7cd2_2_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8386f7cd2_2_15:notes"/>
          <p:cNvSpPr/>
          <p:nvPr>
            <p:ph idx="2" type="sldImg"/>
          </p:nvPr>
        </p:nvSpPr>
        <p:spPr>
          <a:xfrm>
            <a:off x="685873" y="857250"/>
            <a:ext cx="5486254"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f8386f7cd2_2_1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75" name="Google Shape;175;g3f8386f7cd2_2_1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8386f7cd2_2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t/>
            </a:r>
            <a:endParaRPr>
              <a:solidFill>
                <a:schemeClr val="dk1"/>
              </a:solidFill>
            </a:endParaRPr>
          </a:p>
        </p:txBody>
      </p:sp>
      <p:sp>
        <p:nvSpPr>
          <p:cNvPr id="187" name="Google Shape;187;g3f8386f7cd2_2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83a02227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t/>
            </a:r>
            <a:endParaRPr/>
          </a:p>
        </p:txBody>
      </p:sp>
      <p:sp>
        <p:nvSpPr>
          <p:cNvPr id="197" name="Google Shape;197;g3f83a02227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8386f7cd2_2_118: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3f8386f7cd2_2_11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206" name="Google Shape;206;g3f8386f7cd2_2_11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f8386f7cd2_2_137: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g3f8386f7cd2_2_13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226" name="Google Shape;226;g3f8386f7cd2_2_13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8386f7cd2_2_161: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3f8386f7cd2_2_16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251" name="Google Shape;251;g3f8386f7cd2_2_16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8386f7cd2_2_179: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f8386f7cd2_2_17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270" name="Google Shape;270;g3f8386f7cd2_2_17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8386f7cd2_2_192: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f8386f7cd2_2_19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284" name="Google Shape;284;g3f8386f7cd2_2_19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8386f7cd2_2_205: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3f8386f7cd2_2_20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98" name="Google Shape;298;g3f8386f7cd2_2_20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8386f7cd2_2_216:notes"/>
          <p:cNvSpPr/>
          <p:nvPr>
            <p:ph idx="2" type="sldImg"/>
          </p:nvPr>
        </p:nvSpPr>
        <p:spPr>
          <a:xfrm>
            <a:off x="685873" y="857250"/>
            <a:ext cx="5486254"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3f8386f7cd2_2_2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10" name="Google Shape;310;g3f8386f7cd2_2_2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f8386f7cd2_2_222:notes"/>
          <p:cNvSpPr/>
          <p:nvPr>
            <p:ph idx="2" type="sldImg"/>
          </p:nvPr>
        </p:nvSpPr>
        <p:spPr>
          <a:xfrm>
            <a:off x="685873" y="857250"/>
            <a:ext cx="5486254"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g3f8386f7cd2_2_22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17" name="Google Shape;317;g3f8386f7cd2_2_22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f8386f7cd2_2_234:notes"/>
          <p:cNvSpPr/>
          <p:nvPr>
            <p:ph idx="2" type="sldImg"/>
          </p:nvPr>
        </p:nvSpPr>
        <p:spPr>
          <a:xfrm>
            <a:off x="685873" y="857250"/>
            <a:ext cx="5486254"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g3f8386f7cd2_2_23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30" name="Google Shape;330;g3f8386f7cd2_2_23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f83a022279_6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g3f83a022279_6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f8386f7cd2_2_268: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3f8386f7cd2_2_26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82" name="Google Shape;382;g3f8386f7cd2_2_26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f8386f7cd2_2_307: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g3f8386f7cd2_2_307: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22" name="Google Shape;422;g3f8386f7cd2_2_30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f8386f7cd2_2_318: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g3f8386f7cd2_2_31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434" name="Google Shape;434;g3f8386f7cd2_2_31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8386f7cd2_2_336: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g3f8386f7cd2_2_33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453" name="Google Shape;453;g3f8386f7cd2_2_33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f8386f7cd2_2_369: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g3f8386f7cd2_2_36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487" name="Google Shape;487;g3f8386f7cd2_2_36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f8386f7cd2_2_412: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g3f8386f7cd2_2_41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531" name="Google Shape;531;g3f8386f7cd2_2_41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f8386f7cd2_2_438: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g3f8386f7cd2_2_43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58" name="Google Shape;558;g3f8386f7cd2_2_43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f83a022279_1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t/>
            </a:r>
            <a:endParaRPr/>
          </a:p>
        </p:txBody>
      </p:sp>
      <p:sp>
        <p:nvSpPr>
          <p:cNvPr id="569" name="Google Shape;569;g3f83a022279_1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f8386f7cd2_2_455:notes"/>
          <p:cNvSpPr/>
          <p:nvPr>
            <p:ph idx="2" type="sldImg"/>
          </p:nvPr>
        </p:nvSpPr>
        <p:spPr>
          <a:xfrm>
            <a:off x="685873" y="857250"/>
            <a:ext cx="5486254"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f8386f7cd2_2_45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87" name="Google Shape;587;g3f8386f7cd2_2_45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f8386f7cd2_2_476:notes"/>
          <p:cNvSpPr/>
          <p:nvPr>
            <p:ph idx="2" type="sldImg"/>
          </p:nvPr>
        </p:nvSpPr>
        <p:spPr>
          <a:xfrm>
            <a:off x="685873" y="857250"/>
            <a:ext cx="5486254"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g3f8386f7cd2_2_47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09" name="Google Shape;609;g3f8386f7cd2_2_47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f8386f7cd2_2_502:notes"/>
          <p:cNvSpPr/>
          <p:nvPr>
            <p:ph idx="2" type="sldImg"/>
          </p:nvPr>
        </p:nvSpPr>
        <p:spPr>
          <a:xfrm>
            <a:off x="685873" y="857250"/>
            <a:ext cx="5486254"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f8386f7cd2_2_50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28" name="Google Shape;628;g3f8386f7cd2_2_50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1" name="Shape 8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8" name="Shape 88"/>
        <p:cNvGrpSpPr/>
        <p:nvPr/>
      </p:nvGrpSpPr>
      <p:grpSpPr>
        <a:xfrm>
          <a:off x="0" y="0"/>
          <a:ext cx="0" cy="0"/>
          <a:chOff x="0" y="0"/>
          <a:chExt cx="0" cy="0"/>
        </a:xfrm>
      </p:grpSpPr>
      <p:sp>
        <p:nvSpPr>
          <p:cNvPr id="89" name="Google Shape;89;g3f8386f7cd2_2_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g3f8386f7cd2_2_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g3f8386f7cd2_2_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2" name="Shape 92"/>
        <p:cNvGrpSpPr/>
        <p:nvPr/>
      </p:nvGrpSpPr>
      <p:grpSpPr>
        <a:xfrm>
          <a:off x="0" y="0"/>
          <a:ext cx="0" cy="0"/>
          <a:chOff x="0" y="0"/>
          <a:chExt cx="0" cy="0"/>
        </a:xfrm>
      </p:grpSpPr>
      <p:sp>
        <p:nvSpPr>
          <p:cNvPr id="93" name="Google Shape;93;g3f8386f7cd2_2_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3f8386f7cd2_2_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5" name="Google Shape;95;g3f8386f7cd2_2_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g3f8386f7cd2_2_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g3f8386f7cd2_2_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8" name="Shape 98"/>
        <p:cNvGrpSpPr/>
        <p:nvPr/>
      </p:nvGrpSpPr>
      <p:grpSpPr>
        <a:xfrm>
          <a:off x="0" y="0"/>
          <a:ext cx="0" cy="0"/>
          <a:chOff x="0" y="0"/>
          <a:chExt cx="0" cy="0"/>
        </a:xfrm>
      </p:grpSpPr>
      <p:sp>
        <p:nvSpPr>
          <p:cNvPr id="99" name="Google Shape;99;g3f8386f7cd2_2_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3f8386f7cd2_2_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1" name="Google Shape;101;g3f8386f7cd2_2_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g3f8386f7cd2_2_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g3f8386f7cd2_2_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4" name="Shape 104"/>
        <p:cNvGrpSpPr/>
        <p:nvPr/>
      </p:nvGrpSpPr>
      <p:grpSpPr>
        <a:xfrm>
          <a:off x="0" y="0"/>
          <a:ext cx="0" cy="0"/>
          <a:chOff x="0" y="0"/>
          <a:chExt cx="0" cy="0"/>
        </a:xfrm>
      </p:grpSpPr>
      <p:sp>
        <p:nvSpPr>
          <p:cNvPr id="105" name="Google Shape;105;g3f8386f7cd2_2_4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3f8386f7cd2_2_4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7" name="Google Shape;107;g3f8386f7cd2_2_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3f8386f7cd2_2_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g3f8386f7cd2_2_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0" name="Shape 110"/>
        <p:cNvGrpSpPr/>
        <p:nvPr/>
      </p:nvGrpSpPr>
      <p:grpSpPr>
        <a:xfrm>
          <a:off x="0" y="0"/>
          <a:ext cx="0" cy="0"/>
          <a:chOff x="0" y="0"/>
          <a:chExt cx="0" cy="0"/>
        </a:xfrm>
      </p:grpSpPr>
      <p:sp>
        <p:nvSpPr>
          <p:cNvPr id="111" name="Google Shape;111;g3f8386f7cd2_2_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g3f8386f7cd2_2_5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3" name="Google Shape;113;g3f8386f7cd2_2_5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4" name="Google Shape;114;g3f8386f7cd2_2_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g3f8386f7cd2_2_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g3f8386f7cd2_2_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7" name="Shape 117"/>
        <p:cNvGrpSpPr/>
        <p:nvPr/>
      </p:nvGrpSpPr>
      <p:grpSpPr>
        <a:xfrm>
          <a:off x="0" y="0"/>
          <a:ext cx="0" cy="0"/>
          <a:chOff x="0" y="0"/>
          <a:chExt cx="0" cy="0"/>
        </a:xfrm>
      </p:grpSpPr>
      <p:sp>
        <p:nvSpPr>
          <p:cNvPr id="118" name="Google Shape;118;g3f8386f7cd2_2_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g3f8386f7cd2_2_6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g3f8386f7cd2_2_6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1" name="Google Shape;121;g3f8386f7cd2_2_6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2" name="Google Shape;122;g3f8386f7cd2_2_6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3" name="Google Shape;123;g3f8386f7cd2_2_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g3f8386f7cd2_2_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g3f8386f7cd2_2_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6" name="Shape 126"/>
        <p:cNvGrpSpPr/>
        <p:nvPr/>
      </p:nvGrpSpPr>
      <p:grpSpPr>
        <a:xfrm>
          <a:off x="0" y="0"/>
          <a:ext cx="0" cy="0"/>
          <a:chOff x="0" y="0"/>
          <a:chExt cx="0" cy="0"/>
        </a:xfrm>
      </p:grpSpPr>
      <p:sp>
        <p:nvSpPr>
          <p:cNvPr id="127" name="Google Shape;127;g3f8386f7cd2_2_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3f8386f7cd2_2_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g3f8386f7cd2_2_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g3f8386f7cd2_2_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1" name="Shape 131"/>
        <p:cNvGrpSpPr/>
        <p:nvPr/>
      </p:nvGrpSpPr>
      <p:grpSpPr>
        <a:xfrm>
          <a:off x="0" y="0"/>
          <a:ext cx="0" cy="0"/>
          <a:chOff x="0" y="0"/>
          <a:chExt cx="0" cy="0"/>
        </a:xfrm>
      </p:grpSpPr>
      <p:sp>
        <p:nvSpPr>
          <p:cNvPr id="132" name="Google Shape;132;g3f8386f7cd2_2_7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g3f8386f7cd2_2_7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4" name="Google Shape;134;g3f8386f7cd2_2_7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5" name="Google Shape;135;g3f8386f7cd2_2_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g3f8386f7cd2_2_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g3f8386f7cd2_2_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8" name="Shape 138"/>
        <p:cNvGrpSpPr/>
        <p:nvPr/>
      </p:nvGrpSpPr>
      <p:grpSpPr>
        <a:xfrm>
          <a:off x="0" y="0"/>
          <a:ext cx="0" cy="0"/>
          <a:chOff x="0" y="0"/>
          <a:chExt cx="0" cy="0"/>
        </a:xfrm>
      </p:grpSpPr>
      <p:sp>
        <p:nvSpPr>
          <p:cNvPr id="139" name="Google Shape;139;g3f8386f7cd2_2_8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g3f8386f7cd2_2_83"/>
          <p:cNvSpPr/>
          <p:nvPr>
            <p:ph idx="2" type="pic"/>
          </p:nvPr>
        </p:nvSpPr>
        <p:spPr>
          <a:xfrm>
            <a:off x="1792288" y="612775"/>
            <a:ext cx="5486400" cy="4114800"/>
          </a:xfrm>
          <a:prstGeom prst="rect">
            <a:avLst/>
          </a:prstGeom>
          <a:noFill/>
          <a:ln>
            <a:noFill/>
          </a:ln>
        </p:spPr>
      </p:sp>
      <p:sp>
        <p:nvSpPr>
          <p:cNvPr id="141" name="Google Shape;141;g3f8386f7cd2_2_8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2" name="Google Shape;142;g3f8386f7cd2_2_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g3f8386f7cd2_2_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g3f8386f7cd2_2_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5" name="Shape 145"/>
        <p:cNvGrpSpPr/>
        <p:nvPr/>
      </p:nvGrpSpPr>
      <p:grpSpPr>
        <a:xfrm>
          <a:off x="0" y="0"/>
          <a:ext cx="0" cy="0"/>
          <a:chOff x="0" y="0"/>
          <a:chExt cx="0" cy="0"/>
        </a:xfrm>
      </p:grpSpPr>
      <p:sp>
        <p:nvSpPr>
          <p:cNvPr id="146" name="Google Shape;146;g3f8386f7cd2_2_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g3f8386f7cd2_2_9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8" name="Google Shape;148;g3f8386f7cd2_2_9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g3f8386f7cd2_2_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g3f8386f7cd2_2_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1" name="Shape 151"/>
        <p:cNvGrpSpPr/>
        <p:nvPr/>
      </p:nvGrpSpPr>
      <p:grpSpPr>
        <a:xfrm>
          <a:off x="0" y="0"/>
          <a:ext cx="0" cy="0"/>
          <a:chOff x="0" y="0"/>
          <a:chExt cx="0" cy="0"/>
        </a:xfrm>
      </p:grpSpPr>
      <p:sp>
        <p:nvSpPr>
          <p:cNvPr id="152" name="Google Shape;152;g3f8386f7cd2_2_9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g3f8386f7cd2_2_9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4" name="Google Shape;154;g3f8386f7cd2_2_9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g3f8386f7cd2_2_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g3f8386f7cd2_2_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4.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 name="Shape 82"/>
        <p:cNvGrpSpPr/>
        <p:nvPr/>
      </p:nvGrpSpPr>
      <p:grpSpPr>
        <a:xfrm>
          <a:off x="0" y="0"/>
          <a:ext cx="0" cy="0"/>
          <a:chOff x="0" y="0"/>
          <a:chExt cx="0" cy="0"/>
        </a:xfrm>
      </p:grpSpPr>
      <p:sp>
        <p:nvSpPr>
          <p:cNvPr id="83" name="Google Shape;83;g3f8386f7cd2_2_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4" name="Google Shape;84;g3f8386f7cd2_2_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5" name="Google Shape;85;g3f8386f7cd2_2_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6" name="Google Shape;86;g3f8386f7cd2_2_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7" name="Google Shape;87;g3f8386f7cd2_2_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hyperlink" Target="https://yezishanyang.github.io/Bridge-Tsinghua-Ap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161" name="Shape 161"/>
        <p:cNvGrpSpPr/>
        <p:nvPr/>
      </p:nvGrpSpPr>
      <p:grpSpPr>
        <a:xfrm>
          <a:off x="0" y="0"/>
          <a:ext cx="0" cy="0"/>
          <a:chOff x="0" y="0"/>
          <a:chExt cx="0" cy="0"/>
        </a:xfrm>
      </p:grpSpPr>
      <p:pic>
        <p:nvPicPr>
          <p:cNvPr descr="/home/claude/slide_light.png" id="162" name="Google Shape;162;g3f8386f7cd2_2_0"/>
          <p:cNvPicPr preferRelativeResize="0"/>
          <p:nvPr/>
        </p:nvPicPr>
        <p:blipFill rotWithShape="1">
          <a:blip r:embed="rId3">
            <a:alphaModFix/>
          </a:blip>
          <a:srcRect b="0" l="0" r="0" t="0"/>
          <a:stretch/>
        </p:blipFill>
        <p:spPr>
          <a:xfrm>
            <a:off x="0" y="0"/>
            <a:ext cx="12191371" cy="68578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2E"/>
        </a:solidFill>
      </p:bgPr>
    </p:bg>
    <p:spTree>
      <p:nvGrpSpPr>
        <p:cNvPr id="167" name="Shape 167"/>
        <p:cNvGrpSpPr/>
        <p:nvPr/>
      </p:nvGrpSpPr>
      <p:grpSpPr>
        <a:xfrm>
          <a:off x="0" y="0"/>
          <a:ext cx="0" cy="0"/>
          <a:chOff x="0" y="0"/>
          <a:chExt cx="0" cy="0"/>
        </a:xfrm>
      </p:grpSpPr>
      <p:sp>
        <p:nvSpPr>
          <p:cNvPr id="168" name="Google Shape;168;g3f8386f7cd2_2_6"/>
          <p:cNvSpPr/>
          <p:nvPr/>
        </p:nvSpPr>
        <p:spPr>
          <a:xfrm>
            <a:off x="731500" y="2057400"/>
            <a:ext cx="10728300" cy="155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9EDEA"/>
              </a:buClr>
              <a:buSzPts val="9600"/>
              <a:buFont typeface="Microsoft YaHei"/>
              <a:buNone/>
            </a:pPr>
            <a:r>
              <a:rPr b="1" i="0" lang="en-US" sz="9600" u="none" cap="none" strike="noStrike">
                <a:solidFill>
                  <a:srgbClr val="E9EDEA"/>
                </a:solidFill>
                <a:latin typeface="Microsoft YaHei"/>
                <a:ea typeface="Microsoft YaHei"/>
                <a:cs typeface="Microsoft YaHei"/>
                <a:sym typeface="Microsoft YaHei"/>
              </a:rPr>
              <a:t>死</a:t>
            </a:r>
            <a:r>
              <a:rPr b="0" i="0" lang="en-US" sz="8000" u="none" cap="none" strike="noStrike">
                <a:solidFill>
                  <a:srgbClr val="5F706C"/>
                </a:solidFill>
                <a:latin typeface="Cambria"/>
                <a:ea typeface="Cambria"/>
                <a:cs typeface="Cambria"/>
                <a:sym typeface="Cambria"/>
              </a:rPr>
              <a:t>  =  </a:t>
            </a:r>
            <a:r>
              <a:rPr b="1" i="0" lang="en-US" sz="9600" u="none" cap="none" strike="noStrike">
                <a:solidFill>
                  <a:srgbClr val="B44A3C"/>
                </a:solidFill>
                <a:latin typeface="Microsoft YaHei"/>
                <a:ea typeface="Microsoft YaHei"/>
                <a:cs typeface="Microsoft YaHei"/>
                <a:sym typeface="Microsoft YaHei"/>
              </a:rPr>
              <a:t>？</a:t>
            </a:r>
            <a:endParaRPr b="0" i="0" sz="9600" u="none" cap="none" strike="noStrike">
              <a:solidFill>
                <a:schemeClr val="dk1"/>
              </a:solidFill>
              <a:latin typeface="Calibri"/>
              <a:ea typeface="Calibri"/>
              <a:cs typeface="Calibri"/>
              <a:sym typeface="Calibri"/>
            </a:endParaRPr>
          </a:p>
        </p:txBody>
      </p:sp>
      <p:sp>
        <p:nvSpPr>
          <p:cNvPr id="169" name="Google Shape;169;g3f8386f7cd2_2_6"/>
          <p:cNvSpPr/>
          <p:nvPr/>
        </p:nvSpPr>
        <p:spPr>
          <a:xfrm>
            <a:off x="685950" y="3719950"/>
            <a:ext cx="7772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9EDEA"/>
              </a:buClr>
              <a:buSzPts val="2000"/>
              <a:buFont typeface="Cambria"/>
              <a:buNone/>
            </a:pPr>
            <a:r>
              <a:rPr b="0" i="1" lang="en-US" sz="2000" u="none" cap="none" strike="noStrike">
                <a:solidFill>
                  <a:srgbClr val="E9EDEA"/>
                </a:solidFill>
                <a:latin typeface="Cambria"/>
                <a:ea typeface="Cambria"/>
                <a:cs typeface="Cambria"/>
                <a:sym typeface="Cambria"/>
              </a:rPr>
              <a:t>A universal experience. A local silence.</a:t>
            </a:r>
            <a:endParaRPr b="0" i="0" sz="2000" u="none" cap="none" strike="noStrike">
              <a:solidFill>
                <a:schemeClr val="dk1"/>
              </a:solidFill>
              <a:latin typeface="Calibri"/>
              <a:ea typeface="Calibri"/>
              <a:cs typeface="Calibri"/>
              <a:sym typeface="Calibri"/>
            </a:endParaRPr>
          </a:p>
        </p:txBody>
      </p:sp>
      <p:sp>
        <p:nvSpPr>
          <p:cNvPr id="170" name="Google Shape;170;g3f8386f7cd2_2_6"/>
          <p:cNvSpPr/>
          <p:nvPr/>
        </p:nvSpPr>
        <p:spPr>
          <a:xfrm>
            <a:off x="731501" y="6281928"/>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900"/>
              <a:buFont typeface="Calibri"/>
              <a:buNone/>
            </a:pPr>
            <a:r>
              <a:rPr b="0" i="0" lang="en-US" sz="900" u="none" cap="none" strike="noStrike">
                <a:solidFill>
                  <a:srgbClr val="5F706C"/>
                </a:solidFill>
                <a:latin typeface="Calibri"/>
                <a:ea typeface="Calibri"/>
                <a:cs typeface="Calibri"/>
                <a:sym typeface="Calibri"/>
              </a:rPr>
              <a:t>Bridge · Group 2</a:t>
            </a:r>
            <a:endParaRPr b="0" i="0" sz="900" u="none" cap="none" strike="noStrike">
              <a:solidFill>
                <a:schemeClr val="dk1"/>
              </a:solidFill>
              <a:latin typeface="Calibri"/>
              <a:ea typeface="Calibri"/>
              <a:cs typeface="Calibri"/>
              <a:sym typeface="Calibri"/>
            </a:endParaRPr>
          </a:p>
        </p:txBody>
      </p:sp>
      <p:sp>
        <p:nvSpPr>
          <p:cNvPr id="171" name="Google Shape;171;g3f8386f7cd2_2_6"/>
          <p:cNvSpPr/>
          <p:nvPr/>
        </p:nvSpPr>
        <p:spPr>
          <a:xfrm>
            <a:off x="10545494" y="6281928"/>
            <a:ext cx="9144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F706C"/>
              </a:buClr>
              <a:buSzPts val="900"/>
              <a:buFont typeface="Calibri"/>
              <a:buNone/>
            </a:pPr>
            <a:r>
              <a:rPr b="0" i="0" lang="en-US" sz="900" u="none" cap="none" strike="noStrike">
                <a:solidFill>
                  <a:srgbClr val="5F706C"/>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2E"/>
        </a:solidFill>
      </p:bgPr>
    </p:bg>
    <p:spTree>
      <p:nvGrpSpPr>
        <p:cNvPr id="176" name="Shape 176"/>
        <p:cNvGrpSpPr/>
        <p:nvPr/>
      </p:nvGrpSpPr>
      <p:grpSpPr>
        <a:xfrm>
          <a:off x="0" y="0"/>
          <a:ext cx="0" cy="0"/>
          <a:chOff x="0" y="0"/>
          <a:chExt cx="0" cy="0"/>
        </a:xfrm>
      </p:grpSpPr>
      <p:pic>
        <p:nvPicPr>
          <p:cNvPr descr="/home/claude/badge.png" id="177" name="Google Shape;177;g3f8386f7cd2_2_15"/>
          <p:cNvPicPr preferRelativeResize="0"/>
          <p:nvPr/>
        </p:nvPicPr>
        <p:blipFill rotWithShape="1">
          <a:blip r:embed="rId3">
            <a:alphaModFix/>
          </a:blip>
          <a:srcRect b="0" l="0" r="0" t="0"/>
          <a:stretch/>
        </p:blipFill>
        <p:spPr>
          <a:xfrm>
            <a:off x="10499775" y="685800"/>
            <a:ext cx="914376" cy="914376"/>
          </a:xfrm>
          <a:prstGeom prst="rect">
            <a:avLst/>
          </a:prstGeom>
          <a:noFill/>
          <a:ln>
            <a:noFill/>
          </a:ln>
        </p:spPr>
      </p:pic>
      <p:sp>
        <p:nvSpPr>
          <p:cNvPr id="178" name="Google Shape;178;g3f8386f7cd2_2_15"/>
          <p:cNvSpPr/>
          <p:nvPr/>
        </p:nvSpPr>
        <p:spPr>
          <a:xfrm>
            <a:off x="777219" y="2057400"/>
            <a:ext cx="2743127"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4A3C"/>
              </a:buClr>
              <a:buSzPts val="9600"/>
              <a:buFont typeface="Cambria"/>
              <a:buNone/>
            </a:pPr>
            <a:r>
              <a:rPr b="0" i="0" lang="en-US" sz="9600" u="none" cap="none" strike="noStrike">
                <a:solidFill>
                  <a:srgbClr val="B44A3C"/>
                </a:solidFill>
                <a:latin typeface="Cambria"/>
                <a:ea typeface="Cambria"/>
                <a:cs typeface="Cambria"/>
                <a:sym typeface="Cambria"/>
              </a:rPr>
              <a:t>01</a:t>
            </a:r>
            <a:endParaRPr b="0" i="0" sz="9600" u="none" cap="none" strike="noStrike">
              <a:solidFill>
                <a:schemeClr val="dk1"/>
              </a:solidFill>
              <a:latin typeface="Calibri"/>
              <a:ea typeface="Calibri"/>
              <a:cs typeface="Calibri"/>
              <a:sym typeface="Calibri"/>
            </a:endParaRPr>
          </a:p>
        </p:txBody>
      </p:sp>
      <p:sp>
        <p:nvSpPr>
          <p:cNvPr id="179" name="Google Shape;179;g3f8386f7cd2_2_15"/>
          <p:cNvSpPr/>
          <p:nvPr/>
        </p:nvSpPr>
        <p:spPr>
          <a:xfrm>
            <a:off x="777219" y="3520440"/>
            <a:ext cx="8229381"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9EDEA"/>
              </a:buClr>
              <a:buSzPts val="4400"/>
              <a:buFont typeface="Cambria"/>
              <a:buNone/>
            </a:pPr>
            <a:r>
              <a:rPr b="0" i="0" lang="en-US" sz="4400" u="none" cap="none" strike="noStrike">
                <a:solidFill>
                  <a:srgbClr val="E9EDEA"/>
                </a:solidFill>
                <a:latin typeface="Cambria"/>
                <a:ea typeface="Cambria"/>
                <a:cs typeface="Cambria"/>
                <a:sym typeface="Cambria"/>
              </a:rPr>
              <a:t>The problem</a:t>
            </a:r>
            <a:endParaRPr b="0" i="0" sz="4400" u="none" cap="none" strike="noStrike">
              <a:solidFill>
                <a:schemeClr val="dk1"/>
              </a:solidFill>
              <a:latin typeface="Calibri"/>
              <a:ea typeface="Calibri"/>
              <a:cs typeface="Calibri"/>
              <a:sym typeface="Calibri"/>
            </a:endParaRPr>
          </a:p>
        </p:txBody>
      </p:sp>
      <p:sp>
        <p:nvSpPr>
          <p:cNvPr id="180" name="Google Shape;180;g3f8386f7cd2_2_15"/>
          <p:cNvSpPr/>
          <p:nvPr/>
        </p:nvSpPr>
        <p:spPr>
          <a:xfrm>
            <a:off x="777219" y="4434840"/>
            <a:ext cx="8229381"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FAFA8"/>
              </a:buClr>
              <a:buSzPts val="1700"/>
              <a:buFont typeface="Calibri"/>
              <a:buNone/>
            </a:pPr>
            <a:r>
              <a:rPr b="0" i="0" lang="en-US" sz="1700" u="none" cap="none" strike="noStrike">
                <a:solidFill>
                  <a:srgbClr val="8FAFA8"/>
                </a:solidFill>
                <a:latin typeface="Calibri"/>
                <a:ea typeface="Calibri"/>
                <a:cs typeface="Calibri"/>
                <a:sym typeface="Calibri"/>
              </a:rPr>
              <a:t>Three silences, and who pays for each</a:t>
            </a:r>
            <a:endParaRPr b="0" i="0" sz="1700" u="none" cap="none" strike="noStrike">
              <a:solidFill>
                <a:schemeClr val="dk1"/>
              </a:solidFill>
              <a:latin typeface="Calibri"/>
              <a:ea typeface="Calibri"/>
              <a:cs typeface="Calibri"/>
              <a:sym typeface="Calibri"/>
            </a:endParaRPr>
          </a:p>
        </p:txBody>
      </p:sp>
      <p:sp>
        <p:nvSpPr>
          <p:cNvPr id="181" name="Google Shape;181;g3f8386f7cd2_2_15"/>
          <p:cNvSpPr/>
          <p:nvPr/>
        </p:nvSpPr>
        <p:spPr>
          <a:xfrm>
            <a:off x="777219" y="5609844"/>
            <a:ext cx="118869" cy="118872"/>
          </a:xfrm>
          <a:prstGeom prst="ellipse">
            <a:avLst/>
          </a:prstGeom>
          <a:solidFill>
            <a:srgbClr val="16232E"/>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3f8386f7cd2_2_15"/>
          <p:cNvSpPr/>
          <p:nvPr/>
        </p:nvSpPr>
        <p:spPr>
          <a:xfrm>
            <a:off x="1088107" y="5577840"/>
            <a:ext cx="182875" cy="182880"/>
          </a:xfrm>
          <a:prstGeom prst="ellipse">
            <a:avLst/>
          </a:prstGeom>
          <a:solidFill>
            <a:srgbClr val="16232E"/>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g3f8386f7cd2_2_15"/>
          <p:cNvSpPr/>
          <p:nvPr/>
        </p:nvSpPr>
        <p:spPr>
          <a:xfrm>
            <a:off x="1398995" y="5532120"/>
            <a:ext cx="274313" cy="274320"/>
          </a:xfrm>
          <a:prstGeom prst="ellipse">
            <a:avLst/>
          </a:prstGeom>
          <a:solidFill>
            <a:srgbClr val="16232E"/>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g3f8386f7cd2_2_15"/>
          <p:cNvSpPr/>
          <p:nvPr/>
        </p:nvSpPr>
        <p:spPr>
          <a:xfrm>
            <a:off x="1709882" y="5577840"/>
            <a:ext cx="182875" cy="182880"/>
          </a:xfrm>
          <a:prstGeom prst="ellipse">
            <a:avLst/>
          </a:prstGeom>
          <a:solidFill>
            <a:srgbClr val="B44A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188" name="Shape 188"/>
        <p:cNvGrpSpPr/>
        <p:nvPr/>
      </p:nvGrpSpPr>
      <p:grpSpPr>
        <a:xfrm>
          <a:off x="0" y="0"/>
          <a:ext cx="0" cy="0"/>
          <a:chOff x="0" y="0"/>
          <a:chExt cx="0" cy="0"/>
        </a:xfrm>
      </p:grpSpPr>
      <p:sp>
        <p:nvSpPr>
          <p:cNvPr id="189" name="Google Shape;189;g3f8386f7cd2_2_102"/>
          <p:cNvSpPr txBox="1"/>
          <p:nvPr/>
        </p:nvSpPr>
        <p:spPr>
          <a:xfrm>
            <a:off x="731520" y="365760"/>
            <a:ext cx="106986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1" lang="en-US" sz="1000">
                <a:solidFill>
                  <a:srgbClr val="B44A3C"/>
                </a:solidFill>
                <a:latin typeface="Calibri"/>
                <a:ea typeface="Calibri"/>
                <a:cs typeface="Calibri"/>
                <a:sym typeface="Calibri"/>
              </a:rPr>
              <a:t>Bridge (渡)</a:t>
            </a:r>
            <a:endParaRPr b="0" i="0" sz="1400" u="none" cap="none" strike="noStrike">
              <a:solidFill>
                <a:srgbClr val="A23938"/>
              </a:solidFill>
              <a:latin typeface="Arial"/>
              <a:ea typeface="Arial"/>
              <a:cs typeface="Arial"/>
              <a:sym typeface="Arial"/>
            </a:endParaRPr>
          </a:p>
        </p:txBody>
      </p:sp>
      <p:sp>
        <p:nvSpPr>
          <p:cNvPr id="190" name="Google Shape;190;g3f8386f7cd2_2_102"/>
          <p:cNvSpPr txBox="1"/>
          <p:nvPr/>
        </p:nvSpPr>
        <p:spPr>
          <a:xfrm>
            <a:off x="731520" y="640080"/>
            <a:ext cx="106986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6232E"/>
                </a:solidFill>
                <a:latin typeface="Cambria"/>
                <a:ea typeface="Cambria"/>
                <a:cs typeface="Cambria"/>
                <a:sym typeface="Cambria"/>
              </a:rPr>
              <a:t>Three Silences: Everyone Is Protecting Someone</a:t>
            </a:r>
            <a:endParaRPr b="1" i="0" sz="28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5F706C"/>
                </a:solidFill>
                <a:latin typeface="Calibri"/>
                <a:ea typeface="Calibri"/>
                <a:cs typeface="Calibri"/>
                <a:sym typeface="Calibri"/>
              </a:rPr>
              <a:t>The patient, family, and doctor may all avoid the same conversation</a:t>
            </a:r>
            <a:endParaRPr b="0" i="1" sz="2000" u="none" cap="none" strike="noStrike">
              <a:solidFill>
                <a:schemeClr val="dk2"/>
              </a:solidFill>
              <a:latin typeface="Calibri"/>
              <a:ea typeface="Calibri"/>
              <a:cs typeface="Calibri"/>
              <a:sym typeface="Calibri"/>
            </a:endParaRPr>
          </a:p>
        </p:txBody>
      </p:sp>
      <p:sp>
        <p:nvSpPr>
          <p:cNvPr id="191" name="Google Shape;191;g3f8386f7cd2_2_102"/>
          <p:cNvSpPr/>
          <p:nvPr/>
        </p:nvSpPr>
        <p:spPr>
          <a:xfrm>
            <a:off x="731525" y="2166349"/>
            <a:ext cx="3291900" cy="2039700"/>
          </a:xfrm>
          <a:prstGeom prst="roundRect">
            <a:avLst>
              <a:gd fmla="val 3500" name="adj"/>
            </a:avLst>
          </a:prstGeom>
          <a:solidFill>
            <a:srgbClr val="F4F7F4"/>
          </a:solidFill>
          <a:ln cap="flat" cmpd="sng" w="12700">
            <a:solidFill>
              <a:srgbClr val="C6D1C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82875" spcFirstLastPara="1" rIns="91425" wrap="square" tIns="182875">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6232E"/>
                </a:solidFill>
                <a:latin typeface="Calibri"/>
                <a:ea typeface="Calibri"/>
                <a:cs typeface="Calibri"/>
                <a:sym typeface="Calibri"/>
              </a:rPr>
              <a:t>01. Patient Silence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z="1200" u="none" cap="none" strike="noStrike">
                <a:solidFill>
                  <a:srgbClr val="22333D"/>
                </a:solidFill>
                <a:latin typeface="Calibri"/>
                <a:ea typeface="Calibri"/>
                <a:cs typeface="Calibri"/>
                <a:sym typeface="Calibri"/>
              </a:rPr>
              <a:t>Patients intuitively sense their prognosis but suppress questions to protect family members from emotional distress.</a:t>
            </a:r>
            <a:endParaRPr b="0" i="0" sz="1400" u="none" cap="none" strike="noStrike">
              <a:solidFill>
                <a:srgbClr val="000000"/>
              </a:solidFill>
              <a:latin typeface="Arial"/>
              <a:ea typeface="Arial"/>
              <a:cs typeface="Arial"/>
              <a:sym typeface="Arial"/>
            </a:endParaRPr>
          </a:p>
        </p:txBody>
      </p:sp>
      <p:sp>
        <p:nvSpPr>
          <p:cNvPr id="192" name="Google Shape;192;g3f8386f7cd2_2_102"/>
          <p:cNvSpPr/>
          <p:nvPr/>
        </p:nvSpPr>
        <p:spPr>
          <a:xfrm>
            <a:off x="4297675" y="2166424"/>
            <a:ext cx="3291900" cy="2039700"/>
          </a:xfrm>
          <a:prstGeom prst="roundRect">
            <a:avLst>
              <a:gd fmla="val 3500" name="adj"/>
            </a:avLst>
          </a:prstGeom>
          <a:solidFill>
            <a:srgbClr val="F4F7F4"/>
          </a:solidFill>
          <a:ln cap="flat" cmpd="sng" w="12700">
            <a:solidFill>
              <a:srgbClr val="C6D1C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82875" spcFirstLastPara="1" rIns="91425" wrap="square" tIns="182875">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6232E"/>
                </a:solidFill>
                <a:latin typeface="Calibri"/>
                <a:ea typeface="Calibri"/>
                <a:cs typeface="Calibri"/>
                <a:sym typeface="Calibri"/>
              </a:rPr>
              <a:t>02. Family Silence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z="1200" u="none" cap="none" strike="noStrike">
                <a:solidFill>
                  <a:srgbClr val="22333D"/>
                </a:solidFill>
                <a:latin typeface="Calibri"/>
                <a:ea typeface="Calibri"/>
                <a:cs typeface="Calibri"/>
                <a:sym typeface="Calibri"/>
              </a:rPr>
              <a:t>Families practice 'Protective Concealment' ( over 70% withhold terminal diagnosis) to shield patients from losing hope.</a:t>
            </a:r>
            <a:endParaRPr b="0" i="0" sz="1400" u="none" cap="none" strike="noStrike">
              <a:solidFill>
                <a:srgbClr val="000000"/>
              </a:solidFill>
              <a:latin typeface="Arial"/>
              <a:ea typeface="Arial"/>
              <a:cs typeface="Arial"/>
              <a:sym typeface="Arial"/>
            </a:endParaRPr>
          </a:p>
        </p:txBody>
      </p:sp>
      <p:sp>
        <p:nvSpPr>
          <p:cNvPr id="193" name="Google Shape;193;g3f8386f7cd2_2_102"/>
          <p:cNvSpPr/>
          <p:nvPr/>
        </p:nvSpPr>
        <p:spPr>
          <a:xfrm>
            <a:off x="7863850" y="2166425"/>
            <a:ext cx="3566400" cy="2039700"/>
          </a:xfrm>
          <a:prstGeom prst="roundRect">
            <a:avLst>
              <a:gd fmla="val 3500" name="adj"/>
            </a:avLst>
          </a:prstGeom>
          <a:solidFill>
            <a:srgbClr val="F4F7F4"/>
          </a:solidFill>
          <a:ln cap="flat" cmpd="sng" w="12700">
            <a:solidFill>
              <a:srgbClr val="C6D1C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82875" spcFirstLastPara="1" rIns="91425" wrap="square" tIns="182875">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6232E"/>
                </a:solidFill>
                <a:latin typeface="Calibri"/>
                <a:ea typeface="Calibri"/>
                <a:cs typeface="Calibri"/>
                <a:sym typeface="Calibri"/>
              </a:rPr>
              <a:t>03. Clinical Silence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z="1200" u="none" cap="none" strike="noStrike">
                <a:solidFill>
                  <a:srgbClr val="22333D"/>
                </a:solidFill>
                <a:latin typeface="Calibri"/>
                <a:ea typeface="Calibri"/>
                <a:cs typeface="Calibri"/>
                <a:sym typeface="Calibri"/>
              </a:rPr>
              <a:t>Physicians cautious of family conflict routinely defer disclosure decisions to primary caregivers.</a:t>
            </a:r>
            <a:endParaRPr b="0" i="0" sz="1400" u="none" cap="none" strike="noStrike">
              <a:solidFill>
                <a:srgbClr val="000000"/>
              </a:solidFill>
              <a:latin typeface="Arial"/>
              <a:ea typeface="Arial"/>
              <a:cs typeface="Arial"/>
              <a:sym typeface="Arial"/>
            </a:endParaRPr>
          </a:p>
        </p:txBody>
      </p:sp>
      <p:sp>
        <p:nvSpPr>
          <p:cNvPr id="194" name="Google Shape;194;g3f8386f7cd2_2_102"/>
          <p:cNvSpPr/>
          <p:nvPr/>
        </p:nvSpPr>
        <p:spPr>
          <a:xfrm>
            <a:off x="731520" y="4480560"/>
            <a:ext cx="10698600" cy="1645800"/>
          </a:xfrm>
          <a:prstGeom prst="roundRect">
            <a:avLst>
              <a:gd fmla="val 3500" name="adj"/>
            </a:avLst>
          </a:prstGeom>
          <a:solidFill>
            <a:srgbClr val="16232E"/>
          </a:solidFill>
          <a:ln>
            <a:noFill/>
          </a:ln>
          <a:effectLst>
            <a:outerShdw blurRad="40000" rotWithShape="0" dir="5400000" dist="23000">
              <a:srgbClr val="000000">
                <a:alpha val="34902"/>
              </a:srgbClr>
            </a:outerShdw>
          </a:effectLst>
        </p:spPr>
        <p:txBody>
          <a:bodyPr anchorCtr="0" anchor="ctr" bIns="45700" lIns="274300" spcFirstLastPara="1" rIns="91425" wrap="square" tIns="182875">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E9EDEA"/>
                </a:solidFill>
                <a:latin typeface="Calibri"/>
                <a:ea typeface="Calibri"/>
                <a:cs typeface="Calibri"/>
                <a:sym typeface="Calibri"/>
              </a:rPr>
              <a:t>The Filial Paradox (孝 · Xiao) in End-of-Life Decisions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en-US" sz="1200" u="none" cap="none" strike="noStrike">
                <a:solidFill>
                  <a:srgbClr val="E9EDEA"/>
                </a:solidFill>
                <a:latin typeface="Calibri"/>
                <a:ea typeface="Calibri"/>
                <a:cs typeface="Calibri"/>
                <a:sym typeface="Calibri"/>
              </a:rPr>
              <a:t>• Protective Intent vs. Destructive Silence: Filial piety mandates protection and devotion, but manifests as demanding aggressive, non-beneficial ICU interventions to avoid appearing unfilial.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200"/>
              <a:buFont typeface="Arial"/>
              <a:buNone/>
            </a:pPr>
            <a:r>
              <a:rPr b="0" i="0" lang="en-US" sz="1200" u="none" cap="none" strike="noStrike">
                <a:solidFill>
                  <a:srgbClr val="E9EDEA"/>
                </a:solidFill>
                <a:latin typeface="Calibri"/>
                <a:ea typeface="Calibri"/>
                <a:cs typeface="Calibri"/>
                <a:sym typeface="Calibri"/>
              </a:rPr>
              <a:t>• Consequence: Strips dying patients of autonomy, legacy preparation, and dignified comfort while compounding family anticipatory grief.</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198" name="Shape 198"/>
        <p:cNvGrpSpPr/>
        <p:nvPr/>
      </p:nvGrpSpPr>
      <p:grpSpPr>
        <a:xfrm>
          <a:off x="0" y="0"/>
          <a:ext cx="0" cy="0"/>
          <a:chOff x="0" y="0"/>
          <a:chExt cx="0" cy="0"/>
        </a:xfrm>
      </p:grpSpPr>
      <p:sp>
        <p:nvSpPr>
          <p:cNvPr id="199" name="Google Shape;199;g3f83a022279_0_0"/>
          <p:cNvSpPr txBox="1"/>
          <p:nvPr/>
        </p:nvSpPr>
        <p:spPr>
          <a:xfrm>
            <a:off x="731520" y="365760"/>
            <a:ext cx="106986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rgbClr val="B44A3C"/>
                </a:solidFill>
                <a:latin typeface="Calibri"/>
                <a:ea typeface="Calibri"/>
                <a:cs typeface="Calibri"/>
                <a:sym typeface="Calibri"/>
              </a:rPr>
              <a:t>Bridge (渡)</a:t>
            </a:r>
            <a:endParaRPr b="0" i="0" sz="1000" u="none" cap="none" strike="noStrike">
              <a:solidFill>
                <a:srgbClr val="A23938"/>
              </a:solidFill>
              <a:latin typeface="Arial"/>
              <a:ea typeface="Arial"/>
              <a:cs typeface="Arial"/>
              <a:sym typeface="Arial"/>
            </a:endParaRPr>
          </a:p>
        </p:txBody>
      </p:sp>
      <p:sp>
        <p:nvSpPr>
          <p:cNvPr id="200" name="Google Shape;200;g3f83a022279_0_0"/>
          <p:cNvSpPr txBox="1"/>
          <p:nvPr/>
        </p:nvSpPr>
        <p:spPr>
          <a:xfrm>
            <a:off x="731520" y="640080"/>
            <a:ext cx="106986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6232E"/>
                </a:solidFill>
                <a:latin typeface="Cambria"/>
                <a:ea typeface="Cambria"/>
                <a:cs typeface="Cambria"/>
                <a:sym typeface="Cambria"/>
              </a:rPr>
              <a:t>Background &amp; Demographic Reality in China</a:t>
            </a:r>
            <a:endParaRPr b="1" i="0" sz="28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5F706C"/>
                </a:solidFill>
                <a:latin typeface="Calibri"/>
                <a:ea typeface="Calibri"/>
                <a:cs typeface="Calibri"/>
                <a:sym typeface="Calibri"/>
              </a:rPr>
              <a:t>Why this problem is growing in China</a:t>
            </a:r>
            <a:endParaRPr b="0" i="1" sz="2000" u="none" cap="none" strike="noStrike">
              <a:solidFill>
                <a:schemeClr val="dk2"/>
              </a:solidFill>
              <a:latin typeface="Calibri"/>
              <a:ea typeface="Calibri"/>
              <a:cs typeface="Calibri"/>
              <a:sym typeface="Calibri"/>
            </a:endParaRPr>
          </a:p>
        </p:txBody>
      </p:sp>
      <p:sp>
        <p:nvSpPr>
          <p:cNvPr id="201" name="Google Shape;201;g3f83a022279_0_0"/>
          <p:cNvSpPr/>
          <p:nvPr/>
        </p:nvSpPr>
        <p:spPr>
          <a:xfrm>
            <a:off x="731525" y="2166349"/>
            <a:ext cx="5120700" cy="3868500"/>
          </a:xfrm>
          <a:prstGeom prst="roundRect">
            <a:avLst>
              <a:gd fmla="val 3500" name="adj"/>
            </a:avLst>
          </a:prstGeom>
          <a:solidFill>
            <a:srgbClr val="F4F7F4"/>
          </a:solidFill>
          <a:ln cap="flat" cmpd="sng" w="12700">
            <a:solidFill>
              <a:srgbClr val="C6D1CC"/>
            </a:solidFill>
            <a:prstDash val="solid"/>
            <a:round/>
            <a:headEnd len="sm" w="sm" type="none"/>
            <a:tailEnd len="sm" w="sm" type="none"/>
          </a:ln>
          <a:effectLst>
            <a:outerShdw blurRad="40000" rotWithShape="0" dir="5400000" dist="23000">
              <a:srgbClr val="000000">
                <a:alpha val="34900"/>
              </a:srgbClr>
            </a:outerShdw>
          </a:effectLst>
        </p:spPr>
        <p:txBody>
          <a:bodyPr anchorCtr="0" anchor="t" bIns="219450" lIns="256025" spcFirstLastPara="1" rIns="256025" wrap="square" tIns="274300">
            <a:noAutofit/>
          </a:bodyPr>
          <a:lstStyle/>
          <a:p>
            <a:pPr indent="0" lvl="0" marL="0" marR="0" rtl="0" algn="l">
              <a:lnSpc>
                <a:spcPct val="100000"/>
              </a:lnSpc>
              <a:spcBef>
                <a:spcPts val="0"/>
              </a:spcBef>
              <a:spcAft>
                <a:spcPts val="0"/>
              </a:spcAft>
              <a:buClr>
                <a:srgbClr val="000000"/>
              </a:buClr>
              <a:buSzPts val="1800"/>
              <a:buFont typeface="Arial"/>
              <a:buNone/>
            </a:pPr>
            <a:r>
              <a:rPr b="1" i="0" lang="en-US" sz="1900" u="none" cap="none" strike="noStrike">
                <a:solidFill>
                  <a:srgbClr val="16232E"/>
                </a:solidFill>
                <a:latin typeface="Cambria"/>
                <a:ea typeface="Cambria"/>
                <a:cs typeface="Cambria"/>
                <a:sym typeface="Cambria"/>
              </a:rPr>
              <a:t>Demographic Pressure &amp; Palliative Gap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0"/>
              </a:spcBef>
              <a:spcAft>
                <a:spcPts val="0"/>
              </a:spcAft>
              <a:buClr>
                <a:srgbClr val="000000"/>
              </a:buClr>
              <a:buSzPts val="1300"/>
              <a:buFont typeface="Arial"/>
              <a:buNone/>
            </a:pPr>
            <a:r>
              <a:rPr b="1" i="0" lang="en-US" sz="1300" u="none" cap="none" strike="noStrike">
                <a:solidFill>
                  <a:srgbClr val="B44A3C"/>
                </a:solidFill>
                <a:latin typeface="Calibri"/>
                <a:ea typeface="Calibri"/>
                <a:cs typeface="Calibri"/>
                <a:sym typeface="Calibri"/>
              </a:rPr>
              <a:t>•  </a:t>
            </a:r>
            <a:r>
              <a:rPr b="1" i="0" lang="en-US" sz="1300" u="none" cap="none" strike="noStrike">
                <a:solidFill>
                  <a:srgbClr val="16232E"/>
                </a:solidFill>
                <a:latin typeface="Calibri"/>
                <a:ea typeface="Calibri"/>
                <a:cs typeface="Calibri"/>
                <a:sym typeface="Calibri"/>
              </a:rPr>
              <a:t>Rapidly Aging Population:</a:t>
            </a:r>
            <a:r>
              <a:rPr b="0" i="0" lang="en-US" sz="1300" u="none" cap="none" strike="noStrike">
                <a:solidFill>
                  <a:srgbClr val="22333D"/>
                </a:solidFill>
                <a:latin typeface="Calibri"/>
                <a:ea typeface="Calibri"/>
                <a:cs typeface="Calibri"/>
                <a:sym typeface="Calibri"/>
              </a:rPr>
              <a:t> Over 190M (&gt;13.5%) aged 65+ in 2020.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300"/>
              <a:buFont typeface="Arial"/>
              <a:buNone/>
            </a:pPr>
            <a:r>
              <a:rPr b="1" i="0" lang="en-US" sz="1300" u="none" cap="none" strike="noStrike">
                <a:solidFill>
                  <a:srgbClr val="B44A3C"/>
                </a:solidFill>
                <a:latin typeface="Calibri"/>
                <a:ea typeface="Calibri"/>
                <a:cs typeface="Calibri"/>
                <a:sym typeface="Calibri"/>
              </a:rPr>
              <a:t>•  </a:t>
            </a:r>
            <a:r>
              <a:rPr b="1" i="0" lang="en-US" sz="1300" u="none" cap="none" strike="noStrike">
                <a:solidFill>
                  <a:srgbClr val="16232E"/>
                </a:solidFill>
                <a:latin typeface="Calibri"/>
                <a:ea typeface="Calibri"/>
                <a:cs typeface="Calibri"/>
                <a:sym typeface="Calibri"/>
              </a:rPr>
              <a:t>High Cancer Burden:</a:t>
            </a:r>
            <a:r>
              <a:rPr b="0" i="0" lang="en-US" sz="1300" u="none" cap="none" strike="noStrike">
                <a:solidFill>
                  <a:srgbClr val="22333D"/>
                </a:solidFill>
                <a:latin typeface="Calibri"/>
                <a:ea typeface="Calibri"/>
                <a:cs typeface="Calibri"/>
                <a:sym typeface="Calibri"/>
              </a:rPr>
              <a:t> China accounts for 24% of new cancer cases and 30% of cancer deaths globally.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300"/>
              <a:buFont typeface="Arial"/>
              <a:buNone/>
            </a:pPr>
            <a:r>
              <a:rPr b="1" i="0" lang="en-US" sz="1300" u="none" cap="none" strike="noStrike">
                <a:solidFill>
                  <a:srgbClr val="B44A3C"/>
                </a:solidFill>
                <a:latin typeface="Calibri"/>
                <a:ea typeface="Calibri"/>
                <a:cs typeface="Calibri"/>
                <a:sym typeface="Calibri"/>
              </a:rPr>
              <a:t>•  </a:t>
            </a:r>
            <a:r>
              <a:rPr b="1" i="0" lang="en-US" sz="1300" u="none" cap="none" strike="noStrike">
                <a:solidFill>
                  <a:srgbClr val="16232E"/>
                </a:solidFill>
                <a:latin typeface="Calibri"/>
                <a:ea typeface="Calibri"/>
                <a:cs typeface="Calibri"/>
                <a:sym typeface="Calibri"/>
              </a:rPr>
              <a:t>Quality of Death Index:</a:t>
            </a:r>
            <a:r>
              <a:rPr b="0" i="0" lang="en-US" sz="1300" u="none" cap="none" strike="noStrike">
                <a:solidFill>
                  <a:srgbClr val="22333D"/>
                </a:solidFill>
                <a:latin typeface="Calibri"/>
                <a:ea typeface="Calibri"/>
                <a:cs typeface="Calibri"/>
                <a:sym typeface="Calibri"/>
              </a:rPr>
              <a:t> Ranked 53rd out of 81 globally in 2021.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300"/>
              <a:buFont typeface="Arial"/>
              <a:buNone/>
            </a:pPr>
            <a:r>
              <a:rPr b="1" i="0" lang="en-US" sz="1300" u="none" cap="none" strike="noStrike">
                <a:solidFill>
                  <a:srgbClr val="B44A3C"/>
                </a:solidFill>
                <a:latin typeface="Calibri"/>
                <a:ea typeface="Calibri"/>
                <a:cs typeface="Calibri"/>
                <a:sym typeface="Calibri"/>
              </a:rPr>
              <a:t>•  </a:t>
            </a:r>
            <a:r>
              <a:rPr b="1" i="0" lang="en-US" sz="1300" u="none" cap="none" strike="noStrike">
                <a:solidFill>
                  <a:srgbClr val="16232E"/>
                </a:solidFill>
                <a:latin typeface="Calibri"/>
                <a:ea typeface="Calibri"/>
                <a:cs typeface="Calibri"/>
                <a:sym typeface="Calibri"/>
              </a:rPr>
              <a:t>Severe Resource Scarcity:</a:t>
            </a:r>
            <a:r>
              <a:rPr b="0" i="0" lang="en-US" sz="1300" u="none" cap="none" strike="noStrike">
                <a:solidFill>
                  <a:srgbClr val="22333D"/>
                </a:solidFill>
                <a:latin typeface="Calibri"/>
                <a:ea typeface="Calibri"/>
                <a:cs typeface="Calibri"/>
                <a:sym typeface="Calibri"/>
              </a:rPr>
              <a:t> &lt;1% to 10% palliative coverage (vs &gt;80% in developed systems), heavily concentrated in tier-1 cities.</a:t>
            </a:r>
            <a:endParaRPr b="0" i="0" sz="1400" u="none" cap="none" strike="noStrike">
              <a:solidFill>
                <a:srgbClr val="000000"/>
              </a:solidFill>
              <a:latin typeface="Arial"/>
              <a:ea typeface="Arial"/>
              <a:cs typeface="Arial"/>
              <a:sym typeface="Arial"/>
            </a:endParaRPr>
          </a:p>
        </p:txBody>
      </p:sp>
      <p:sp>
        <p:nvSpPr>
          <p:cNvPr id="202" name="Google Shape;202;g3f83a022279_0_0"/>
          <p:cNvSpPr/>
          <p:nvPr/>
        </p:nvSpPr>
        <p:spPr>
          <a:xfrm>
            <a:off x="6217925" y="2166350"/>
            <a:ext cx="5212200" cy="3884400"/>
          </a:xfrm>
          <a:prstGeom prst="roundRect">
            <a:avLst>
              <a:gd fmla="val 3500" name="adj"/>
            </a:avLst>
          </a:prstGeom>
          <a:solidFill>
            <a:srgbClr val="16232E"/>
          </a:solidFill>
          <a:ln>
            <a:noFill/>
          </a:ln>
          <a:effectLst>
            <a:outerShdw blurRad="40000" rotWithShape="0" dir="5400000" dist="23000">
              <a:srgbClr val="000000">
                <a:alpha val="34900"/>
              </a:srgbClr>
            </a:outerShdw>
          </a:effectLst>
        </p:spPr>
        <p:txBody>
          <a:bodyPr anchorCtr="0" anchor="t" bIns="219450" lIns="256025" spcFirstLastPara="1" rIns="256025" wrap="square" tIns="274300">
            <a:noAutofit/>
          </a:bodyPr>
          <a:lstStyle/>
          <a:p>
            <a:pPr indent="0" lvl="0" marL="0" marR="0" rtl="0" algn="l">
              <a:lnSpc>
                <a:spcPct val="100000"/>
              </a:lnSpc>
              <a:spcBef>
                <a:spcPts val="0"/>
              </a:spcBef>
              <a:spcAft>
                <a:spcPts val="0"/>
              </a:spcAft>
              <a:buClr>
                <a:srgbClr val="000000"/>
              </a:buClr>
              <a:buSzPts val="1800"/>
              <a:buFont typeface="Arial"/>
              <a:buNone/>
            </a:pPr>
            <a:r>
              <a:rPr b="1" i="0" lang="en-US" sz="1900" u="none" cap="none" strike="noStrike">
                <a:solidFill>
                  <a:srgbClr val="E9EDEA"/>
                </a:solidFill>
                <a:latin typeface="Cambria"/>
                <a:ea typeface="Cambria"/>
                <a:cs typeface="Cambria"/>
                <a:sym typeface="Cambria"/>
              </a:rPr>
              <a:t>Cultural Death Taboos &amp; Silence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000"/>
              </a:spcBef>
              <a:spcAft>
                <a:spcPts val="0"/>
              </a:spcAft>
              <a:buClr>
                <a:srgbClr val="000000"/>
              </a:buClr>
              <a:buSzPts val="1300"/>
              <a:buFont typeface="Arial"/>
              <a:buNone/>
            </a:pPr>
            <a:r>
              <a:rPr b="1" i="0" lang="en-US" sz="1300" u="none" cap="none" strike="noStrike">
                <a:solidFill>
                  <a:srgbClr val="B44A3C"/>
                </a:solidFill>
                <a:latin typeface="Calibri"/>
                <a:ea typeface="Calibri"/>
                <a:cs typeface="Calibri"/>
                <a:sym typeface="Calibri"/>
              </a:rPr>
              <a:t>•  </a:t>
            </a:r>
            <a:r>
              <a:rPr b="1" i="0" lang="en-US" sz="1300" u="none" cap="none" strike="noStrike">
                <a:solidFill>
                  <a:srgbClr val="E9EDEA"/>
                </a:solidFill>
                <a:latin typeface="Calibri"/>
                <a:ea typeface="Calibri"/>
                <a:cs typeface="Calibri"/>
                <a:sym typeface="Calibri"/>
              </a:rPr>
              <a:t>Cultural Dictum:</a:t>
            </a:r>
            <a:r>
              <a:rPr b="0" i="0" lang="en-US" sz="1300" u="none" cap="none" strike="noStrike">
                <a:solidFill>
                  <a:srgbClr val="E9EDEA"/>
                </a:solidFill>
                <a:latin typeface="Calibri"/>
                <a:ea typeface="Calibri"/>
                <a:cs typeface="Calibri"/>
                <a:sym typeface="Calibri"/>
              </a:rPr>
              <a:t> 'Enjoy life and detest death' (Confucian/Taoist longevity focus).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300"/>
              <a:buFont typeface="Arial"/>
              <a:buNone/>
            </a:pPr>
            <a:r>
              <a:rPr b="1" i="0" lang="en-US" sz="1300" u="none" cap="none" strike="noStrike">
                <a:solidFill>
                  <a:srgbClr val="B44A3C"/>
                </a:solidFill>
                <a:latin typeface="Calibri"/>
                <a:ea typeface="Calibri"/>
                <a:cs typeface="Calibri"/>
                <a:sym typeface="Calibri"/>
              </a:rPr>
              <a:t>•  </a:t>
            </a:r>
            <a:r>
              <a:rPr b="1" i="0" lang="en-US" sz="1300" u="none" cap="none" strike="noStrike">
                <a:solidFill>
                  <a:srgbClr val="E9EDEA"/>
                </a:solidFill>
                <a:latin typeface="Calibri"/>
                <a:ea typeface="Calibri"/>
                <a:cs typeface="Calibri"/>
                <a:sym typeface="Calibri"/>
              </a:rPr>
              <a:t>Linguistic Taboo:</a:t>
            </a:r>
            <a:r>
              <a:rPr b="0" i="0" lang="en-US" sz="1300" u="none" cap="none" strike="noStrike">
                <a:solidFill>
                  <a:srgbClr val="E9EDEA"/>
                </a:solidFill>
                <a:latin typeface="Calibri"/>
                <a:ea typeface="Calibri"/>
                <a:cs typeface="Calibri"/>
                <a:sym typeface="Calibri"/>
              </a:rPr>
              <a:t> Word 'death' (si) associated with bad luck, misfortune, and family disharmony.</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300"/>
              <a:buFont typeface="Arial"/>
              <a:buNone/>
            </a:pPr>
            <a:r>
              <a:rPr b="1" i="0" lang="en-US" sz="1300" u="none" cap="none" strike="noStrike">
                <a:solidFill>
                  <a:srgbClr val="B44A3C"/>
                </a:solidFill>
                <a:latin typeface="Calibri"/>
                <a:ea typeface="Calibri"/>
                <a:cs typeface="Calibri"/>
                <a:sym typeface="Calibri"/>
              </a:rPr>
              <a:t>•  </a:t>
            </a:r>
            <a:r>
              <a:rPr b="1" i="0" lang="en-US" sz="1300" u="none" cap="none" strike="noStrike">
                <a:solidFill>
                  <a:srgbClr val="E9EDEA"/>
                </a:solidFill>
                <a:latin typeface="Calibri"/>
                <a:ea typeface="Calibri"/>
                <a:cs typeface="Calibri"/>
                <a:sym typeface="Calibri"/>
              </a:rPr>
              <a:t>Default Response:</a:t>
            </a:r>
            <a:r>
              <a:rPr b="0" i="0" lang="en-US" sz="1300" u="none" cap="none" strike="noStrike">
                <a:solidFill>
                  <a:srgbClr val="E9EDEA"/>
                </a:solidFill>
                <a:latin typeface="Calibri"/>
                <a:ea typeface="Calibri"/>
                <a:cs typeface="Calibri"/>
                <a:sym typeface="Calibri"/>
              </a:rPr>
              <a:t> Avoidance and protective denial, suppressing Advance Care Planning (ACP).</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300"/>
              <a:buFont typeface="Arial"/>
              <a:buNone/>
            </a:pPr>
            <a:r>
              <a:rPr b="1" i="0" lang="en-US" sz="1300" u="none" cap="none" strike="noStrike">
                <a:solidFill>
                  <a:srgbClr val="B44A3C"/>
                </a:solidFill>
                <a:latin typeface="Calibri"/>
                <a:ea typeface="Calibri"/>
                <a:cs typeface="Calibri"/>
                <a:sym typeface="Calibri"/>
              </a:rPr>
              <a:t>•  </a:t>
            </a:r>
            <a:r>
              <a:rPr b="1" i="0" lang="en-US" sz="1300" u="none" cap="none" strike="noStrike">
                <a:solidFill>
                  <a:srgbClr val="E9EDEA"/>
                </a:solidFill>
                <a:latin typeface="Calibri"/>
                <a:ea typeface="Calibri"/>
                <a:cs typeface="Calibri"/>
                <a:sym typeface="Calibri"/>
              </a:rPr>
              <a:t>Unspoken Burden:</a:t>
            </a:r>
            <a:r>
              <a:rPr b="0" i="0" lang="en-US" sz="1300" u="none" cap="none" strike="noStrike">
                <a:solidFill>
                  <a:srgbClr val="E9EDEA"/>
                </a:solidFill>
                <a:latin typeface="Calibri"/>
                <a:ea typeface="Calibri"/>
                <a:cs typeface="Calibri"/>
                <a:sym typeface="Calibri"/>
              </a:rPr>
              <a:t> Caregivers bear care logistics and grief alone at home without professional navigation.</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207" name="Shape 207"/>
        <p:cNvGrpSpPr/>
        <p:nvPr/>
      </p:nvGrpSpPr>
      <p:grpSpPr>
        <a:xfrm>
          <a:off x="0" y="0"/>
          <a:ext cx="0" cy="0"/>
          <a:chOff x="0" y="0"/>
          <a:chExt cx="0" cy="0"/>
        </a:xfrm>
      </p:grpSpPr>
      <p:sp>
        <p:nvSpPr>
          <p:cNvPr id="208" name="Google Shape;208;g3f8386f7cd2_2_118"/>
          <p:cNvSpPr/>
          <p:nvPr/>
        </p:nvSpPr>
        <p:spPr>
          <a:xfrm>
            <a:off x="731500" y="502920"/>
            <a:ext cx="10728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THE MECHANISM</a:t>
            </a:r>
            <a:endParaRPr b="0" i="0" sz="1100" u="none" cap="none" strike="noStrike">
              <a:solidFill>
                <a:schemeClr val="dk1"/>
              </a:solidFill>
              <a:latin typeface="Calibri"/>
              <a:ea typeface="Calibri"/>
              <a:cs typeface="Calibri"/>
              <a:sym typeface="Calibri"/>
            </a:endParaRPr>
          </a:p>
        </p:txBody>
      </p:sp>
      <p:sp>
        <p:nvSpPr>
          <p:cNvPr id="209" name="Google Shape;209;g3f8386f7cd2_2_118"/>
          <p:cNvSpPr/>
          <p:nvPr/>
        </p:nvSpPr>
        <p:spPr>
          <a:xfrm>
            <a:off x="731500" y="850392"/>
            <a:ext cx="10728300" cy="548700"/>
          </a:xfrm>
          <a:prstGeom prst="rect">
            <a:avLst/>
          </a:prstGeom>
          <a:noFill/>
          <a:ln>
            <a:noFill/>
          </a:ln>
        </p:spPr>
        <p:txBody>
          <a:bodyPr anchorCtr="0" anchor="t" bIns="0" lIns="0" spcFirstLastPara="1" rIns="0" wrap="square" tIns="0">
            <a:noAutofit/>
          </a:bodyPr>
          <a:lstStyle/>
          <a:p>
            <a:pPr indent="0" lvl="0" marL="0" marR="0" rtl="0" algn="l">
              <a:lnSpc>
                <a:spcPct val="117647"/>
              </a:lnSpc>
              <a:spcBef>
                <a:spcPts val="0"/>
              </a:spcBef>
              <a:spcAft>
                <a:spcPts val="0"/>
              </a:spcAft>
              <a:buClr>
                <a:srgbClr val="16232E"/>
              </a:buClr>
              <a:buSzPts val="3400"/>
              <a:buFont typeface="Cambria"/>
              <a:buNone/>
            </a:pPr>
            <a:r>
              <a:rPr b="1" i="0" lang="en-US" sz="3400" u="none" cap="none" strike="noStrike">
                <a:solidFill>
                  <a:srgbClr val="16232E"/>
                </a:solidFill>
                <a:latin typeface="Cambria"/>
                <a:ea typeface="Cambria"/>
                <a:cs typeface="Cambria"/>
                <a:sym typeface="Cambria"/>
              </a:rPr>
              <a:t>Repairing the story instead of the room.</a:t>
            </a:r>
            <a:endParaRPr b="0" i="0" sz="3400" u="none" cap="none" strike="noStrike">
              <a:solidFill>
                <a:schemeClr val="dk1"/>
              </a:solidFill>
              <a:latin typeface="Calibri"/>
              <a:ea typeface="Calibri"/>
              <a:cs typeface="Calibri"/>
              <a:sym typeface="Calibri"/>
            </a:endParaRPr>
          </a:p>
        </p:txBody>
      </p:sp>
      <p:sp>
        <p:nvSpPr>
          <p:cNvPr id="210" name="Google Shape;210;g3f8386f7cd2_2_118"/>
          <p:cNvSpPr/>
          <p:nvPr/>
        </p:nvSpPr>
        <p:spPr>
          <a:xfrm>
            <a:off x="731500" y="1517904"/>
            <a:ext cx="10241100" cy="5487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5F706C"/>
              </a:buClr>
              <a:buSzPts val="1400"/>
              <a:buFont typeface="Calibri"/>
              <a:buNone/>
            </a:pPr>
            <a:r>
              <a:rPr b="0" i="0" lang="en-US" sz="1400" u="none" cap="none" strike="noStrike">
                <a:solidFill>
                  <a:srgbClr val="5F706C"/>
                </a:solidFill>
                <a:latin typeface="Calibri"/>
                <a:ea typeface="Calibri"/>
                <a:cs typeface="Calibri"/>
                <a:sym typeface="Calibri"/>
              </a:rPr>
              <a:t>Older adults are found dead alone in their flats days after the fact often enough that a whole industry of responses now exists. It is worth asking what those responses are for.</a:t>
            </a:r>
            <a:endParaRPr b="0" i="0" sz="1400" u="none" cap="none" strike="noStrike">
              <a:solidFill>
                <a:schemeClr val="dk1"/>
              </a:solidFill>
              <a:latin typeface="Calibri"/>
              <a:ea typeface="Calibri"/>
              <a:cs typeface="Calibri"/>
              <a:sym typeface="Calibri"/>
            </a:endParaRPr>
          </a:p>
        </p:txBody>
      </p:sp>
      <p:sp>
        <p:nvSpPr>
          <p:cNvPr id="211" name="Google Shape;211;g3f8386f7cd2_2_118"/>
          <p:cNvSpPr/>
          <p:nvPr/>
        </p:nvSpPr>
        <p:spPr>
          <a:xfrm>
            <a:off x="731500" y="2103120"/>
            <a:ext cx="5136300" cy="2286000"/>
          </a:xfrm>
          <a:prstGeom prst="roundRect">
            <a:avLst>
              <a:gd fmla="val 3500" name="adj"/>
            </a:avLst>
          </a:prstGeom>
          <a:solidFill>
            <a:srgbClr val="F4F7F4"/>
          </a:solidFill>
          <a:ln cap="flat" cmpd="sng" w="9525">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g3f8386f7cd2_2_118"/>
          <p:cNvSpPr/>
          <p:nvPr/>
        </p:nvSpPr>
        <p:spPr>
          <a:xfrm>
            <a:off x="1051532" y="2377440"/>
            <a:ext cx="3291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mbria"/>
              <a:buNone/>
            </a:pPr>
            <a:r>
              <a:rPr b="1" i="0" lang="en-US" sz="1100" u="none" cap="none" strike="noStrike">
                <a:solidFill>
                  <a:srgbClr val="B44A3C"/>
                </a:solidFill>
                <a:latin typeface="Cambria"/>
                <a:ea typeface="Cambria"/>
                <a:cs typeface="Cambria"/>
                <a:sym typeface="Cambria"/>
              </a:rPr>
              <a:t>WHAT THE CURRENT RESPONSES PROVIDE</a:t>
            </a:r>
            <a:endParaRPr b="0" i="0" sz="1100" u="none" cap="none" strike="noStrike">
              <a:solidFill>
                <a:schemeClr val="dk1"/>
              </a:solidFill>
              <a:latin typeface="Calibri"/>
              <a:ea typeface="Calibri"/>
              <a:cs typeface="Calibri"/>
              <a:sym typeface="Calibri"/>
            </a:endParaRPr>
          </a:p>
        </p:txBody>
      </p:sp>
      <p:sp>
        <p:nvSpPr>
          <p:cNvPr id="213" name="Google Shape;213;g3f8386f7cd2_2_118"/>
          <p:cNvSpPr/>
          <p:nvPr/>
        </p:nvSpPr>
        <p:spPr>
          <a:xfrm>
            <a:off x="1051532" y="2761488"/>
            <a:ext cx="4496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900"/>
              <a:buFont typeface="Cambria"/>
              <a:buNone/>
            </a:pPr>
            <a:r>
              <a:rPr b="1" i="0" lang="en-US" sz="1900" u="none" cap="none" strike="noStrike">
                <a:solidFill>
                  <a:srgbClr val="16232E"/>
                </a:solidFill>
                <a:latin typeface="Cambria"/>
                <a:ea typeface="Cambria"/>
                <a:cs typeface="Cambria"/>
                <a:sym typeface="Cambria"/>
              </a:rPr>
              <a:t>Earlier Detection</a:t>
            </a:r>
            <a:endParaRPr b="0" i="0" sz="1900" u="none" cap="none" strike="noStrike">
              <a:solidFill>
                <a:schemeClr val="dk1"/>
              </a:solidFill>
              <a:latin typeface="Calibri"/>
              <a:ea typeface="Calibri"/>
              <a:cs typeface="Calibri"/>
              <a:sym typeface="Calibri"/>
            </a:endParaRPr>
          </a:p>
        </p:txBody>
      </p:sp>
      <p:sp>
        <p:nvSpPr>
          <p:cNvPr id="214" name="Google Shape;214;g3f8386f7cd2_2_118"/>
          <p:cNvSpPr/>
          <p:nvPr/>
        </p:nvSpPr>
        <p:spPr>
          <a:xfrm>
            <a:off x="1051532" y="3200400"/>
            <a:ext cx="4496100" cy="10515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5F706C"/>
              </a:buClr>
              <a:buSzPts val="1250"/>
              <a:buFont typeface="Calibri"/>
              <a:buNone/>
            </a:pPr>
            <a:r>
              <a:rPr b="0" i="0" lang="en-US" sz="1250" u="none" cap="none" strike="noStrike">
                <a:solidFill>
                  <a:srgbClr val="5F706C"/>
                </a:solidFill>
                <a:latin typeface="Calibri"/>
                <a:ea typeface="Calibri"/>
                <a:cs typeface="Calibri"/>
                <a:sym typeface="Calibri"/>
              </a:rPr>
              <a:t>Notarised guardianship agreements, community check-in rounds, and in 2026 a mobile application whose entire function is to ask its users each day whether they are still alive. Every part addresses detection.</a:t>
            </a:r>
            <a:endParaRPr b="0" i="0" sz="1250" u="none" cap="none" strike="noStrike">
              <a:solidFill>
                <a:schemeClr val="dk1"/>
              </a:solidFill>
              <a:latin typeface="Calibri"/>
              <a:ea typeface="Calibri"/>
              <a:cs typeface="Calibri"/>
              <a:sym typeface="Calibri"/>
            </a:endParaRPr>
          </a:p>
        </p:txBody>
      </p:sp>
      <p:sp>
        <p:nvSpPr>
          <p:cNvPr id="215" name="Google Shape;215;g3f8386f7cd2_2_118"/>
          <p:cNvSpPr/>
          <p:nvPr/>
        </p:nvSpPr>
        <p:spPr>
          <a:xfrm>
            <a:off x="6324736" y="2103120"/>
            <a:ext cx="5136300" cy="2286000"/>
          </a:xfrm>
          <a:prstGeom prst="roundRect">
            <a:avLst>
              <a:gd fmla="val 3500" name="adj"/>
            </a:avLst>
          </a:prstGeom>
          <a:solidFill>
            <a:srgbClr val="16232E"/>
          </a:solidFill>
          <a:ln cap="flat" cmpd="sng" w="9525">
            <a:solidFill>
              <a:srgbClr val="22333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g3f8386f7cd2_2_118"/>
          <p:cNvSpPr/>
          <p:nvPr/>
        </p:nvSpPr>
        <p:spPr>
          <a:xfrm>
            <a:off x="6644768" y="2377440"/>
            <a:ext cx="3291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mbria"/>
              <a:buNone/>
            </a:pPr>
            <a:r>
              <a:rPr b="1" i="0" lang="en-US" sz="1100" u="none" cap="none" strike="noStrike">
                <a:solidFill>
                  <a:srgbClr val="B44A3C"/>
                </a:solidFill>
                <a:latin typeface="Cambria"/>
                <a:ea typeface="Cambria"/>
                <a:cs typeface="Cambria"/>
                <a:sym typeface="Cambria"/>
              </a:rPr>
              <a:t>WHAT THEY DO NOT PROVIDE</a:t>
            </a:r>
            <a:endParaRPr b="0" i="0" sz="1100" u="none" cap="none" strike="noStrike">
              <a:solidFill>
                <a:schemeClr val="dk1"/>
              </a:solidFill>
              <a:latin typeface="Calibri"/>
              <a:ea typeface="Calibri"/>
              <a:cs typeface="Calibri"/>
              <a:sym typeface="Calibri"/>
            </a:endParaRPr>
          </a:p>
        </p:txBody>
      </p:sp>
      <p:sp>
        <p:nvSpPr>
          <p:cNvPr id="217" name="Google Shape;217;g3f8386f7cd2_2_118"/>
          <p:cNvSpPr/>
          <p:nvPr/>
        </p:nvSpPr>
        <p:spPr>
          <a:xfrm>
            <a:off x="6644768" y="2761488"/>
            <a:ext cx="4496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9EDEA"/>
              </a:buClr>
              <a:buSzPts val="1900"/>
              <a:buFont typeface="Cambria"/>
              <a:buNone/>
            </a:pPr>
            <a:r>
              <a:rPr b="1" i="0" lang="en-US" sz="1900" u="none" cap="none" strike="noStrike">
                <a:solidFill>
                  <a:srgbClr val="E9EDEA"/>
                </a:solidFill>
                <a:latin typeface="Cambria"/>
                <a:ea typeface="Cambria"/>
                <a:cs typeface="Cambria"/>
                <a:sym typeface="Cambria"/>
              </a:rPr>
              <a:t>Human Connection</a:t>
            </a:r>
            <a:endParaRPr b="0" i="0" sz="1900" u="none" cap="none" strike="noStrike">
              <a:solidFill>
                <a:schemeClr val="dk1"/>
              </a:solidFill>
              <a:latin typeface="Calibri"/>
              <a:ea typeface="Calibri"/>
              <a:cs typeface="Calibri"/>
              <a:sym typeface="Calibri"/>
            </a:endParaRPr>
          </a:p>
        </p:txBody>
      </p:sp>
      <p:sp>
        <p:nvSpPr>
          <p:cNvPr id="218" name="Google Shape;218;g3f8386f7cd2_2_118"/>
          <p:cNvSpPr/>
          <p:nvPr/>
        </p:nvSpPr>
        <p:spPr>
          <a:xfrm>
            <a:off x="6644768" y="3200400"/>
            <a:ext cx="4496100" cy="10515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5F706C"/>
              </a:buClr>
              <a:buSzPts val="1250"/>
              <a:buFont typeface="Calibri"/>
              <a:buNone/>
            </a:pPr>
            <a:r>
              <a:rPr b="0" i="0" lang="en-US" sz="1250" u="none" cap="none" strike="noStrike">
                <a:solidFill>
                  <a:srgbClr val="5F706C"/>
                </a:solidFill>
                <a:latin typeface="Calibri"/>
                <a:ea typeface="Calibri"/>
                <a:cs typeface="Calibri"/>
                <a:sym typeface="Calibri"/>
              </a:rPr>
              <a:t>Death itself is public, ritualised and richly provisioned with custom. Under 孝, a parent's solitary death reads as the child's public failure — so the shame attaches to the circumstances, not to the fact.</a:t>
            </a:r>
            <a:endParaRPr b="0" i="0" sz="1250" u="none" cap="none" strike="noStrike">
              <a:solidFill>
                <a:schemeClr val="dk1"/>
              </a:solidFill>
              <a:latin typeface="Calibri"/>
              <a:ea typeface="Calibri"/>
              <a:cs typeface="Calibri"/>
              <a:sym typeface="Calibri"/>
            </a:endParaRPr>
          </a:p>
        </p:txBody>
      </p:sp>
      <p:sp>
        <p:nvSpPr>
          <p:cNvPr id="219" name="Google Shape;219;g3f8386f7cd2_2_118"/>
          <p:cNvSpPr/>
          <p:nvPr/>
        </p:nvSpPr>
        <p:spPr>
          <a:xfrm>
            <a:off x="731500" y="4645152"/>
            <a:ext cx="10728300" cy="1280100"/>
          </a:xfrm>
          <a:prstGeom prst="roundRect">
            <a:avLst>
              <a:gd fmla="val 3500" name="adj"/>
            </a:avLst>
          </a:prstGeom>
          <a:solidFill>
            <a:srgbClr val="F4F7F4"/>
          </a:solidFill>
          <a:ln cap="flat" cmpd="sng" w="12700">
            <a:solidFill>
              <a:srgbClr val="F4F7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g3f8386f7cd2_2_118"/>
          <p:cNvSpPr/>
          <p:nvPr/>
        </p:nvSpPr>
        <p:spPr>
          <a:xfrm>
            <a:off x="1051532" y="4809744"/>
            <a:ext cx="10088400" cy="10059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16232E"/>
              </a:buClr>
              <a:buSzPts val="1300"/>
              <a:buFont typeface="Calibri"/>
              <a:buNone/>
            </a:pPr>
            <a:r>
              <a:rPr b="0" i="0" lang="en-US" sz="1700" u="none" cap="none" strike="noStrike">
                <a:solidFill>
                  <a:srgbClr val="5F706C"/>
                </a:solidFill>
                <a:latin typeface="Calibri"/>
                <a:ea typeface="Calibri"/>
                <a:cs typeface="Calibri"/>
                <a:sym typeface="Calibri"/>
              </a:rPr>
              <a:t>When we improve the explanation but leave the real situation unchanged, we repair the story instead of the room.</a:t>
            </a:r>
            <a:endParaRPr b="0" i="0" sz="1800" u="none" cap="none" strike="noStrike">
              <a:solidFill>
                <a:srgbClr val="5F706C"/>
              </a:solidFill>
              <a:latin typeface="Calibri"/>
              <a:ea typeface="Calibri"/>
              <a:cs typeface="Calibri"/>
              <a:sym typeface="Calibri"/>
            </a:endParaRPr>
          </a:p>
        </p:txBody>
      </p:sp>
      <p:sp>
        <p:nvSpPr>
          <p:cNvPr id="221" name="Google Shape;221;g3f8386f7cd2_2_118"/>
          <p:cNvSpPr/>
          <p:nvPr/>
        </p:nvSpPr>
        <p:spPr>
          <a:xfrm>
            <a:off x="731501" y="6281928"/>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900"/>
              <a:buFont typeface="Calibri"/>
              <a:buNone/>
            </a:pPr>
            <a:r>
              <a:rPr b="0" i="0" lang="en-US" sz="900" u="none" cap="none" strike="noStrike">
                <a:solidFill>
                  <a:srgbClr val="5F706C"/>
                </a:solidFill>
                <a:latin typeface="Calibri"/>
                <a:ea typeface="Calibri"/>
                <a:cs typeface="Calibri"/>
                <a:sym typeface="Calibri"/>
              </a:rPr>
              <a:t>Bridge · Group 2</a:t>
            </a:r>
            <a:endParaRPr b="0" i="0" sz="900" u="none" cap="none" strike="noStrike">
              <a:solidFill>
                <a:schemeClr val="dk1"/>
              </a:solidFill>
              <a:latin typeface="Calibri"/>
              <a:ea typeface="Calibri"/>
              <a:cs typeface="Calibri"/>
              <a:sym typeface="Calibri"/>
            </a:endParaRPr>
          </a:p>
        </p:txBody>
      </p:sp>
      <p:sp>
        <p:nvSpPr>
          <p:cNvPr id="222" name="Google Shape;222;g3f8386f7cd2_2_118"/>
          <p:cNvSpPr/>
          <p:nvPr/>
        </p:nvSpPr>
        <p:spPr>
          <a:xfrm>
            <a:off x="10545494" y="6281928"/>
            <a:ext cx="9144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F706C"/>
              </a:buClr>
              <a:buSzPts val="900"/>
              <a:buFont typeface="Calibri"/>
              <a:buNone/>
            </a:pPr>
            <a:r>
              <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227" name="Shape 227"/>
        <p:cNvGrpSpPr/>
        <p:nvPr/>
      </p:nvGrpSpPr>
      <p:grpSpPr>
        <a:xfrm>
          <a:off x="0" y="0"/>
          <a:ext cx="0" cy="0"/>
          <a:chOff x="0" y="0"/>
          <a:chExt cx="0" cy="0"/>
        </a:xfrm>
      </p:grpSpPr>
      <p:sp>
        <p:nvSpPr>
          <p:cNvPr id="228" name="Google Shape;228;g3f8386f7cd2_2_137"/>
          <p:cNvSpPr/>
          <p:nvPr/>
        </p:nvSpPr>
        <p:spPr>
          <a:xfrm>
            <a:off x="731500" y="502920"/>
            <a:ext cx="10728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WHO BEARS THE COST  ·  目标用户</a:t>
            </a:r>
            <a:endParaRPr b="0" i="0" sz="1100" u="none" cap="none" strike="noStrike">
              <a:solidFill>
                <a:schemeClr val="dk1"/>
              </a:solidFill>
              <a:latin typeface="Calibri"/>
              <a:ea typeface="Calibri"/>
              <a:cs typeface="Calibri"/>
              <a:sym typeface="Calibri"/>
            </a:endParaRPr>
          </a:p>
        </p:txBody>
      </p:sp>
      <p:sp>
        <p:nvSpPr>
          <p:cNvPr id="229" name="Google Shape;229;g3f8386f7cd2_2_137"/>
          <p:cNvSpPr/>
          <p:nvPr/>
        </p:nvSpPr>
        <p:spPr>
          <a:xfrm>
            <a:off x="731500" y="850392"/>
            <a:ext cx="10728300" cy="548700"/>
          </a:xfrm>
          <a:prstGeom prst="rect">
            <a:avLst/>
          </a:prstGeom>
          <a:noFill/>
          <a:ln>
            <a:noFill/>
          </a:ln>
        </p:spPr>
        <p:txBody>
          <a:bodyPr anchorCtr="0" anchor="t" bIns="0" lIns="0" spcFirstLastPara="1" rIns="0" wrap="square" tIns="0">
            <a:noAutofit/>
          </a:bodyPr>
          <a:lstStyle/>
          <a:p>
            <a:pPr indent="0" lvl="0" marL="0" marR="0" rtl="0" algn="l">
              <a:lnSpc>
                <a:spcPct val="117647"/>
              </a:lnSpc>
              <a:spcBef>
                <a:spcPts val="0"/>
              </a:spcBef>
              <a:spcAft>
                <a:spcPts val="0"/>
              </a:spcAft>
              <a:buClr>
                <a:srgbClr val="16232E"/>
              </a:buClr>
              <a:buSzPts val="3400"/>
              <a:buFont typeface="Cambria"/>
              <a:buNone/>
            </a:pPr>
            <a:r>
              <a:rPr b="1" i="0" lang="en-US" sz="3400" u="none" cap="none" strike="noStrike">
                <a:solidFill>
                  <a:srgbClr val="16232E"/>
                </a:solidFill>
                <a:latin typeface="Cambria"/>
                <a:ea typeface="Cambria"/>
                <a:cs typeface="Cambria"/>
                <a:sym typeface="Cambria"/>
              </a:rPr>
              <a:t>Who Is Affected–And Who Can Begin the Change?</a:t>
            </a:r>
            <a:endParaRPr b="0" i="0" sz="3400" u="none" cap="none" strike="noStrike">
              <a:solidFill>
                <a:schemeClr val="dk1"/>
              </a:solidFill>
              <a:latin typeface="Calibri"/>
              <a:ea typeface="Calibri"/>
              <a:cs typeface="Calibri"/>
              <a:sym typeface="Calibri"/>
            </a:endParaRPr>
          </a:p>
        </p:txBody>
      </p:sp>
      <p:sp>
        <p:nvSpPr>
          <p:cNvPr id="230" name="Google Shape;230;g3f8386f7cd2_2_137"/>
          <p:cNvSpPr/>
          <p:nvPr/>
        </p:nvSpPr>
        <p:spPr>
          <a:xfrm>
            <a:off x="731500" y="1517904"/>
            <a:ext cx="10241100" cy="5487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5F706C"/>
              </a:buClr>
              <a:buSzPts val="1400"/>
              <a:buFont typeface="Calibri"/>
              <a:buNone/>
            </a:pPr>
            <a:r>
              <a:rPr b="0" i="0" lang="en-US" sz="1400" u="none" cap="none" strike="noStrike">
                <a:solidFill>
                  <a:srgbClr val="5F706C"/>
                </a:solidFill>
                <a:latin typeface="Calibri"/>
                <a:ea typeface="Calibri"/>
                <a:cs typeface="Calibri"/>
                <a:sym typeface="Calibri"/>
              </a:rPr>
              <a:t>The silence is not distributed evenly, and neither is the ability to break it. That asymmetry decides who the product is for.</a:t>
            </a:r>
            <a:endParaRPr b="0" i="0" sz="1400" u="none" cap="none" strike="noStrike">
              <a:solidFill>
                <a:schemeClr val="dk1"/>
              </a:solidFill>
              <a:latin typeface="Calibri"/>
              <a:ea typeface="Calibri"/>
              <a:cs typeface="Calibri"/>
              <a:sym typeface="Calibri"/>
            </a:endParaRPr>
          </a:p>
        </p:txBody>
      </p:sp>
      <p:sp>
        <p:nvSpPr>
          <p:cNvPr id="231" name="Google Shape;231;g3f8386f7cd2_2_137"/>
          <p:cNvSpPr/>
          <p:nvPr/>
        </p:nvSpPr>
        <p:spPr>
          <a:xfrm>
            <a:off x="731501" y="2240280"/>
            <a:ext cx="3332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1000"/>
              <a:buFont typeface="Calibri"/>
              <a:buNone/>
            </a:pPr>
            <a:r>
              <a:rPr b="1" i="0" lang="en-US" sz="1000" u="none" cap="none" strike="noStrike">
                <a:solidFill>
                  <a:srgbClr val="5F706C"/>
                </a:solidFill>
                <a:latin typeface="Calibri"/>
                <a:ea typeface="Calibri"/>
                <a:cs typeface="Calibri"/>
                <a:sym typeface="Calibri"/>
              </a:rPr>
              <a:t>SECONDARY USER</a:t>
            </a:r>
            <a:endParaRPr b="0" i="0" sz="1000" u="none" cap="none" strike="noStrike">
              <a:solidFill>
                <a:schemeClr val="dk1"/>
              </a:solidFill>
              <a:latin typeface="Calibri"/>
              <a:ea typeface="Calibri"/>
              <a:cs typeface="Calibri"/>
              <a:sym typeface="Calibri"/>
            </a:endParaRPr>
          </a:p>
        </p:txBody>
      </p:sp>
      <p:cxnSp>
        <p:nvCxnSpPr>
          <p:cNvPr id="232" name="Google Shape;232;g3f8386f7cd2_2_137"/>
          <p:cNvCxnSpPr/>
          <p:nvPr/>
        </p:nvCxnSpPr>
        <p:spPr>
          <a:xfrm>
            <a:off x="731501" y="2606040"/>
            <a:ext cx="3332100" cy="0"/>
          </a:xfrm>
          <a:prstGeom prst="straightConnector1">
            <a:avLst/>
          </a:prstGeom>
          <a:noFill/>
          <a:ln cap="flat" cmpd="sng" w="12700">
            <a:solidFill>
              <a:srgbClr val="C6D1CC"/>
            </a:solidFill>
            <a:prstDash val="solid"/>
            <a:round/>
            <a:headEnd len="sm" w="sm" type="none"/>
            <a:tailEnd len="sm" w="sm" type="none"/>
          </a:ln>
        </p:spPr>
      </p:cxnSp>
      <p:sp>
        <p:nvSpPr>
          <p:cNvPr id="233" name="Google Shape;233;g3f8386f7cd2_2_137"/>
          <p:cNvSpPr/>
          <p:nvPr/>
        </p:nvSpPr>
        <p:spPr>
          <a:xfrm>
            <a:off x="731501" y="2761488"/>
            <a:ext cx="33321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2100"/>
              <a:buFont typeface="Cambria"/>
              <a:buNone/>
            </a:pPr>
            <a:r>
              <a:rPr b="1" i="0" lang="en-US" sz="2100" u="none" cap="none" strike="noStrike">
                <a:solidFill>
                  <a:srgbClr val="16232E"/>
                </a:solidFill>
                <a:latin typeface="Cambria"/>
                <a:ea typeface="Cambria"/>
                <a:cs typeface="Cambria"/>
                <a:sym typeface="Cambria"/>
              </a:rPr>
              <a:t>The patient</a:t>
            </a:r>
            <a:endParaRPr b="0" i="0" sz="2100" u="none" cap="none" strike="noStrike">
              <a:solidFill>
                <a:schemeClr val="dk1"/>
              </a:solidFill>
              <a:latin typeface="Calibri"/>
              <a:ea typeface="Calibri"/>
              <a:cs typeface="Calibri"/>
              <a:sym typeface="Calibri"/>
            </a:endParaRPr>
          </a:p>
        </p:txBody>
      </p:sp>
      <p:sp>
        <p:nvSpPr>
          <p:cNvPr id="234" name="Google Shape;234;g3f8386f7cd2_2_137"/>
          <p:cNvSpPr/>
          <p:nvPr/>
        </p:nvSpPr>
        <p:spPr>
          <a:xfrm>
            <a:off x="731501" y="3310128"/>
            <a:ext cx="3332100" cy="164580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5F706C"/>
              </a:buClr>
              <a:buSzPts val="1250"/>
              <a:buFont typeface="Calibri"/>
              <a:buNone/>
            </a:pPr>
            <a:r>
              <a:rPr b="0" i="0" lang="en-US" sz="1250" u="none" cap="none" strike="noStrike">
                <a:solidFill>
                  <a:srgbClr val="5F706C"/>
                </a:solidFill>
                <a:latin typeface="Calibri"/>
                <a:ea typeface="Calibri"/>
                <a:cs typeface="Calibri"/>
                <a:sym typeface="Calibri"/>
              </a:rPr>
              <a:t>Isolated, with symptoms under-treated and a lack of agency and autonomy over the end of their life — denied the chance to prepare a goodbye or leave anything behind.</a:t>
            </a:r>
            <a:endParaRPr b="0" i="0" sz="1250" u="none" cap="none" strike="noStrike">
              <a:solidFill>
                <a:schemeClr val="dk1"/>
              </a:solidFill>
              <a:latin typeface="Calibri"/>
              <a:ea typeface="Calibri"/>
              <a:cs typeface="Calibri"/>
              <a:sym typeface="Calibri"/>
            </a:endParaRPr>
          </a:p>
        </p:txBody>
      </p:sp>
      <p:sp>
        <p:nvSpPr>
          <p:cNvPr id="235" name="Google Shape;235;g3f8386f7cd2_2_137"/>
          <p:cNvSpPr/>
          <p:nvPr/>
        </p:nvSpPr>
        <p:spPr>
          <a:xfrm>
            <a:off x="4154923" y="2011680"/>
            <a:ext cx="3880800" cy="3063300"/>
          </a:xfrm>
          <a:prstGeom prst="roundRect">
            <a:avLst>
              <a:gd fmla="val 3500" name="adj"/>
            </a:avLst>
          </a:prstGeom>
          <a:solidFill>
            <a:srgbClr val="F4F7F4"/>
          </a:solidFill>
          <a:ln cap="flat" cmpd="sng" w="9525">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3f8386f7cd2_2_137"/>
          <p:cNvSpPr/>
          <p:nvPr/>
        </p:nvSpPr>
        <p:spPr>
          <a:xfrm>
            <a:off x="4429236" y="2240280"/>
            <a:ext cx="3332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000"/>
              <a:buFont typeface="Calibri"/>
              <a:buNone/>
            </a:pPr>
            <a:r>
              <a:rPr b="1" i="0" lang="en-US" sz="1000" u="none" cap="none" strike="noStrike">
                <a:solidFill>
                  <a:srgbClr val="B44A3C"/>
                </a:solidFill>
                <a:latin typeface="Calibri"/>
                <a:ea typeface="Calibri"/>
                <a:cs typeface="Calibri"/>
                <a:sym typeface="Calibri"/>
              </a:rPr>
              <a:t>PRIMARY USER</a:t>
            </a:r>
            <a:endParaRPr b="0" i="0" sz="1000" u="none" cap="none" strike="noStrike">
              <a:solidFill>
                <a:schemeClr val="dk1"/>
              </a:solidFill>
              <a:latin typeface="Calibri"/>
              <a:ea typeface="Calibri"/>
              <a:cs typeface="Calibri"/>
              <a:sym typeface="Calibri"/>
            </a:endParaRPr>
          </a:p>
        </p:txBody>
      </p:sp>
      <p:cxnSp>
        <p:nvCxnSpPr>
          <p:cNvPr id="237" name="Google Shape;237;g3f8386f7cd2_2_137"/>
          <p:cNvCxnSpPr/>
          <p:nvPr/>
        </p:nvCxnSpPr>
        <p:spPr>
          <a:xfrm>
            <a:off x="4429236" y="2606040"/>
            <a:ext cx="3332100" cy="0"/>
          </a:xfrm>
          <a:prstGeom prst="straightConnector1">
            <a:avLst/>
          </a:prstGeom>
          <a:noFill/>
          <a:ln cap="flat" cmpd="sng" w="19050">
            <a:solidFill>
              <a:srgbClr val="B44A3C"/>
            </a:solidFill>
            <a:prstDash val="solid"/>
            <a:round/>
            <a:headEnd len="sm" w="sm" type="none"/>
            <a:tailEnd len="sm" w="sm" type="none"/>
          </a:ln>
        </p:spPr>
      </p:cxnSp>
      <p:sp>
        <p:nvSpPr>
          <p:cNvPr id="238" name="Google Shape;238;g3f8386f7cd2_2_137"/>
          <p:cNvSpPr/>
          <p:nvPr/>
        </p:nvSpPr>
        <p:spPr>
          <a:xfrm>
            <a:off x="4429236" y="2761488"/>
            <a:ext cx="33321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2100"/>
              <a:buFont typeface="Cambria"/>
              <a:buNone/>
            </a:pPr>
            <a:r>
              <a:rPr b="1" i="0" lang="en-US" sz="2100" u="none" cap="none" strike="noStrike">
                <a:solidFill>
                  <a:srgbClr val="16232E"/>
                </a:solidFill>
                <a:latin typeface="Cambria"/>
                <a:ea typeface="Cambria"/>
                <a:cs typeface="Cambria"/>
                <a:sym typeface="Cambria"/>
              </a:rPr>
              <a:t>The caregiver</a:t>
            </a:r>
            <a:endParaRPr b="0" i="0" sz="2100" u="none" cap="none" strike="noStrike">
              <a:solidFill>
                <a:schemeClr val="dk1"/>
              </a:solidFill>
              <a:latin typeface="Calibri"/>
              <a:ea typeface="Calibri"/>
              <a:cs typeface="Calibri"/>
              <a:sym typeface="Calibri"/>
            </a:endParaRPr>
          </a:p>
        </p:txBody>
      </p:sp>
      <p:sp>
        <p:nvSpPr>
          <p:cNvPr id="239" name="Google Shape;239;g3f8386f7cd2_2_137"/>
          <p:cNvSpPr/>
          <p:nvPr/>
        </p:nvSpPr>
        <p:spPr>
          <a:xfrm>
            <a:off x="4429236" y="3310128"/>
            <a:ext cx="3332100" cy="164580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5F706C"/>
              </a:buClr>
              <a:buSzPts val="1250"/>
              <a:buFont typeface="Calibri"/>
              <a:buNone/>
            </a:pPr>
            <a:r>
              <a:rPr b="0" i="0" lang="en-US" sz="1250" u="none" cap="none" strike="noStrike">
                <a:solidFill>
                  <a:srgbClr val="5F706C"/>
                </a:solidFill>
                <a:latin typeface="Calibri"/>
                <a:ea typeface="Calibri"/>
                <a:cs typeface="Calibri"/>
                <a:sym typeface="Calibri"/>
              </a:rPr>
              <a:t>Aged roughly 30 to 60. Bears the information and responsibilities alone, is morally torn between honesty and filial protection, and enters bereavement as the only fully informed person in the family.</a:t>
            </a:r>
            <a:endParaRPr b="0" i="0" sz="1250" u="none" cap="none" strike="noStrike">
              <a:solidFill>
                <a:schemeClr val="dk1"/>
              </a:solidFill>
              <a:latin typeface="Calibri"/>
              <a:ea typeface="Calibri"/>
              <a:cs typeface="Calibri"/>
              <a:sym typeface="Calibri"/>
            </a:endParaRPr>
          </a:p>
        </p:txBody>
      </p:sp>
      <p:sp>
        <p:nvSpPr>
          <p:cNvPr id="240" name="Google Shape;240;g3f8386f7cd2_2_137"/>
          <p:cNvSpPr/>
          <p:nvPr/>
        </p:nvSpPr>
        <p:spPr>
          <a:xfrm>
            <a:off x="8127885" y="2240280"/>
            <a:ext cx="3332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1000"/>
              <a:buFont typeface="Calibri"/>
              <a:buNone/>
            </a:pPr>
            <a:r>
              <a:rPr b="1" i="0" lang="en-US" sz="1000" u="none" cap="none" strike="noStrike">
                <a:solidFill>
                  <a:srgbClr val="5F706C"/>
                </a:solidFill>
                <a:latin typeface="Calibri"/>
                <a:ea typeface="Calibri"/>
                <a:cs typeface="Calibri"/>
                <a:sym typeface="Calibri"/>
              </a:rPr>
              <a:t>SECONDARY USER</a:t>
            </a:r>
            <a:endParaRPr b="0" i="0" sz="1000" u="none" cap="none" strike="noStrike">
              <a:solidFill>
                <a:schemeClr val="dk1"/>
              </a:solidFill>
              <a:latin typeface="Calibri"/>
              <a:ea typeface="Calibri"/>
              <a:cs typeface="Calibri"/>
              <a:sym typeface="Calibri"/>
            </a:endParaRPr>
          </a:p>
        </p:txBody>
      </p:sp>
      <p:cxnSp>
        <p:nvCxnSpPr>
          <p:cNvPr id="241" name="Google Shape;241;g3f8386f7cd2_2_137"/>
          <p:cNvCxnSpPr/>
          <p:nvPr/>
        </p:nvCxnSpPr>
        <p:spPr>
          <a:xfrm>
            <a:off x="8127885" y="2606040"/>
            <a:ext cx="3332100" cy="0"/>
          </a:xfrm>
          <a:prstGeom prst="straightConnector1">
            <a:avLst/>
          </a:prstGeom>
          <a:noFill/>
          <a:ln cap="flat" cmpd="sng" w="12700">
            <a:solidFill>
              <a:srgbClr val="C6D1CC"/>
            </a:solidFill>
            <a:prstDash val="solid"/>
            <a:round/>
            <a:headEnd len="sm" w="sm" type="none"/>
            <a:tailEnd len="sm" w="sm" type="none"/>
          </a:ln>
        </p:spPr>
      </p:cxnSp>
      <p:sp>
        <p:nvSpPr>
          <p:cNvPr id="242" name="Google Shape;242;g3f8386f7cd2_2_137"/>
          <p:cNvSpPr/>
          <p:nvPr/>
        </p:nvSpPr>
        <p:spPr>
          <a:xfrm>
            <a:off x="8127885" y="2761488"/>
            <a:ext cx="33321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2100"/>
              <a:buFont typeface="Cambria"/>
              <a:buNone/>
            </a:pPr>
            <a:r>
              <a:rPr b="1" i="0" lang="en-US" sz="2100" u="none" cap="none" strike="noStrike">
                <a:solidFill>
                  <a:srgbClr val="16232E"/>
                </a:solidFill>
                <a:latin typeface="Cambria"/>
                <a:ea typeface="Cambria"/>
                <a:cs typeface="Cambria"/>
                <a:sym typeface="Cambria"/>
              </a:rPr>
              <a:t>The child</a:t>
            </a:r>
            <a:endParaRPr b="0" i="0" sz="2100" u="none" cap="none" strike="noStrike">
              <a:solidFill>
                <a:schemeClr val="dk1"/>
              </a:solidFill>
              <a:latin typeface="Calibri"/>
              <a:ea typeface="Calibri"/>
              <a:cs typeface="Calibri"/>
              <a:sym typeface="Calibri"/>
            </a:endParaRPr>
          </a:p>
        </p:txBody>
      </p:sp>
      <p:sp>
        <p:nvSpPr>
          <p:cNvPr id="243" name="Google Shape;243;g3f8386f7cd2_2_137"/>
          <p:cNvSpPr/>
          <p:nvPr/>
        </p:nvSpPr>
        <p:spPr>
          <a:xfrm>
            <a:off x="8127885" y="3310128"/>
            <a:ext cx="3332100" cy="164580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5F706C"/>
              </a:buClr>
              <a:buSzPts val="1250"/>
              <a:buFont typeface="Calibri"/>
              <a:buNone/>
            </a:pPr>
            <a:r>
              <a:rPr b="0" i="0" lang="en-US" sz="1250" u="none" cap="none" strike="noStrike">
                <a:solidFill>
                  <a:srgbClr val="5F706C"/>
                </a:solidFill>
                <a:latin typeface="Calibri"/>
                <a:ea typeface="Calibri"/>
                <a:cs typeface="Calibri"/>
                <a:sym typeface="Calibri"/>
              </a:rPr>
              <a:t>Told they are “too young to understand.” May become confused or anxious when adults provide no explanation.</a:t>
            </a:r>
            <a:endParaRPr b="0" i="0" sz="1250" u="none" cap="none" strike="noStrike">
              <a:solidFill>
                <a:schemeClr val="dk1"/>
              </a:solidFill>
              <a:latin typeface="Calibri"/>
              <a:ea typeface="Calibri"/>
              <a:cs typeface="Calibri"/>
              <a:sym typeface="Calibri"/>
            </a:endParaRPr>
          </a:p>
        </p:txBody>
      </p:sp>
      <p:sp>
        <p:nvSpPr>
          <p:cNvPr id="244" name="Google Shape;244;g3f8386f7cd2_2_137"/>
          <p:cNvSpPr/>
          <p:nvPr/>
        </p:nvSpPr>
        <p:spPr>
          <a:xfrm>
            <a:off x="731500" y="5230368"/>
            <a:ext cx="10728300" cy="804600"/>
          </a:xfrm>
          <a:prstGeom prst="roundRect">
            <a:avLst>
              <a:gd fmla="val 3500" name="adj"/>
            </a:avLst>
          </a:prstGeom>
          <a:solidFill>
            <a:srgbClr val="F4F7F4"/>
          </a:solidFill>
          <a:ln cap="flat" cmpd="sng" w="12700">
            <a:solidFill>
              <a:srgbClr val="F4F7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g3f8386f7cd2_2_137"/>
          <p:cNvSpPr/>
          <p:nvPr/>
        </p:nvSpPr>
        <p:spPr>
          <a:xfrm>
            <a:off x="1051532" y="5394960"/>
            <a:ext cx="10088400" cy="54870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16232E"/>
              </a:buClr>
              <a:buSzPts val="1250"/>
              <a:buFont typeface="Calibri"/>
              <a:buNone/>
            </a:pPr>
            <a:r>
              <a:rPr b="0" i="0" lang="en-US" sz="1200" u="none" cap="none" strike="noStrike">
                <a:solidFill>
                  <a:srgbClr val="5F706C"/>
                </a:solidFill>
                <a:latin typeface="Calibri"/>
                <a:ea typeface="Calibri"/>
                <a:cs typeface="Calibri"/>
                <a:sym typeface="Calibri"/>
              </a:rPr>
              <a:t>The silence affects the patient, caregiver, and child differently. The patient loses information and control. The child is left confused. But the caregiver carries the diagnosis, decisions, and practical responsibilities, so the caregiver becomes our primary user and the person Bridge is designed to support first.</a:t>
            </a:r>
            <a:endParaRPr b="0" i="0" sz="1250" u="none" cap="none" strike="noStrike">
              <a:solidFill>
                <a:srgbClr val="5F706C"/>
              </a:solidFill>
              <a:latin typeface="Calibri"/>
              <a:ea typeface="Calibri"/>
              <a:cs typeface="Calibri"/>
              <a:sym typeface="Calibri"/>
            </a:endParaRPr>
          </a:p>
        </p:txBody>
      </p:sp>
      <p:sp>
        <p:nvSpPr>
          <p:cNvPr id="246" name="Google Shape;246;g3f8386f7cd2_2_137"/>
          <p:cNvSpPr/>
          <p:nvPr/>
        </p:nvSpPr>
        <p:spPr>
          <a:xfrm>
            <a:off x="731501" y="6281928"/>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900"/>
              <a:buFont typeface="Calibri"/>
              <a:buNone/>
            </a:pPr>
            <a:r>
              <a:rPr b="0" i="0" lang="en-US" sz="900" u="none" cap="none" strike="noStrike">
                <a:solidFill>
                  <a:srgbClr val="5F706C"/>
                </a:solidFill>
                <a:latin typeface="Calibri"/>
                <a:ea typeface="Calibri"/>
                <a:cs typeface="Calibri"/>
                <a:sym typeface="Calibri"/>
              </a:rPr>
              <a:t>Bridge · Group 2</a:t>
            </a:r>
            <a:endParaRPr b="0" i="0" sz="900" u="none" cap="none" strike="noStrike">
              <a:solidFill>
                <a:schemeClr val="dk1"/>
              </a:solidFill>
              <a:latin typeface="Calibri"/>
              <a:ea typeface="Calibri"/>
              <a:cs typeface="Calibri"/>
              <a:sym typeface="Calibri"/>
            </a:endParaRPr>
          </a:p>
        </p:txBody>
      </p:sp>
      <p:sp>
        <p:nvSpPr>
          <p:cNvPr id="247" name="Google Shape;247;g3f8386f7cd2_2_137"/>
          <p:cNvSpPr/>
          <p:nvPr/>
        </p:nvSpPr>
        <p:spPr>
          <a:xfrm>
            <a:off x="10545494" y="6281928"/>
            <a:ext cx="9144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F706C"/>
              </a:buClr>
              <a:buSzPts val="900"/>
              <a:buFont typeface="Calibri"/>
              <a:buNone/>
            </a:pPr>
            <a:r>
              <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252" name="Shape 252"/>
        <p:cNvGrpSpPr/>
        <p:nvPr/>
      </p:nvGrpSpPr>
      <p:grpSpPr>
        <a:xfrm>
          <a:off x="0" y="0"/>
          <a:ext cx="0" cy="0"/>
          <a:chOff x="0" y="0"/>
          <a:chExt cx="0" cy="0"/>
        </a:xfrm>
      </p:grpSpPr>
      <p:sp>
        <p:nvSpPr>
          <p:cNvPr id="253" name="Google Shape;253;g3f8386f7cd2_2_161"/>
          <p:cNvSpPr/>
          <p:nvPr/>
        </p:nvSpPr>
        <p:spPr>
          <a:xfrm>
            <a:off x="731500" y="566928"/>
            <a:ext cx="10728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THE MECHANISM  ·  孝道悖论</a:t>
            </a:r>
            <a:endParaRPr b="0" i="0" sz="1100" u="none" cap="none" strike="noStrike">
              <a:solidFill>
                <a:schemeClr val="dk1"/>
              </a:solidFill>
              <a:latin typeface="Calibri"/>
              <a:ea typeface="Calibri"/>
              <a:cs typeface="Calibri"/>
              <a:sym typeface="Calibri"/>
            </a:endParaRPr>
          </a:p>
        </p:txBody>
      </p:sp>
      <p:sp>
        <p:nvSpPr>
          <p:cNvPr id="254" name="Google Shape;254;g3f8386f7cd2_2_161"/>
          <p:cNvSpPr/>
          <p:nvPr/>
        </p:nvSpPr>
        <p:spPr>
          <a:xfrm>
            <a:off x="731500" y="914400"/>
            <a:ext cx="10728300" cy="868800"/>
          </a:xfrm>
          <a:prstGeom prst="rect">
            <a:avLst/>
          </a:prstGeom>
          <a:noFill/>
          <a:ln>
            <a:noFill/>
          </a:ln>
        </p:spPr>
        <p:txBody>
          <a:bodyPr anchorCtr="0" anchor="t" bIns="0" lIns="0" spcFirstLastPara="1" rIns="0" wrap="square" tIns="0">
            <a:noAutofit/>
          </a:bodyPr>
          <a:lstStyle/>
          <a:p>
            <a:pPr indent="0" lvl="0" marL="0" marR="0" rtl="0" algn="l">
              <a:lnSpc>
                <a:spcPct val="117647"/>
              </a:lnSpc>
              <a:spcBef>
                <a:spcPts val="0"/>
              </a:spcBef>
              <a:spcAft>
                <a:spcPts val="0"/>
              </a:spcAft>
              <a:buClr>
                <a:srgbClr val="16232E"/>
              </a:buClr>
              <a:buSzPts val="3400"/>
              <a:buFont typeface="Cambria"/>
              <a:buNone/>
            </a:pPr>
            <a:r>
              <a:rPr b="1" i="0" lang="en-US" sz="3400" u="none" cap="none" strike="noStrike">
                <a:solidFill>
                  <a:srgbClr val="16232E"/>
                </a:solidFill>
                <a:latin typeface="Cambria"/>
                <a:ea typeface="Cambria"/>
                <a:cs typeface="Cambria"/>
                <a:sym typeface="Cambria"/>
              </a:rPr>
              <a:t>The Filial Paradox: When Protection Creates Silence</a:t>
            </a:r>
            <a:endParaRPr b="0" i="0" sz="3400" u="none" cap="none" strike="noStrike">
              <a:solidFill>
                <a:schemeClr val="dk1"/>
              </a:solidFill>
              <a:latin typeface="Calibri"/>
              <a:ea typeface="Calibri"/>
              <a:cs typeface="Calibri"/>
              <a:sym typeface="Calibri"/>
            </a:endParaRPr>
          </a:p>
        </p:txBody>
      </p:sp>
      <p:sp>
        <p:nvSpPr>
          <p:cNvPr id="255" name="Google Shape;255;g3f8386f7cd2_2_161"/>
          <p:cNvSpPr/>
          <p:nvPr/>
        </p:nvSpPr>
        <p:spPr>
          <a:xfrm>
            <a:off x="731501" y="2103120"/>
            <a:ext cx="4617600" cy="2286000"/>
          </a:xfrm>
          <a:prstGeom prst="roundRect">
            <a:avLst>
              <a:gd fmla="val 3500" name="adj"/>
            </a:avLst>
          </a:prstGeom>
          <a:solidFill>
            <a:srgbClr val="F4F7F4"/>
          </a:solidFill>
          <a:ln cap="flat" cmpd="sng" w="9525">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3f8386f7cd2_2_161"/>
          <p:cNvSpPr/>
          <p:nvPr/>
        </p:nvSpPr>
        <p:spPr>
          <a:xfrm>
            <a:off x="1051532" y="2377440"/>
            <a:ext cx="2743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mbria"/>
              <a:buNone/>
            </a:pPr>
            <a:r>
              <a:rPr b="1" i="0" lang="en-US" sz="1100" u="none" cap="none" strike="noStrike">
                <a:solidFill>
                  <a:srgbClr val="B44A3C"/>
                </a:solidFill>
                <a:latin typeface="Cambria"/>
                <a:ea typeface="Cambria"/>
                <a:cs typeface="Cambria"/>
                <a:sym typeface="Cambria"/>
              </a:rPr>
              <a:t>THE INTENT</a:t>
            </a:r>
            <a:endParaRPr b="0" i="0" sz="1100" u="none" cap="none" strike="noStrike">
              <a:solidFill>
                <a:schemeClr val="dk1"/>
              </a:solidFill>
              <a:latin typeface="Calibri"/>
              <a:ea typeface="Calibri"/>
              <a:cs typeface="Calibri"/>
              <a:sym typeface="Calibri"/>
            </a:endParaRPr>
          </a:p>
        </p:txBody>
      </p:sp>
      <p:sp>
        <p:nvSpPr>
          <p:cNvPr id="257" name="Google Shape;257;g3f8386f7cd2_2_161"/>
          <p:cNvSpPr/>
          <p:nvPr/>
        </p:nvSpPr>
        <p:spPr>
          <a:xfrm>
            <a:off x="1051532" y="2761488"/>
            <a:ext cx="3977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800"/>
              <a:buFont typeface="Cambria"/>
              <a:buNone/>
            </a:pPr>
            <a:r>
              <a:rPr b="1" i="0" lang="en-US" sz="1800" u="none" cap="none" strike="noStrike">
                <a:solidFill>
                  <a:srgbClr val="16232E"/>
                </a:solidFill>
                <a:latin typeface="Cambria"/>
                <a:ea typeface="Cambria"/>
                <a:cs typeface="Cambria"/>
                <a:sym typeface="Cambria"/>
              </a:rPr>
              <a:t>Protection </a:t>
            </a:r>
            <a:endParaRPr b="0" i="0" sz="1800" u="none" cap="none" strike="noStrike">
              <a:solidFill>
                <a:schemeClr val="dk1"/>
              </a:solidFill>
              <a:latin typeface="Calibri"/>
              <a:ea typeface="Calibri"/>
              <a:cs typeface="Calibri"/>
              <a:sym typeface="Calibri"/>
            </a:endParaRPr>
          </a:p>
        </p:txBody>
      </p:sp>
      <p:sp>
        <p:nvSpPr>
          <p:cNvPr id="258" name="Google Shape;258;g3f8386f7cd2_2_161"/>
          <p:cNvSpPr/>
          <p:nvPr/>
        </p:nvSpPr>
        <p:spPr>
          <a:xfrm>
            <a:off x="1051532" y="3236976"/>
            <a:ext cx="3977700" cy="100590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5F706C"/>
              </a:buClr>
              <a:buSzPts val="1300"/>
              <a:buFont typeface="Calibri"/>
              <a:buNone/>
            </a:pPr>
            <a:r>
              <a:rPr b="0" i="0" lang="en-US" sz="1300" u="none" cap="none" strike="noStrike">
                <a:solidFill>
                  <a:srgbClr val="5F706C"/>
                </a:solidFill>
                <a:latin typeface="Calibri"/>
                <a:ea typeface="Calibri"/>
                <a:cs typeface="Calibri"/>
                <a:sym typeface="Calibri"/>
              </a:rPr>
              <a:t>孝 obliges adult children to shield an ageing parent from harm. Over 70% of families withhold a terminal cancer diagnosis, and clinicians, wary of family conflict, defer disclosure to the caregiver.</a:t>
            </a:r>
            <a:endParaRPr b="0" i="0" sz="1300" u="none" cap="none" strike="noStrike">
              <a:solidFill>
                <a:schemeClr val="dk1"/>
              </a:solidFill>
              <a:latin typeface="Calibri"/>
              <a:ea typeface="Calibri"/>
              <a:cs typeface="Calibri"/>
              <a:sym typeface="Calibri"/>
            </a:endParaRPr>
          </a:p>
        </p:txBody>
      </p:sp>
      <p:sp>
        <p:nvSpPr>
          <p:cNvPr id="259" name="Google Shape;259;g3f8386f7cd2_2_161"/>
          <p:cNvSpPr/>
          <p:nvPr/>
        </p:nvSpPr>
        <p:spPr>
          <a:xfrm>
            <a:off x="5467966" y="2926080"/>
            <a:ext cx="10059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44A3C"/>
              </a:buClr>
              <a:buSzPts val="3400"/>
              <a:buFont typeface="Calibri"/>
              <a:buNone/>
            </a:pPr>
            <a:r>
              <a:rPr b="0" i="0" lang="en-US" sz="3400" u="none" cap="none" strike="noStrike">
                <a:solidFill>
                  <a:srgbClr val="B44A3C"/>
                </a:solidFill>
                <a:latin typeface="Calibri"/>
                <a:ea typeface="Calibri"/>
                <a:cs typeface="Calibri"/>
                <a:sym typeface="Calibri"/>
              </a:rPr>
              <a:t>→</a:t>
            </a:r>
            <a:endParaRPr b="0" i="0" sz="3400" u="none" cap="none" strike="noStrike">
              <a:solidFill>
                <a:schemeClr val="dk1"/>
              </a:solidFill>
              <a:latin typeface="Calibri"/>
              <a:ea typeface="Calibri"/>
              <a:cs typeface="Calibri"/>
              <a:sym typeface="Calibri"/>
            </a:endParaRPr>
          </a:p>
        </p:txBody>
      </p:sp>
      <p:sp>
        <p:nvSpPr>
          <p:cNvPr id="260" name="Google Shape;260;g3f8386f7cd2_2_161"/>
          <p:cNvSpPr/>
          <p:nvPr/>
        </p:nvSpPr>
        <p:spPr>
          <a:xfrm>
            <a:off x="6839530" y="2103120"/>
            <a:ext cx="4617600" cy="2286000"/>
          </a:xfrm>
          <a:prstGeom prst="roundRect">
            <a:avLst>
              <a:gd fmla="val 3500" name="adj"/>
            </a:avLst>
          </a:prstGeom>
          <a:solidFill>
            <a:srgbClr val="F4F7F4"/>
          </a:solidFill>
          <a:ln cap="flat" cmpd="sng" w="9525">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3f8386f7cd2_2_161"/>
          <p:cNvSpPr/>
          <p:nvPr/>
        </p:nvSpPr>
        <p:spPr>
          <a:xfrm>
            <a:off x="7159561" y="2377440"/>
            <a:ext cx="2743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mbria"/>
              <a:buNone/>
            </a:pPr>
            <a:r>
              <a:rPr b="1" i="0" lang="en-US" sz="1100" u="none" cap="none" strike="noStrike">
                <a:solidFill>
                  <a:srgbClr val="B44A3C"/>
                </a:solidFill>
                <a:latin typeface="Cambria"/>
                <a:ea typeface="Cambria"/>
                <a:cs typeface="Cambria"/>
                <a:sym typeface="Cambria"/>
              </a:rPr>
              <a:t>THE POSSIBLE RESULT</a:t>
            </a:r>
            <a:endParaRPr b="0" i="0" sz="1100" u="none" cap="none" strike="noStrike">
              <a:solidFill>
                <a:schemeClr val="dk1"/>
              </a:solidFill>
              <a:latin typeface="Calibri"/>
              <a:ea typeface="Calibri"/>
              <a:cs typeface="Calibri"/>
              <a:sym typeface="Calibri"/>
            </a:endParaRPr>
          </a:p>
        </p:txBody>
      </p:sp>
      <p:sp>
        <p:nvSpPr>
          <p:cNvPr id="262" name="Google Shape;262;g3f8386f7cd2_2_161"/>
          <p:cNvSpPr/>
          <p:nvPr/>
        </p:nvSpPr>
        <p:spPr>
          <a:xfrm>
            <a:off x="7159561" y="2761488"/>
            <a:ext cx="3977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800"/>
              <a:buFont typeface="Cambria"/>
              <a:buNone/>
            </a:pPr>
            <a:r>
              <a:rPr b="1" i="0" lang="en-US" sz="1800" u="none" cap="none" strike="noStrike">
                <a:solidFill>
                  <a:srgbClr val="16232E"/>
                </a:solidFill>
                <a:latin typeface="Cambria"/>
                <a:ea typeface="Cambria"/>
                <a:cs typeface="Cambria"/>
                <a:sym typeface="Cambria"/>
              </a:rPr>
              <a:t>Unwanted Treatment</a:t>
            </a:r>
            <a:endParaRPr b="0" i="0" sz="1800" u="none" cap="none" strike="noStrike">
              <a:solidFill>
                <a:schemeClr val="dk1"/>
              </a:solidFill>
              <a:latin typeface="Calibri"/>
              <a:ea typeface="Calibri"/>
              <a:cs typeface="Calibri"/>
              <a:sym typeface="Calibri"/>
            </a:endParaRPr>
          </a:p>
        </p:txBody>
      </p:sp>
      <p:sp>
        <p:nvSpPr>
          <p:cNvPr id="263" name="Google Shape;263;g3f8386f7cd2_2_161"/>
          <p:cNvSpPr/>
          <p:nvPr/>
        </p:nvSpPr>
        <p:spPr>
          <a:xfrm>
            <a:off x="7159561" y="3236976"/>
            <a:ext cx="3977700" cy="100590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5F706C"/>
              </a:buClr>
              <a:buSzPts val="1300"/>
              <a:buFont typeface="Calibri"/>
              <a:buNone/>
            </a:pPr>
            <a:r>
              <a:rPr b="0" i="0" lang="en-US" sz="1300" u="none" cap="none" strike="noStrike">
                <a:solidFill>
                  <a:srgbClr val="5F706C"/>
                </a:solidFill>
                <a:latin typeface="Calibri"/>
                <a:ea typeface="Calibri"/>
                <a:cs typeface="Calibri"/>
                <a:sym typeface="Calibri"/>
              </a:rPr>
              <a:t>The same duty is demonstrated to relatives through aggressive ICU intervention that no longer benefits the patient. To decline it would look unfilial.</a:t>
            </a:r>
            <a:endParaRPr b="0" i="0" sz="1300" u="none" cap="none" strike="noStrike">
              <a:solidFill>
                <a:schemeClr val="dk1"/>
              </a:solidFill>
              <a:latin typeface="Calibri"/>
              <a:ea typeface="Calibri"/>
              <a:cs typeface="Calibri"/>
              <a:sym typeface="Calibri"/>
            </a:endParaRPr>
          </a:p>
        </p:txBody>
      </p:sp>
      <p:sp>
        <p:nvSpPr>
          <p:cNvPr id="264" name="Google Shape;264;g3f8386f7cd2_2_161"/>
          <p:cNvSpPr/>
          <p:nvPr/>
        </p:nvSpPr>
        <p:spPr>
          <a:xfrm>
            <a:off x="731500" y="4645152"/>
            <a:ext cx="10728300" cy="1326000"/>
          </a:xfrm>
          <a:prstGeom prst="roundRect">
            <a:avLst>
              <a:gd fmla="val 3500" name="adj"/>
            </a:avLst>
          </a:prstGeom>
          <a:solidFill>
            <a:srgbClr val="F4F7F4"/>
          </a:solidFill>
          <a:ln cap="flat" cmpd="sng" w="12700">
            <a:solidFill>
              <a:srgbClr val="F4F7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3f8386f7cd2_2_161"/>
          <p:cNvSpPr/>
          <p:nvPr/>
        </p:nvSpPr>
        <p:spPr>
          <a:xfrm>
            <a:off x="1051532" y="4809744"/>
            <a:ext cx="10088400" cy="10059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16232E"/>
              </a:buClr>
              <a:buSzPts val="1300"/>
              <a:buFont typeface="Calibri"/>
              <a:buNone/>
            </a:pPr>
            <a:r>
              <a:rPr b="1" i="0" lang="en-US" sz="1300" u="none" cap="none" strike="noStrike">
                <a:solidFill>
                  <a:srgbClr val="16232E"/>
                </a:solidFill>
                <a:latin typeface="Calibri"/>
                <a:ea typeface="Calibri"/>
                <a:cs typeface="Calibri"/>
                <a:sym typeface="Calibri"/>
              </a:rPr>
              <a:t>The consequence.  </a:t>
            </a:r>
            <a:r>
              <a:rPr b="0" i="0" lang="en-US" sz="1300" u="none" cap="none" strike="noStrike">
                <a:solidFill>
                  <a:srgbClr val="5F706C"/>
                </a:solidFill>
                <a:latin typeface="Calibri"/>
                <a:ea typeface="Calibri"/>
                <a:cs typeface="Calibri"/>
                <a:sym typeface="Calibri"/>
              </a:rPr>
              <a:t>A dying person loses autonomy, legacy preparation and dignified comfort at once — and the family's anticipatory grief is compounded rather than shared. Both sides know. Neither can speak.</a:t>
            </a:r>
            <a:endParaRPr b="0" i="0" sz="1300" u="none" cap="none" strike="noStrike">
              <a:solidFill>
                <a:schemeClr val="dk1"/>
              </a:solidFill>
              <a:latin typeface="Calibri"/>
              <a:ea typeface="Calibri"/>
              <a:cs typeface="Calibri"/>
              <a:sym typeface="Calibri"/>
            </a:endParaRPr>
          </a:p>
          <a:p>
            <a:pPr indent="0" lvl="0" marL="0" marR="0" rtl="0" algn="l">
              <a:lnSpc>
                <a:spcPct val="138461"/>
              </a:lnSpc>
              <a:spcBef>
                <a:spcPts val="400"/>
              </a:spcBef>
              <a:spcAft>
                <a:spcPts val="0"/>
              </a:spcAft>
              <a:buClr>
                <a:srgbClr val="16232E"/>
              </a:buClr>
              <a:buSzPts val="1300"/>
              <a:buFont typeface="Calibri"/>
              <a:buNone/>
            </a:pPr>
            <a:r>
              <a:rPr b="1" i="0" lang="en-US" sz="1300" u="none" cap="none" strike="noStrike">
                <a:solidFill>
                  <a:srgbClr val="16232E"/>
                </a:solidFill>
                <a:latin typeface="Calibri"/>
                <a:ea typeface="Calibri"/>
                <a:cs typeface="Calibri"/>
                <a:sym typeface="Calibri"/>
              </a:rPr>
              <a:t>And it is measurable.  </a:t>
            </a:r>
            <a:r>
              <a:rPr b="0" i="0" lang="en-US" sz="1300" u="none" cap="none" strike="noStrike">
                <a:solidFill>
                  <a:srgbClr val="5F706C"/>
                </a:solidFill>
                <a:latin typeface="Calibri"/>
                <a:ea typeface="Calibri"/>
                <a:cs typeface="Calibri"/>
                <a:sym typeface="Calibri"/>
              </a:rPr>
              <a:t>69.9% of the Chinese public would choose comfort-focused care for themselves — but only 57.2% would choose it for a relative (Tang et al., 2025).</a:t>
            </a:r>
            <a:endParaRPr b="0" i="0" sz="1300" u="none" cap="none" strike="noStrike">
              <a:solidFill>
                <a:schemeClr val="dk1"/>
              </a:solidFill>
              <a:latin typeface="Calibri"/>
              <a:ea typeface="Calibri"/>
              <a:cs typeface="Calibri"/>
              <a:sym typeface="Calibri"/>
            </a:endParaRPr>
          </a:p>
        </p:txBody>
      </p:sp>
      <p:sp>
        <p:nvSpPr>
          <p:cNvPr id="266" name="Google Shape;266;g3f8386f7cd2_2_161"/>
          <p:cNvSpPr/>
          <p:nvPr/>
        </p:nvSpPr>
        <p:spPr>
          <a:xfrm>
            <a:off x="731501" y="6281928"/>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900"/>
              <a:buFont typeface="Calibri"/>
              <a:buNone/>
            </a:pPr>
            <a:r>
              <a:rPr b="0" i="0" lang="en-US" sz="900" u="none" cap="none" strike="noStrike">
                <a:solidFill>
                  <a:srgbClr val="5F706C"/>
                </a:solidFill>
                <a:latin typeface="Calibri"/>
                <a:ea typeface="Calibri"/>
                <a:cs typeface="Calibri"/>
                <a:sym typeface="Calibri"/>
              </a:rPr>
              <a:t>Bridge · Group 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271" name="Shape 271"/>
        <p:cNvGrpSpPr/>
        <p:nvPr/>
      </p:nvGrpSpPr>
      <p:grpSpPr>
        <a:xfrm>
          <a:off x="0" y="0"/>
          <a:ext cx="0" cy="0"/>
          <a:chOff x="0" y="0"/>
          <a:chExt cx="0" cy="0"/>
        </a:xfrm>
      </p:grpSpPr>
      <p:sp>
        <p:nvSpPr>
          <p:cNvPr id="272" name="Google Shape;272;g3f8386f7cd2_2_179"/>
          <p:cNvSpPr/>
          <p:nvPr/>
        </p:nvSpPr>
        <p:spPr>
          <a:xfrm>
            <a:off x="731500" y="566928"/>
            <a:ext cx="10728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THE EVIDENCE  ·  实证</a:t>
            </a:r>
            <a:endParaRPr b="0" i="0" sz="1100" u="none" cap="none" strike="noStrike">
              <a:solidFill>
                <a:schemeClr val="dk1"/>
              </a:solidFill>
              <a:latin typeface="Calibri"/>
              <a:ea typeface="Calibri"/>
              <a:cs typeface="Calibri"/>
              <a:sym typeface="Calibri"/>
            </a:endParaRPr>
          </a:p>
        </p:txBody>
      </p:sp>
      <p:sp>
        <p:nvSpPr>
          <p:cNvPr id="273" name="Google Shape;273;g3f8386f7cd2_2_179"/>
          <p:cNvSpPr/>
          <p:nvPr/>
        </p:nvSpPr>
        <p:spPr>
          <a:xfrm>
            <a:off x="731500" y="914400"/>
            <a:ext cx="10728300" cy="868800"/>
          </a:xfrm>
          <a:prstGeom prst="rect">
            <a:avLst/>
          </a:prstGeom>
          <a:noFill/>
          <a:ln>
            <a:noFill/>
          </a:ln>
        </p:spPr>
        <p:txBody>
          <a:bodyPr anchorCtr="0" anchor="t" bIns="0" lIns="0" spcFirstLastPara="1" rIns="0" wrap="square" tIns="0">
            <a:noAutofit/>
          </a:bodyPr>
          <a:lstStyle/>
          <a:p>
            <a:pPr indent="0" lvl="0" marL="0" marR="0" rtl="0" algn="l">
              <a:lnSpc>
                <a:spcPct val="117647"/>
              </a:lnSpc>
              <a:spcBef>
                <a:spcPts val="0"/>
              </a:spcBef>
              <a:spcAft>
                <a:spcPts val="0"/>
              </a:spcAft>
              <a:buClr>
                <a:srgbClr val="16232E"/>
              </a:buClr>
              <a:buSzPts val="3400"/>
              <a:buFont typeface="Cambria"/>
              <a:buNone/>
            </a:pPr>
            <a:r>
              <a:rPr b="1" i="0" lang="en-US" sz="3400" u="none" cap="none" strike="noStrike">
                <a:solidFill>
                  <a:srgbClr val="16232E"/>
                </a:solidFill>
                <a:latin typeface="Cambria"/>
                <a:ea typeface="Cambria"/>
                <a:cs typeface="Cambria"/>
                <a:sym typeface="Cambria"/>
              </a:rPr>
              <a:t>The same person gives two different answers.</a:t>
            </a:r>
            <a:endParaRPr b="0" i="0" sz="3400" u="none" cap="none" strike="noStrike">
              <a:solidFill>
                <a:schemeClr val="dk1"/>
              </a:solidFill>
              <a:latin typeface="Calibri"/>
              <a:ea typeface="Calibri"/>
              <a:cs typeface="Calibri"/>
              <a:sym typeface="Calibri"/>
            </a:endParaRPr>
          </a:p>
        </p:txBody>
      </p:sp>
      <p:sp>
        <p:nvSpPr>
          <p:cNvPr id="274" name="Google Shape;274;g3f8386f7cd2_2_179"/>
          <p:cNvSpPr/>
          <p:nvPr/>
        </p:nvSpPr>
        <p:spPr>
          <a:xfrm>
            <a:off x="731500" y="1737360"/>
            <a:ext cx="10241100" cy="5487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5F706C"/>
              </a:buClr>
              <a:buSzPts val="1400"/>
              <a:buFont typeface="Calibri"/>
              <a:buNone/>
            </a:pPr>
            <a:r>
              <a:rPr b="0" i="0" lang="en-US" sz="1400" u="none" cap="none" strike="noStrike">
                <a:solidFill>
                  <a:srgbClr val="5F706C"/>
                </a:solidFill>
                <a:latin typeface="Calibri"/>
                <a:ea typeface="Calibri"/>
                <a:cs typeface="Calibri"/>
                <a:sym typeface="Calibri"/>
              </a:rPr>
              <a:t>Asked what care they would want if they were terminally ill — and then what they would want for a relative in exactly that position.</a:t>
            </a:r>
            <a:endParaRPr b="0" i="0" sz="1400" u="none" cap="none" strike="noStrike">
              <a:solidFill>
                <a:schemeClr val="dk1"/>
              </a:solidFill>
              <a:latin typeface="Calibri"/>
              <a:ea typeface="Calibri"/>
              <a:cs typeface="Calibri"/>
              <a:sym typeface="Calibri"/>
            </a:endParaRPr>
          </a:p>
        </p:txBody>
      </p:sp>
      <p:pic>
        <p:nvPicPr>
          <p:cNvPr id="275" name="Google Shape;275;g3f8386f7cd2_2_179"/>
          <p:cNvPicPr preferRelativeResize="0"/>
          <p:nvPr/>
        </p:nvPicPr>
        <p:blipFill rotWithShape="1">
          <a:blip r:embed="rId3">
            <a:alphaModFix/>
          </a:blip>
          <a:srcRect b="0" l="0" r="0" t="0"/>
          <a:stretch/>
        </p:blipFill>
        <p:spPr>
          <a:xfrm>
            <a:off x="502907" y="2395728"/>
            <a:ext cx="7223400" cy="3200400"/>
          </a:xfrm>
          <a:prstGeom prst="rect">
            <a:avLst/>
          </a:prstGeom>
          <a:noFill/>
          <a:ln>
            <a:noFill/>
          </a:ln>
        </p:spPr>
      </p:pic>
      <p:sp>
        <p:nvSpPr>
          <p:cNvPr id="276" name="Google Shape;276;g3f8386f7cd2_2_179"/>
          <p:cNvSpPr/>
          <p:nvPr/>
        </p:nvSpPr>
        <p:spPr>
          <a:xfrm>
            <a:off x="8000787" y="2395728"/>
            <a:ext cx="3456300" cy="3200400"/>
          </a:xfrm>
          <a:prstGeom prst="roundRect">
            <a:avLst>
              <a:gd fmla="val 3500" name="adj"/>
            </a:avLst>
          </a:prstGeom>
          <a:solidFill>
            <a:srgbClr val="F4F7F4"/>
          </a:solidFill>
          <a:ln cap="flat" cmpd="sng" w="9525">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3f8386f7cd2_2_179"/>
          <p:cNvSpPr/>
          <p:nvPr/>
        </p:nvSpPr>
        <p:spPr>
          <a:xfrm>
            <a:off x="8320818" y="2697480"/>
            <a:ext cx="2816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700"/>
              <a:buFont typeface="Cambria"/>
              <a:buNone/>
            </a:pPr>
            <a:r>
              <a:rPr b="1" i="0" lang="en-US" sz="1700" u="none" cap="none" strike="noStrike">
                <a:solidFill>
                  <a:srgbClr val="16232E"/>
                </a:solidFill>
                <a:latin typeface="Cambria"/>
                <a:ea typeface="Cambria"/>
                <a:cs typeface="Cambria"/>
                <a:sym typeface="Cambria"/>
              </a:rPr>
              <a:t>Read it twice</a:t>
            </a:r>
            <a:endParaRPr b="0" i="0" sz="1700" u="none" cap="none" strike="noStrike">
              <a:solidFill>
                <a:schemeClr val="dk1"/>
              </a:solidFill>
              <a:latin typeface="Calibri"/>
              <a:ea typeface="Calibri"/>
              <a:cs typeface="Calibri"/>
              <a:sym typeface="Calibri"/>
            </a:endParaRPr>
          </a:p>
        </p:txBody>
      </p:sp>
      <p:sp>
        <p:nvSpPr>
          <p:cNvPr id="278" name="Google Shape;278;g3f8386f7cd2_2_179"/>
          <p:cNvSpPr/>
          <p:nvPr/>
        </p:nvSpPr>
        <p:spPr>
          <a:xfrm>
            <a:off x="8320818" y="3200400"/>
            <a:ext cx="2816400" cy="2103000"/>
          </a:xfrm>
          <a:prstGeom prst="rect">
            <a:avLst/>
          </a:prstGeom>
          <a:noFill/>
          <a:ln>
            <a:noFill/>
          </a:ln>
        </p:spPr>
        <p:txBody>
          <a:bodyPr anchorCtr="0" anchor="t" bIns="0" lIns="0" spcFirstLastPara="1" rIns="0" wrap="square" tIns="0">
            <a:noAutofit/>
          </a:bodyPr>
          <a:lstStyle/>
          <a:p>
            <a:pPr indent="0" lvl="0" marL="0" marR="0" rtl="0" algn="l">
              <a:lnSpc>
                <a:spcPct val="134782"/>
              </a:lnSpc>
              <a:spcBef>
                <a:spcPts val="0"/>
              </a:spcBef>
              <a:spcAft>
                <a:spcPts val="0"/>
              </a:spcAft>
              <a:buClr>
                <a:srgbClr val="5F706C"/>
              </a:buClr>
              <a:buSzPts val="1150"/>
              <a:buFont typeface="Calibri"/>
              <a:buNone/>
            </a:pPr>
            <a:r>
              <a:rPr b="0" i="0" lang="en-US" sz="1150" u="none" cap="none" strike="noStrike">
                <a:solidFill>
                  <a:srgbClr val="5F706C"/>
                </a:solidFill>
                <a:latin typeface="Calibri"/>
                <a:ea typeface="Calibri"/>
                <a:cs typeface="Calibri"/>
                <a:sym typeface="Calibri"/>
              </a:rPr>
              <a:t>Preference for comfort falls 12.7 points the moment the decision is made on someone else's behalf.</a:t>
            </a:r>
            <a:endParaRPr b="0" i="0" sz="1150" u="none" cap="none" strike="noStrike">
              <a:solidFill>
                <a:schemeClr val="dk1"/>
              </a:solidFill>
              <a:latin typeface="Calibri"/>
              <a:ea typeface="Calibri"/>
              <a:cs typeface="Calibri"/>
              <a:sym typeface="Calibri"/>
            </a:endParaRPr>
          </a:p>
          <a:p>
            <a:pPr indent="0" lvl="0" marL="0" marR="0" rtl="0" algn="l">
              <a:lnSpc>
                <a:spcPct val="134782"/>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34782"/>
              </a:lnSpc>
              <a:spcBef>
                <a:spcPts val="0"/>
              </a:spcBef>
              <a:spcAft>
                <a:spcPts val="0"/>
              </a:spcAft>
              <a:buClr>
                <a:srgbClr val="5F706C"/>
              </a:buClr>
              <a:buSzPts val="1150"/>
              <a:buFont typeface="Calibri"/>
              <a:buNone/>
            </a:pPr>
            <a:r>
              <a:rPr b="0" i="0" lang="en-US" sz="1150" u="none" cap="none" strike="noStrike">
                <a:solidFill>
                  <a:srgbClr val="5F706C"/>
                </a:solidFill>
                <a:latin typeface="Calibri"/>
                <a:ea typeface="Calibri"/>
                <a:cs typeface="Calibri"/>
                <a:sym typeface="Calibri"/>
              </a:rPr>
              <a:t>Insistence on prolonging life first rises by 11.1 points over the same shift.</a:t>
            </a:r>
            <a:endParaRPr b="0" i="0" sz="1150" u="none" cap="none" strike="noStrike">
              <a:solidFill>
                <a:schemeClr val="dk1"/>
              </a:solidFill>
              <a:latin typeface="Calibri"/>
              <a:ea typeface="Calibri"/>
              <a:cs typeface="Calibri"/>
              <a:sym typeface="Calibri"/>
            </a:endParaRPr>
          </a:p>
          <a:p>
            <a:pPr indent="0" lvl="0" marL="0" marR="0" rtl="0" algn="l">
              <a:lnSpc>
                <a:spcPct val="134782"/>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34782"/>
              </a:lnSpc>
              <a:spcBef>
                <a:spcPts val="0"/>
              </a:spcBef>
              <a:spcAft>
                <a:spcPts val="0"/>
              </a:spcAft>
              <a:buClr>
                <a:srgbClr val="5F706C"/>
              </a:buClr>
              <a:buSzPts val="1150"/>
              <a:buFont typeface="Calibri"/>
              <a:buNone/>
            </a:pPr>
            <a:r>
              <a:rPr b="0" i="0" lang="en-US" sz="1150" u="none" cap="none" strike="noStrike">
                <a:solidFill>
                  <a:srgbClr val="5F706C"/>
                </a:solidFill>
                <a:latin typeface="Calibri"/>
                <a:ea typeface="Calibri"/>
                <a:cs typeface="Calibri"/>
                <a:sym typeface="Calibri"/>
              </a:rPr>
              <a:t>Nobody in this survey changed their mind about death. They changed their mind about whose death it was.</a:t>
            </a:r>
            <a:endParaRPr b="0" i="0" sz="1150" u="none" cap="none" strike="noStrike">
              <a:solidFill>
                <a:schemeClr val="dk1"/>
              </a:solidFill>
              <a:latin typeface="Calibri"/>
              <a:ea typeface="Calibri"/>
              <a:cs typeface="Calibri"/>
              <a:sym typeface="Calibri"/>
            </a:endParaRPr>
          </a:p>
        </p:txBody>
      </p:sp>
      <p:sp>
        <p:nvSpPr>
          <p:cNvPr id="279" name="Google Shape;279;g3f8386f7cd2_2_179"/>
          <p:cNvSpPr/>
          <p:nvPr/>
        </p:nvSpPr>
        <p:spPr>
          <a:xfrm>
            <a:off x="731500" y="5760720"/>
            <a:ext cx="5486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1000"/>
              <a:buFont typeface="Calibri"/>
              <a:buNone/>
            </a:pPr>
            <a:r>
              <a:rPr b="0" i="1" lang="en-US" sz="1000" u="none" cap="none" strike="noStrike">
                <a:solidFill>
                  <a:srgbClr val="5F706C"/>
                </a:solidFill>
                <a:latin typeface="Calibri"/>
                <a:ea typeface="Calibri"/>
                <a:cs typeface="Calibri"/>
                <a:sym typeface="Calibri"/>
              </a:rPr>
              <a:t>Tang et al., 2025  ·  n = 944</a:t>
            </a:r>
            <a:endParaRPr b="0" i="0" sz="1000" u="none" cap="none" strike="noStrike">
              <a:solidFill>
                <a:schemeClr val="dk1"/>
              </a:solidFill>
              <a:latin typeface="Calibri"/>
              <a:ea typeface="Calibri"/>
              <a:cs typeface="Calibri"/>
              <a:sym typeface="Calibri"/>
            </a:endParaRPr>
          </a:p>
        </p:txBody>
      </p:sp>
      <p:sp>
        <p:nvSpPr>
          <p:cNvPr id="280" name="Google Shape;280;g3f8386f7cd2_2_179"/>
          <p:cNvSpPr/>
          <p:nvPr/>
        </p:nvSpPr>
        <p:spPr>
          <a:xfrm>
            <a:off x="731501" y="6281928"/>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900"/>
              <a:buFont typeface="Calibri"/>
              <a:buNone/>
            </a:pPr>
            <a:r>
              <a:rPr b="0" i="0" lang="en-US" sz="900" u="none" cap="none" strike="noStrike">
                <a:solidFill>
                  <a:srgbClr val="5F706C"/>
                </a:solidFill>
                <a:latin typeface="Calibri"/>
                <a:ea typeface="Calibri"/>
                <a:cs typeface="Calibri"/>
                <a:sym typeface="Calibri"/>
              </a:rPr>
              <a:t>Bridge · Group 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285" name="Shape 285"/>
        <p:cNvGrpSpPr/>
        <p:nvPr/>
      </p:nvGrpSpPr>
      <p:grpSpPr>
        <a:xfrm>
          <a:off x="0" y="0"/>
          <a:ext cx="0" cy="0"/>
          <a:chOff x="0" y="0"/>
          <a:chExt cx="0" cy="0"/>
        </a:xfrm>
      </p:grpSpPr>
      <p:sp>
        <p:nvSpPr>
          <p:cNvPr id="286" name="Google Shape;286;g3f8386f7cd2_2_192"/>
          <p:cNvSpPr/>
          <p:nvPr/>
        </p:nvSpPr>
        <p:spPr>
          <a:xfrm>
            <a:off x="731500" y="566928"/>
            <a:ext cx="10728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THE GAP</a:t>
            </a:r>
            <a:endParaRPr b="0" i="0" sz="1100" u="none" cap="none" strike="noStrike">
              <a:solidFill>
                <a:schemeClr val="dk1"/>
              </a:solidFill>
              <a:latin typeface="Calibri"/>
              <a:ea typeface="Calibri"/>
              <a:cs typeface="Calibri"/>
              <a:sym typeface="Calibri"/>
            </a:endParaRPr>
          </a:p>
        </p:txBody>
      </p:sp>
      <p:sp>
        <p:nvSpPr>
          <p:cNvPr id="287" name="Google Shape;287;g3f8386f7cd2_2_192"/>
          <p:cNvSpPr/>
          <p:nvPr/>
        </p:nvSpPr>
        <p:spPr>
          <a:xfrm>
            <a:off x="731500" y="914400"/>
            <a:ext cx="10728300" cy="868800"/>
          </a:xfrm>
          <a:prstGeom prst="rect">
            <a:avLst/>
          </a:prstGeom>
          <a:noFill/>
          <a:ln>
            <a:noFill/>
          </a:ln>
        </p:spPr>
        <p:txBody>
          <a:bodyPr anchorCtr="0" anchor="t" bIns="0" lIns="0" spcFirstLastPara="1" rIns="0" wrap="square" tIns="0">
            <a:noAutofit/>
          </a:bodyPr>
          <a:lstStyle/>
          <a:p>
            <a:pPr indent="0" lvl="0" marL="0" marR="0" rtl="0" algn="l">
              <a:lnSpc>
                <a:spcPct val="117647"/>
              </a:lnSpc>
              <a:spcBef>
                <a:spcPts val="0"/>
              </a:spcBef>
              <a:spcAft>
                <a:spcPts val="0"/>
              </a:spcAft>
              <a:buClr>
                <a:srgbClr val="16232E"/>
              </a:buClr>
              <a:buSzPts val="3400"/>
              <a:buFont typeface="Cambria"/>
              <a:buNone/>
            </a:pPr>
            <a:r>
              <a:rPr b="1" i="0" lang="en-US" sz="3400" u="none" cap="none" strike="noStrike">
                <a:solidFill>
                  <a:srgbClr val="16232E"/>
                </a:solidFill>
                <a:latin typeface="Cambria"/>
                <a:ea typeface="Cambria"/>
                <a:cs typeface="Cambria"/>
                <a:sym typeface="Cambria"/>
              </a:rPr>
              <a:t>Services Are Expanding, but Families Still Can’t Find Them</a:t>
            </a:r>
            <a:endParaRPr b="0" i="0" sz="3400" u="none" cap="none" strike="noStrike">
              <a:solidFill>
                <a:schemeClr val="dk1"/>
              </a:solidFill>
              <a:latin typeface="Calibri"/>
              <a:ea typeface="Calibri"/>
              <a:cs typeface="Calibri"/>
              <a:sym typeface="Calibri"/>
            </a:endParaRPr>
          </a:p>
        </p:txBody>
      </p:sp>
      <p:sp>
        <p:nvSpPr>
          <p:cNvPr id="288" name="Google Shape;288;g3f8386f7cd2_2_192"/>
          <p:cNvSpPr/>
          <p:nvPr/>
        </p:nvSpPr>
        <p:spPr>
          <a:xfrm>
            <a:off x="731500" y="2295375"/>
            <a:ext cx="5669100" cy="2532300"/>
          </a:xfrm>
          <a:prstGeom prst="rect">
            <a:avLst/>
          </a:prstGeom>
          <a:noFill/>
          <a:ln>
            <a:noFill/>
          </a:ln>
        </p:spPr>
        <p:txBody>
          <a:bodyPr anchorCtr="0" anchor="t" bIns="0" lIns="0" spcFirstLastPara="1" rIns="0" wrap="square" tIns="0">
            <a:noAutofit/>
          </a:bodyPr>
          <a:lstStyle/>
          <a:p>
            <a:pPr indent="-342900" lvl="0" marL="457200" marR="0" rtl="0" algn="l">
              <a:lnSpc>
                <a:spcPct val="115000"/>
              </a:lnSpc>
              <a:spcBef>
                <a:spcPts val="0"/>
              </a:spcBef>
              <a:spcAft>
                <a:spcPts val="0"/>
              </a:spcAft>
              <a:buClr>
                <a:srgbClr val="5F706C"/>
              </a:buClr>
              <a:buSzPts val="1800"/>
              <a:buFont typeface="Calibri"/>
              <a:buChar char="•"/>
            </a:pPr>
            <a:r>
              <a:rPr b="0" i="0" lang="en-US" sz="1800" u="none" cap="none" strike="noStrike">
                <a:solidFill>
                  <a:srgbClr val="5F706C"/>
                </a:solidFill>
                <a:latin typeface="Calibri"/>
                <a:ea typeface="Calibri"/>
                <a:cs typeface="Calibri"/>
                <a:sym typeface="Calibri"/>
              </a:rPr>
              <a:t>National programs now cover 185 cities and districts.</a:t>
            </a:r>
            <a:endParaRPr b="0" i="0" sz="1800" u="none" cap="none" strike="noStrike">
              <a:solidFill>
                <a:srgbClr val="5F706C"/>
              </a:solidFill>
              <a:latin typeface="Calibri"/>
              <a:ea typeface="Calibri"/>
              <a:cs typeface="Calibri"/>
              <a:sym typeface="Calibri"/>
            </a:endParaRPr>
          </a:p>
          <a:p>
            <a:pPr indent="0" lvl="0" marL="45720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5F706C"/>
              </a:solidFill>
              <a:latin typeface="Calibri"/>
              <a:ea typeface="Calibri"/>
              <a:cs typeface="Calibri"/>
              <a:sym typeface="Calibri"/>
            </a:endParaRPr>
          </a:p>
          <a:p>
            <a:pPr indent="-342900" lvl="0" marL="457200" marR="0" rtl="0" algn="l">
              <a:lnSpc>
                <a:spcPct val="115000"/>
              </a:lnSpc>
              <a:spcBef>
                <a:spcPts val="0"/>
              </a:spcBef>
              <a:spcAft>
                <a:spcPts val="0"/>
              </a:spcAft>
              <a:buClr>
                <a:srgbClr val="5F706C"/>
              </a:buClr>
              <a:buSzPts val="1800"/>
              <a:buFont typeface="Calibri"/>
              <a:buChar char="•"/>
            </a:pPr>
            <a:r>
              <a:rPr b="0" i="0" lang="en-US" sz="1800" u="none" cap="none" strike="noStrike">
                <a:solidFill>
                  <a:srgbClr val="5F706C"/>
                </a:solidFill>
                <a:latin typeface="Calibri"/>
                <a:ea typeface="Calibri"/>
                <a:cs typeface="Calibri"/>
                <a:sym typeface="Calibri"/>
              </a:rPr>
              <a:t>Public awareness and service use remain low.</a:t>
            </a:r>
            <a:endParaRPr b="0" i="0" sz="1800" u="none" cap="none" strike="noStrike">
              <a:solidFill>
                <a:srgbClr val="5F706C"/>
              </a:solidFill>
              <a:latin typeface="Calibri"/>
              <a:ea typeface="Calibri"/>
              <a:cs typeface="Calibri"/>
              <a:sym typeface="Calibri"/>
            </a:endParaRPr>
          </a:p>
          <a:p>
            <a:pPr indent="0" lvl="0" marL="45720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5F706C"/>
              </a:solidFill>
              <a:latin typeface="Calibri"/>
              <a:ea typeface="Calibri"/>
              <a:cs typeface="Calibri"/>
              <a:sym typeface="Calibri"/>
            </a:endParaRPr>
          </a:p>
          <a:p>
            <a:pPr indent="-342900" lvl="0" marL="457200" marR="0" rtl="0" algn="l">
              <a:lnSpc>
                <a:spcPct val="115000"/>
              </a:lnSpc>
              <a:spcBef>
                <a:spcPts val="0"/>
              </a:spcBef>
              <a:spcAft>
                <a:spcPts val="0"/>
              </a:spcAft>
              <a:buClr>
                <a:srgbClr val="5F706C"/>
              </a:buClr>
              <a:buSzPts val="1800"/>
              <a:buFont typeface="Calibri"/>
              <a:buChar char="•"/>
            </a:pPr>
            <a:r>
              <a:rPr b="0" i="0" lang="en-US" sz="1800" u="none" cap="none" strike="noStrike">
                <a:solidFill>
                  <a:srgbClr val="5F706C"/>
                </a:solidFill>
                <a:latin typeface="Calibri"/>
                <a:ea typeface="Calibri"/>
                <a:cs typeface="Calibri"/>
                <a:sym typeface="Calibri"/>
              </a:rPr>
              <a:t>Services are still unevenly distributed.</a:t>
            </a:r>
            <a:endParaRPr b="0" i="0" sz="1800" u="none" cap="none" strike="noStrike">
              <a:solidFill>
                <a:srgbClr val="5F706C"/>
              </a:solidFill>
              <a:latin typeface="Calibri"/>
              <a:ea typeface="Calibri"/>
              <a:cs typeface="Calibri"/>
              <a:sym typeface="Calibri"/>
            </a:endParaRPr>
          </a:p>
          <a:p>
            <a:pPr indent="0" lvl="0" marL="45720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5F706C"/>
              </a:solidFill>
              <a:latin typeface="Calibri"/>
              <a:ea typeface="Calibri"/>
              <a:cs typeface="Calibri"/>
              <a:sym typeface="Calibri"/>
            </a:endParaRPr>
          </a:p>
          <a:p>
            <a:pPr indent="-342900" lvl="0" marL="457200" marR="0" rtl="0" algn="l">
              <a:lnSpc>
                <a:spcPct val="115000"/>
              </a:lnSpc>
              <a:spcBef>
                <a:spcPts val="0"/>
              </a:spcBef>
              <a:spcAft>
                <a:spcPts val="0"/>
              </a:spcAft>
              <a:buClr>
                <a:srgbClr val="5F706C"/>
              </a:buClr>
              <a:buSzPts val="1800"/>
              <a:buFont typeface="Calibri"/>
              <a:buChar char="•"/>
            </a:pPr>
            <a:r>
              <a:rPr b="0" i="0" lang="en-US" sz="1800" u="none" cap="none" strike="noStrike">
                <a:solidFill>
                  <a:srgbClr val="5F706C"/>
                </a:solidFill>
                <a:latin typeface="Calibri"/>
                <a:ea typeface="Calibri"/>
                <a:cs typeface="Calibri"/>
                <a:sym typeface="Calibri"/>
              </a:rPr>
              <a:t>Caregivers need clearer information and guidance.</a:t>
            </a:r>
            <a:endParaRPr b="0" i="0" sz="1800" u="none" cap="none" strike="noStrike">
              <a:solidFill>
                <a:srgbClr val="5F706C"/>
              </a:solidFill>
              <a:latin typeface="Calibri"/>
              <a:ea typeface="Calibri"/>
              <a:cs typeface="Calibri"/>
              <a:sym typeface="Calibri"/>
            </a:endParaRPr>
          </a:p>
          <a:p>
            <a:pPr indent="0" lvl="0" marL="0" marR="0" rtl="0" algn="l">
              <a:lnSpc>
                <a:spcPct val="133333"/>
              </a:lnSpc>
              <a:spcBef>
                <a:spcPts val="800"/>
              </a:spcBef>
              <a:spcAft>
                <a:spcPts val="0"/>
              </a:spcAft>
              <a:buClr>
                <a:srgbClr val="000000"/>
              </a:buClr>
              <a:buSzPts val="1800"/>
              <a:buFont typeface="Arial"/>
              <a:buNone/>
            </a:pPr>
            <a:r>
              <a:t/>
            </a:r>
            <a:endParaRPr b="0" i="0" sz="1800" u="none" cap="none" strike="noStrike">
              <a:solidFill>
                <a:srgbClr val="5F706C"/>
              </a:solidFill>
              <a:latin typeface="Calibri"/>
              <a:ea typeface="Calibri"/>
              <a:cs typeface="Calibri"/>
              <a:sym typeface="Calibri"/>
            </a:endParaRPr>
          </a:p>
        </p:txBody>
      </p:sp>
      <p:sp>
        <p:nvSpPr>
          <p:cNvPr id="289" name="Google Shape;289;g3f8386f7cd2_2_192"/>
          <p:cNvSpPr/>
          <p:nvPr/>
        </p:nvSpPr>
        <p:spPr>
          <a:xfrm>
            <a:off x="6857817" y="2057400"/>
            <a:ext cx="4599300" cy="3108900"/>
          </a:xfrm>
          <a:prstGeom prst="roundRect">
            <a:avLst>
              <a:gd fmla="val 3500" name="adj"/>
            </a:avLst>
          </a:prstGeom>
          <a:solidFill>
            <a:srgbClr val="F4F7F4"/>
          </a:solidFill>
          <a:ln cap="flat" cmpd="sng" w="9525">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3f8386f7cd2_2_192"/>
          <p:cNvSpPr/>
          <p:nvPr/>
        </p:nvSpPr>
        <p:spPr>
          <a:xfrm>
            <a:off x="7177849" y="2377440"/>
            <a:ext cx="3959400" cy="123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8200"/>
              <a:buFont typeface="Cambria"/>
              <a:buNone/>
            </a:pPr>
            <a:r>
              <a:rPr b="1" i="0" lang="en-US" sz="8200" u="none" cap="none" strike="noStrike">
                <a:solidFill>
                  <a:srgbClr val="B44A3C"/>
                </a:solidFill>
                <a:latin typeface="Cambria"/>
                <a:ea typeface="Cambria"/>
                <a:cs typeface="Cambria"/>
                <a:sym typeface="Cambria"/>
              </a:rPr>
              <a:t>41%</a:t>
            </a:r>
            <a:endParaRPr b="0" i="0" sz="8200" u="none" cap="none" strike="noStrike">
              <a:solidFill>
                <a:schemeClr val="dk1"/>
              </a:solidFill>
              <a:latin typeface="Calibri"/>
              <a:ea typeface="Calibri"/>
              <a:cs typeface="Calibri"/>
              <a:sym typeface="Calibri"/>
            </a:endParaRPr>
          </a:p>
        </p:txBody>
      </p:sp>
      <p:sp>
        <p:nvSpPr>
          <p:cNvPr id="291" name="Google Shape;291;g3f8386f7cd2_2_192"/>
          <p:cNvSpPr/>
          <p:nvPr/>
        </p:nvSpPr>
        <p:spPr>
          <a:xfrm>
            <a:off x="7177849" y="3767328"/>
            <a:ext cx="3959400" cy="114300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5F706C"/>
              </a:buClr>
              <a:buSzPts val="1250"/>
              <a:buFont typeface="Calibri"/>
              <a:buNone/>
            </a:pPr>
            <a:r>
              <a:rPr b="0" i="0" lang="en-US" sz="1250" u="none" cap="none" strike="noStrike">
                <a:solidFill>
                  <a:srgbClr val="5F706C"/>
                </a:solidFill>
                <a:latin typeface="Calibri"/>
                <a:ea typeface="Calibri"/>
                <a:cs typeface="Calibri"/>
                <a:sym typeface="Calibri"/>
              </a:rPr>
              <a:t>of respondents could explain what hospice and palliative care is, despite most of the people surveyed having access to higher education. The true figure is likely lower.</a:t>
            </a:r>
            <a:endParaRPr b="0" i="0" sz="1250" u="none" cap="none" strike="noStrike">
              <a:solidFill>
                <a:schemeClr val="dk1"/>
              </a:solidFill>
              <a:latin typeface="Calibri"/>
              <a:ea typeface="Calibri"/>
              <a:cs typeface="Calibri"/>
              <a:sym typeface="Calibri"/>
            </a:endParaRPr>
          </a:p>
        </p:txBody>
      </p:sp>
      <p:sp>
        <p:nvSpPr>
          <p:cNvPr id="292" name="Google Shape;292;g3f8386f7cd2_2_192"/>
          <p:cNvSpPr/>
          <p:nvPr/>
        </p:nvSpPr>
        <p:spPr>
          <a:xfrm>
            <a:off x="731500" y="4892040"/>
            <a:ext cx="5669100" cy="822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32E"/>
              </a:buClr>
              <a:buSzPts val="1500"/>
              <a:buFont typeface="Cambria"/>
              <a:buNone/>
            </a:pPr>
            <a:r>
              <a:rPr b="0" i="1" lang="en-US" sz="1500" u="none" cap="none" strike="noStrike">
                <a:solidFill>
                  <a:srgbClr val="16232E"/>
                </a:solidFill>
                <a:latin typeface="Cambria"/>
                <a:ea typeface="Cambria"/>
                <a:cs typeface="Cambria"/>
                <a:sym typeface="Cambria"/>
              </a:rPr>
              <a:t>The bottleneck is not supply. It is that a caregiver in week one does not know the service has a name, or that it can be asked for.</a:t>
            </a:r>
            <a:endParaRPr b="0" i="0" sz="1500" u="none" cap="none" strike="noStrike">
              <a:solidFill>
                <a:schemeClr val="dk1"/>
              </a:solidFill>
              <a:latin typeface="Calibri"/>
              <a:ea typeface="Calibri"/>
              <a:cs typeface="Calibri"/>
              <a:sym typeface="Calibri"/>
            </a:endParaRPr>
          </a:p>
        </p:txBody>
      </p:sp>
      <p:sp>
        <p:nvSpPr>
          <p:cNvPr id="293" name="Google Shape;293;g3f8386f7cd2_2_192"/>
          <p:cNvSpPr/>
          <p:nvPr/>
        </p:nvSpPr>
        <p:spPr>
          <a:xfrm>
            <a:off x="7177849" y="4901184"/>
            <a:ext cx="3959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1000"/>
              <a:buFont typeface="Calibri"/>
              <a:buNone/>
            </a:pPr>
            <a:r>
              <a:rPr b="0" i="1" lang="en-US" sz="1000" u="none" cap="none" strike="noStrike">
                <a:solidFill>
                  <a:srgbClr val="5F706C"/>
                </a:solidFill>
                <a:latin typeface="Calibri"/>
                <a:ea typeface="Calibri"/>
                <a:cs typeface="Calibri"/>
                <a:sym typeface="Calibri"/>
              </a:rPr>
              <a:t>Tang et al., 2025 · BMC Palliative Care 24:261 · n = 944</a:t>
            </a:r>
            <a:endParaRPr b="0" i="0" sz="1000" u="none" cap="none" strike="noStrike">
              <a:solidFill>
                <a:schemeClr val="dk1"/>
              </a:solidFill>
              <a:latin typeface="Calibri"/>
              <a:ea typeface="Calibri"/>
              <a:cs typeface="Calibri"/>
              <a:sym typeface="Calibri"/>
            </a:endParaRPr>
          </a:p>
        </p:txBody>
      </p:sp>
      <p:sp>
        <p:nvSpPr>
          <p:cNvPr id="294" name="Google Shape;294;g3f8386f7cd2_2_192"/>
          <p:cNvSpPr/>
          <p:nvPr/>
        </p:nvSpPr>
        <p:spPr>
          <a:xfrm>
            <a:off x="731501" y="6281928"/>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900"/>
              <a:buFont typeface="Calibri"/>
              <a:buNone/>
            </a:pPr>
            <a:r>
              <a:rPr b="0" i="0" lang="en-US" sz="900" u="none" cap="none" strike="noStrike">
                <a:solidFill>
                  <a:srgbClr val="5F706C"/>
                </a:solidFill>
                <a:latin typeface="Calibri"/>
                <a:ea typeface="Calibri"/>
                <a:cs typeface="Calibri"/>
                <a:sym typeface="Calibri"/>
              </a:rPr>
              <a:t>Bridge · Group 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2E"/>
        </a:solidFill>
      </p:bgPr>
    </p:bg>
    <p:spTree>
      <p:nvGrpSpPr>
        <p:cNvPr id="299" name="Shape 299"/>
        <p:cNvGrpSpPr/>
        <p:nvPr/>
      </p:nvGrpSpPr>
      <p:grpSpPr>
        <a:xfrm>
          <a:off x="0" y="0"/>
          <a:ext cx="0" cy="0"/>
          <a:chOff x="0" y="0"/>
          <a:chExt cx="0" cy="0"/>
        </a:xfrm>
      </p:grpSpPr>
      <p:pic>
        <p:nvPicPr>
          <p:cNvPr descr="/home/claude/badge.png" id="300" name="Google Shape;300;g3f8386f7cd2_2_205"/>
          <p:cNvPicPr preferRelativeResize="0"/>
          <p:nvPr/>
        </p:nvPicPr>
        <p:blipFill rotWithShape="1">
          <a:blip r:embed="rId3">
            <a:alphaModFix/>
          </a:blip>
          <a:srcRect b="0" l="0" r="0" t="0"/>
          <a:stretch/>
        </p:blipFill>
        <p:spPr>
          <a:xfrm>
            <a:off x="10499775" y="685800"/>
            <a:ext cx="914376" cy="914376"/>
          </a:xfrm>
          <a:prstGeom prst="rect">
            <a:avLst/>
          </a:prstGeom>
          <a:noFill/>
          <a:ln>
            <a:noFill/>
          </a:ln>
        </p:spPr>
      </p:pic>
      <p:sp>
        <p:nvSpPr>
          <p:cNvPr id="301" name="Google Shape;301;g3f8386f7cd2_2_205"/>
          <p:cNvSpPr/>
          <p:nvPr/>
        </p:nvSpPr>
        <p:spPr>
          <a:xfrm>
            <a:off x="777219" y="2431850"/>
            <a:ext cx="2743200" cy="146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4A3C"/>
              </a:buClr>
              <a:buSzPts val="9600"/>
              <a:buFont typeface="Cambria"/>
              <a:buNone/>
            </a:pPr>
            <a:r>
              <a:rPr b="0" i="0" lang="en-US" sz="9600" u="none" cap="none" strike="noStrike">
                <a:solidFill>
                  <a:srgbClr val="B44A3C"/>
                </a:solidFill>
                <a:latin typeface="Cambria"/>
                <a:ea typeface="Cambria"/>
                <a:cs typeface="Cambria"/>
                <a:sym typeface="Cambria"/>
              </a:rPr>
              <a:t>02</a:t>
            </a:r>
            <a:endParaRPr b="0" i="0" sz="9600" u="none" cap="none" strike="noStrike">
              <a:solidFill>
                <a:schemeClr val="dk1"/>
              </a:solidFill>
              <a:latin typeface="Calibri"/>
              <a:ea typeface="Calibri"/>
              <a:cs typeface="Calibri"/>
              <a:sym typeface="Calibri"/>
            </a:endParaRPr>
          </a:p>
        </p:txBody>
      </p:sp>
      <p:sp>
        <p:nvSpPr>
          <p:cNvPr id="302" name="Google Shape;302;g3f8386f7cd2_2_205"/>
          <p:cNvSpPr/>
          <p:nvPr/>
        </p:nvSpPr>
        <p:spPr>
          <a:xfrm>
            <a:off x="777219" y="3803440"/>
            <a:ext cx="82293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9EDEA"/>
              </a:buClr>
              <a:buSzPts val="4400"/>
              <a:buFont typeface="Cambria"/>
              <a:buNone/>
            </a:pPr>
            <a:r>
              <a:rPr b="0" i="0" lang="en-US" sz="4400" u="none" cap="none" strike="noStrike">
                <a:solidFill>
                  <a:srgbClr val="E9EDEA"/>
                </a:solidFill>
                <a:latin typeface="Cambria"/>
                <a:ea typeface="Cambria"/>
                <a:cs typeface="Cambria"/>
                <a:sym typeface="Cambria"/>
              </a:rPr>
              <a:t>A Technical Solution</a:t>
            </a:r>
            <a:endParaRPr b="0" i="0" sz="4400" u="none" cap="none" strike="noStrike">
              <a:solidFill>
                <a:schemeClr val="dk1"/>
              </a:solidFill>
              <a:latin typeface="Calibri"/>
              <a:ea typeface="Calibri"/>
              <a:cs typeface="Calibri"/>
              <a:sym typeface="Calibri"/>
            </a:endParaRPr>
          </a:p>
        </p:txBody>
      </p:sp>
      <p:sp>
        <p:nvSpPr>
          <p:cNvPr id="303" name="Google Shape;303;g3f8386f7cd2_2_205"/>
          <p:cNvSpPr/>
          <p:nvPr/>
        </p:nvSpPr>
        <p:spPr>
          <a:xfrm>
            <a:off x="777219" y="5609844"/>
            <a:ext cx="118800" cy="118800"/>
          </a:xfrm>
          <a:prstGeom prst="ellipse">
            <a:avLst/>
          </a:prstGeom>
          <a:solidFill>
            <a:srgbClr val="16232E"/>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3f8386f7cd2_2_205"/>
          <p:cNvSpPr/>
          <p:nvPr/>
        </p:nvSpPr>
        <p:spPr>
          <a:xfrm>
            <a:off x="1088107" y="5577840"/>
            <a:ext cx="183000" cy="183000"/>
          </a:xfrm>
          <a:prstGeom prst="ellipse">
            <a:avLst/>
          </a:prstGeom>
          <a:solidFill>
            <a:srgbClr val="16232E"/>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g3f8386f7cd2_2_205"/>
          <p:cNvSpPr/>
          <p:nvPr/>
        </p:nvSpPr>
        <p:spPr>
          <a:xfrm>
            <a:off x="1398995" y="5532120"/>
            <a:ext cx="274200" cy="274200"/>
          </a:xfrm>
          <a:prstGeom prst="ellipse">
            <a:avLst/>
          </a:prstGeom>
          <a:solidFill>
            <a:srgbClr val="16232E"/>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3f8386f7cd2_2_205"/>
          <p:cNvSpPr/>
          <p:nvPr/>
        </p:nvSpPr>
        <p:spPr>
          <a:xfrm>
            <a:off x="1709882" y="5577840"/>
            <a:ext cx="183000" cy="183000"/>
          </a:xfrm>
          <a:prstGeom prst="ellipse">
            <a:avLst/>
          </a:prstGeom>
          <a:solidFill>
            <a:srgbClr val="B44A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311" name="Shape 311"/>
        <p:cNvGrpSpPr/>
        <p:nvPr/>
      </p:nvGrpSpPr>
      <p:grpSpPr>
        <a:xfrm>
          <a:off x="0" y="0"/>
          <a:ext cx="0" cy="0"/>
          <a:chOff x="0" y="0"/>
          <a:chExt cx="0" cy="0"/>
        </a:xfrm>
      </p:grpSpPr>
      <p:sp>
        <p:nvSpPr>
          <p:cNvPr id="312" name="Google Shape;312;g3f8386f7cd2_2_216"/>
          <p:cNvSpPr/>
          <p:nvPr/>
        </p:nvSpPr>
        <p:spPr>
          <a:xfrm>
            <a:off x="208094" y="194705"/>
            <a:ext cx="10241100" cy="1051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2E"/>
              </a:buClr>
              <a:buSzPts val="3400"/>
              <a:buFont typeface="Cambria"/>
              <a:buNone/>
            </a:pPr>
            <a:r>
              <a:rPr b="0" i="0" lang="en-US" sz="3400" u="none" cap="none" strike="noStrike">
                <a:solidFill>
                  <a:srgbClr val="16232E"/>
                </a:solidFill>
                <a:latin typeface="Cambria"/>
                <a:ea typeface="Cambria"/>
                <a:cs typeface="Cambria"/>
                <a:sym typeface="Cambria"/>
              </a:rPr>
              <a:t>Core Design - WeChat Mini Program</a:t>
            </a:r>
            <a:endParaRPr b="0" i="0" sz="3400" u="none" cap="none" strike="noStrike">
              <a:solidFill>
                <a:schemeClr val="dk1"/>
              </a:solidFill>
              <a:latin typeface="Calibri"/>
              <a:ea typeface="Calibri"/>
              <a:cs typeface="Calibri"/>
              <a:sym typeface="Calibri"/>
            </a:endParaRPr>
          </a:p>
        </p:txBody>
      </p:sp>
      <p:pic>
        <p:nvPicPr>
          <p:cNvPr id="313" name="Google Shape;313;g3f8386f7cd2_2_216" title="Screenshot 2026-08-21 at 9.37.39 PM.png"/>
          <p:cNvPicPr preferRelativeResize="0"/>
          <p:nvPr/>
        </p:nvPicPr>
        <p:blipFill rotWithShape="1">
          <a:blip r:embed="rId3">
            <a:alphaModFix/>
          </a:blip>
          <a:srcRect b="0" l="0" r="0" t="0"/>
          <a:stretch/>
        </p:blipFill>
        <p:spPr>
          <a:xfrm>
            <a:off x="2421475" y="719975"/>
            <a:ext cx="9223926" cy="598562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318" name="Shape 318"/>
        <p:cNvGrpSpPr/>
        <p:nvPr/>
      </p:nvGrpSpPr>
      <p:grpSpPr>
        <a:xfrm>
          <a:off x="0" y="0"/>
          <a:ext cx="0" cy="0"/>
          <a:chOff x="0" y="0"/>
          <a:chExt cx="0" cy="0"/>
        </a:xfrm>
      </p:grpSpPr>
      <p:sp>
        <p:nvSpPr>
          <p:cNvPr id="319" name="Google Shape;319;g3f8386f7cd2_2_222"/>
          <p:cNvSpPr/>
          <p:nvPr/>
        </p:nvSpPr>
        <p:spPr>
          <a:xfrm>
            <a:off x="777219" y="398070"/>
            <a:ext cx="7314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libri"/>
              <a:buNone/>
            </a:pPr>
            <a:r>
              <a:rPr b="1" lang="en-US" sz="1100">
                <a:solidFill>
                  <a:srgbClr val="B44A3C"/>
                </a:solidFill>
                <a:latin typeface="Calibri"/>
                <a:ea typeface="Calibri"/>
                <a:cs typeface="Calibri"/>
                <a:sym typeface="Calibri"/>
              </a:rPr>
              <a:t>AI</a:t>
            </a:r>
            <a:r>
              <a:rPr b="1" i="0" lang="en-US" sz="1300" u="none" cap="none" strike="noStrike">
                <a:solidFill>
                  <a:srgbClr val="5F706C"/>
                </a:solidFill>
                <a:latin typeface="Calibri"/>
                <a:ea typeface="Calibri"/>
                <a:cs typeface="Calibri"/>
                <a:sym typeface="Calibri"/>
              </a:rPr>
              <a:t> </a:t>
            </a:r>
            <a:r>
              <a:rPr b="1" lang="en-US" sz="1100">
                <a:solidFill>
                  <a:srgbClr val="B44A3C"/>
                </a:solidFill>
                <a:latin typeface="Calibri"/>
                <a:ea typeface="Calibri"/>
                <a:cs typeface="Calibri"/>
                <a:sym typeface="Calibri"/>
              </a:rPr>
              <a:t>Usage</a:t>
            </a:r>
            <a:endParaRPr b="1" i="0" sz="1300" u="none" cap="none" strike="noStrike">
              <a:solidFill>
                <a:srgbClr val="5F706C"/>
              </a:solidFill>
              <a:latin typeface="Calibri"/>
              <a:ea typeface="Calibri"/>
              <a:cs typeface="Calibri"/>
              <a:sym typeface="Calibri"/>
            </a:endParaRPr>
          </a:p>
        </p:txBody>
      </p:sp>
      <p:sp>
        <p:nvSpPr>
          <p:cNvPr id="320" name="Google Shape;320;g3f8386f7cd2_2_222"/>
          <p:cNvSpPr/>
          <p:nvPr/>
        </p:nvSpPr>
        <p:spPr>
          <a:xfrm>
            <a:off x="777219" y="762125"/>
            <a:ext cx="9509400" cy="21945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32E"/>
              </a:buClr>
              <a:buSzPts val="4000"/>
              <a:buFont typeface="Cambria"/>
              <a:buNone/>
            </a:pPr>
            <a:r>
              <a:rPr b="0" i="0" lang="en-US" sz="3600" u="none" cap="none" strike="noStrike">
                <a:solidFill>
                  <a:srgbClr val="16232E"/>
                </a:solidFill>
                <a:latin typeface="Cambria"/>
                <a:ea typeface="Cambria"/>
                <a:cs typeface="Cambria"/>
                <a:sym typeface="Cambria"/>
              </a:rPr>
              <a:t>渡 means to ferry across. It names a crossing and, in Buddhist usage, a passage made with help. The platform is the ferryman: its value is entirely in the crossing, and none of it is in being a place to stay.</a:t>
            </a:r>
            <a:endParaRPr b="0" i="0" sz="3600" u="none" cap="none" strike="noStrike">
              <a:solidFill>
                <a:srgbClr val="16232E"/>
              </a:solidFill>
              <a:latin typeface="Cambria"/>
              <a:ea typeface="Cambria"/>
              <a:cs typeface="Cambria"/>
              <a:sym typeface="Cambria"/>
            </a:endParaRPr>
          </a:p>
        </p:txBody>
      </p:sp>
      <p:sp>
        <p:nvSpPr>
          <p:cNvPr id="321" name="Google Shape;321;g3f8386f7cd2_2_222"/>
          <p:cNvSpPr/>
          <p:nvPr/>
        </p:nvSpPr>
        <p:spPr>
          <a:xfrm>
            <a:off x="777219" y="4100595"/>
            <a:ext cx="8229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F706C"/>
              </a:buClr>
              <a:buSzPts val="1600"/>
              <a:buFont typeface="Calibri"/>
              <a:buNone/>
            </a:pPr>
            <a:r>
              <a:rPr b="0" i="1" lang="en-US" sz="1600" u="none" cap="none" strike="noStrike">
                <a:solidFill>
                  <a:srgbClr val="5F706C"/>
                </a:solidFill>
                <a:latin typeface="Calibri"/>
                <a:ea typeface="Calibri"/>
                <a:cs typeface="Calibri"/>
                <a:sym typeface="Calibri"/>
              </a:rPr>
              <a:t>The failure mode is not a platform that performs badly. It is a platform that performs well</a:t>
            </a:r>
            <a:endParaRPr b="0" i="1" sz="1600" u="none" cap="none" strike="noStrike">
              <a:solidFill>
                <a:srgbClr val="5F706C"/>
              </a:solidFill>
              <a:latin typeface="Calibri"/>
              <a:ea typeface="Calibri"/>
              <a:cs typeface="Calibri"/>
              <a:sym typeface="Calibri"/>
            </a:endParaRPr>
          </a:p>
          <a:p>
            <a:pPr indent="0" lvl="0" marL="0" marR="0" rtl="0" algn="l">
              <a:lnSpc>
                <a:spcPct val="100000"/>
              </a:lnSpc>
              <a:spcBef>
                <a:spcPts val="0"/>
              </a:spcBef>
              <a:spcAft>
                <a:spcPts val="0"/>
              </a:spcAft>
              <a:buClr>
                <a:srgbClr val="5F706C"/>
              </a:buClr>
              <a:buSzPts val="1600"/>
              <a:buFont typeface="Calibri"/>
              <a:buNone/>
            </a:pPr>
            <a:r>
              <a:rPr b="0" i="1" lang="en-US" sz="1600" u="none" cap="none" strike="noStrike">
                <a:solidFill>
                  <a:srgbClr val="5F706C"/>
                </a:solidFill>
                <a:latin typeface="Calibri"/>
                <a:ea typeface="Calibri"/>
                <a:cs typeface="Calibri"/>
                <a:sym typeface="Calibri"/>
              </a:rPr>
              <a:t>enough that the difficult human conversation never happens</a:t>
            </a:r>
            <a:endParaRPr b="0" i="1" sz="1600" u="none" cap="none" strike="noStrike">
              <a:solidFill>
                <a:srgbClr val="5F706C"/>
              </a:solidFill>
              <a:latin typeface="Calibri"/>
              <a:ea typeface="Calibri"/>
              <a:cs typeface="Calibri"/>
              <a:sym typeface="Calibri"/>
            </a:endParaRPr>
          </a:p>
        </p:txBody>
      </p:sp>
      <p:sp>
        <p:nvSpPr>
          <p:cNvPr id="322" name="Google Shape;322;g3f8386f7cd2_2_222"/>
          <p:cNvSpPr/>
          <p:nvPr/>
        </p:nvSpPr>
        <p:spPr>
          <a:xfrm>
            <a:off x="777219" y="5198364"/>
            <a:ext cx="118869" cy="118872"/>
          </a:xfrm>
          <a:prstGeom prst="ellipse">
            <a:avLst/>
          </a:prstGeom>
          <a:solidFill>
            <a:srgbClr val="E9EDEA"/>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3f8386f7cd2_2_222"/>
          <p:cNvSpPr/>
          <p:nvPr/>
        </p:nvSpPr>
        <p:spPr>
          <a:xfrm>
            <a:off x="1088107" y="5166360"/>
            <a:ext cx="182875" cy="182880"/>
          </a:xfrm>
          <a:prstGeom prst="ellipse">
            <a:avLst/>
          </a:prstGeom>
          <a:solidFill>
            <a:srgbClr val="E9EDEA"/>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3f8386f7cd2_2_222"/>
          <p:cNvSpPr/>
          <p:nvPr/>
        </p:nvSpPr>
        <p:spPr>
          <a:xfrm>
            <a:off x="1398995" y="5120640"/>
            <a:ext cx="274313" cy="274320"/>
          </a:xfrm>
          <a:prstGeom prst="ellipse">
            <a:avLst/>
          </a:prstGeom>
          <a:solidFill>
            <a:srgbClr val="E9EDEA"/>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g3f8386f7cd2_2_222"/>
          <p:cNvSpPr/>
          <p:nvPr/>
        </p:nvSpPr>
        <p:spPr>
          <a:xfrm>
            <a:off x="1709882" y="5166360"/>
            <a:ext cx="182875" cy="182880"/>
          </a:xfrm>
          <a:prstGeom prst="ellipse">
            <a:avLst/>
          </a:prstGeom>
          <a:solidFill>
            <a:srgbClr val="B44A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g3f8386f7cd2_2_222"/>
          <p:cNvSpPr/>
          <p:nvPr/>
        </p:nvSpPr>
        <p:spPr>
          <a:xfrm>
            <a:off x="10865525" y="6291072"/>
            <a:ext cx="548625" cy="2743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F706C"/>
              </a:buClr>
              <a:buSzPts val="1000"/>
              <a:buFont typeface="Calibri"/>
              <a:buNone/>
            </a:pPr>
            <a:r>
              <a:rPr b="0" i="0" lang="en-US" sz="1000" u="none" cap="none" strike="noStrike">
                <a:solidFill>
                  <a:srgbClr val="5F706C"/>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331" name="Shape 331"/>
        <p:cNvGrpSpPr/>
        <p:nvPr/>
      </p:nvGrpSpPr>
      <p:grpSpPr>
        <a:xfrm>
          <a:off x="0" y="0"/>
          <a:ext cx="0" cy="0"/>
          <a:chOff x="0" y="0"/>
          <a:chExt cx="0" cy="0"/>
        </a:xfrm>
      </p:grpSpPr>
      <p:sp>
        <p:nvSpPr>
          <p:cNvPr id="332" name="Google Shape;332;g3f8386f7cd2_2_234"/>
          <p:cNvSpPr/>
          <p:nvPr/>
        </p:nvSpPr>
        <p:spPr>
          <a:xfrm>
            <a:off x="777219" y="502920"/>
            <a:ext cx="7315005"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F706C"/>
              </a:buClr>
              <a:buSzPts val="1100"/>
              <a:buFont typeface="Calibri"/>
              <a:buNone/>
            </a:pPr>
            <a:r>
              <a:rPr b="1" lang="en-US" sz="1100">
                <a:solidFill>
                  <a:srgbClr val="B44A3C"/>
                </a:solidFill>
                <a:latin typeface="Calibri"/>
                <a:ea typeface="Calibri"/>
                <a:cs typeface="Calibri"/>
                <a:sym typeface="Calibri"/>
              </a:rPr>
              <a:t>THE PLATFORM</a:t>
            </a:r>
            <a:endParaRPr b="0" i="0" sz="1100" u="none" cap="none" strike="noStrike">
              <a:solidFill>
                <a:schemeClr val="dk1"/>
              </a:solidFill>
              <a:latin typeface="Calibri"/>
              <a:ea typeface="Calibri"/>
              <a:cs typeface="Calibri"/>
              <a:sym typeface="Calibri"/>
            </a:endParaRPr>
          </a:p>
        </p:txBody>
      </p:sp>
      <p:sp>
        <p:nvSpPr>
          <p:cNvPr id="333" name="Google Shape;333;g3f8386f7cd2_2_234"/>
          <p:cNvSpPr/>
          <p:nvPr/>
        </p:nvSpPr>
        <p:spPr>
          <a:xfrm>
            <a:off x="777219" y="868680"/>
            <a:ext cx="10058132" cy="1371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2E"/>
              </a:buClr>
              <a:buSzPts val="3100"/>
              <a:buFont typeface="Cambria"/>
              <a:buNone/>
            </a:pPr>
            <a:r>
              <a:rPr b="0" i="0" lang="en-US" sz="3100" u="none" cap="none" strike="noStrike">
                <a:solidFill>
                  <a:srgbClr val="16232E"/>
                </a:solidFill>
                <a:latin typeface="Cambria"/>
                <a:ea typeface="Cambria"/>
                <a:cs typeface="Cambria"/>
                <a:sym typeface="Cambria"/>
              </a:rPr>
              <a:t>Four surfaces. One rule: never make the user</a:t>
            </a:r>
            <a:endParaRPr b="0" i="0" sz="31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6232E"/>
              </a:buClr>
              <a:buSzPts val="3100"/>
              <a:buFont typeface="Cambria"/>
              <a:buNone/>
            </a:pPr>
            <a:r>
              <a:rPr b="0" i="0" lang="en-US" sz="3100" u="none" cap="none" strike="noStrike">
                <a:solidFill>
                  <a:srgbClr val="16232E"/>
                </a:solidFill>
                <a:latin typeface="Cambria"/>
                <a:ea typeface="Cambria"/>
                <a:cs typeface="Cambria"/>
                <a:sym typeface="Cambria"/>
              </a:rPr>
              <a:t>name what they need.</a:t>
            </a:r>
            <a:endParaRPr b="0" i="0" sz="3100" u="none" cap="none" strike="noStrike">
              <a:solidFill>
                <a:schemeClr val="dk1"/>
              </a:solidFill>
              <a:latin typeface="Calibri"/>
              <a:ea typeface="Calibri"/>
              <a:cs typeface="Calibri"/>
              <a:sym typeface="Calibri"/>
            </a:endParaRPr>
          </a:p>
        </p:txBody>
      </p:sp>
      <p:sp>
        <p:nvSpPr>
          <p:cNvPr id="334" name="Google Shape;334;g3f8386f7cd2_2_234"/>
          <p:cNvSpPr/>
          <p:nvPr/>
        </p:nvSpPr>
        <p:spPr>
          <a:xfrm>
            <a:off x="777219" y="2267712"/>
            <a:ext cx="10241007"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F706C"/>
              </a:buClr>
              <a:buSzPts val="1450"/>
              <a:buFont typeface="Calibri"/>
              <a:buNone/>
            </a:pPr>
            <a:r>
              <a:rPr b="0" i="0" lang="en-US" sz="1450" u="none" cap="none" strike="noStrike">
                <a:solidFill>
                  <a:srgbClr val="5F706C"/>
                </a:solidFill>
                <a:latin typeface="Calibri"/>
                <a:ea typeface="Calibri"/>
                <a:cs typeface="Calibri"/>
                <a:sym typeface="Calibri"/>
              </a:rPr>
              <a:t>A caregiver in the week after a diagnosis does not know that what they want is called hospice care, or that it can be asked for. Search exists; it is never the primary path.</a:t>
            </a:r>
            <a:endParaRPr b="0" i="0" sz="1450" u="none" cap="none" strike="noStrike">
              <a:solidFill>
                <a:schemeClr val="dk1"/>
              </a:solidFill>
              <a:latin typeface="Calibri"/>
              <a:ea typeface="Calibri"/>
              <a:cs typeface="Calibri"/>
              <a:sym typeface="Calibri"/>
            </a:endParaRPr>
          </a:p>
        </p:txBody>
      </p:sp>
      <p:sp>
        <p:nvSpPr>
          <p:cNvPr id="335" name="Google Shape;335;g3f8386f7cd2_2_234"/>
          <p:cNvSpPr/>
          <p:nvPr/>
        </p:nvSpPr>
        <p:spPr>
          <a:xfrm>
            <a:off x="777219" y="2999232"/>
            <a:ext cx="2487102" cy="2606040"/>
          </a:xfrm>
          <a:prstGeom prst="roundRect">
            <a:avLst>
              <a:gd fmla="val 3500" name="adj"/>
            </a:avLst>
          </a:prstGeom>
          <a:solidFill>
            <a:srgbClr val="F4F7F4"/>
          </a:solidFill>
          <a:ln cap="flat" cmpd="sng" w="12700">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cjk_duku.png" id="336" name="Google Shape;336;g3f8386f7cd2_2_234"/>
          <p:cNvPicPr preferRelativeResize="0"/>
          <p:nvPr/>
        </p:nvPicPr>
        <p:blipFill rotWithShape="1">
          <a:blip r:embed="rId3">
            <a:alphaModFix/>
          </a:blip>
          <a:srcRect b="0" l="0" r="0" t="0"/>
          <a:stretch/>
        </p:blipFill>
        <p:spPr>
          <a:xfrm>
            <a:off x="1014957" y="3200400"/>
            <a:ext cx="786363" cy="384038"/>
          </a:xfrm>
          <a:prstGeom prst="rect">
            <a:avLst/>
          </a:prstGeom>
          <a:noFill/>
          <a:ln>
            <a:noFill/>
          </a:ln>
        </p:spPr>
      </p:pic>
      <p:sp>
        <p:nvSpPr>
          <p:cNvPr id="337" name="Google Shape;337;g3f8386f7cd2_2_234"/>
          <p:cNvSpPr/>
          <p:nvPr/>
        </p:nvSpPr>
        <p:spPr>
          <a:xfrm>
            <a:off x="1014957" y="3730752"/>
            <a:ext cx="201162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libri"/>
              <a:buNone/>
            </a:pPr>
            <a:r>
              <a:rPr b="1" i="0" lang="en-US" sz="1550" u="none" cap="none" strike="noStrike">
                <a:solidFill>
                  <a:srgbClr val="16232E"/>
                </a:solidFill>
                <a:latin typeface="Calibri"/>
                <a:ea typeface="Calibri"/>
                <a:cs typeface="Calibri"/>
                <a:sym typeface="Calibri"/>
              </a:rPr>
              <a:t>Home</a:t>
            </a:r>
            <a:endParaRPr b="0" i="0" sz="1550" u="none" cap="none" strike="noStrike">
              <a:solidFill>
                <a:schemeClr val="dk1"/>
              </a:solidFill>
              <a:latin typeface="Calibri"/>
              <a:ea typeface="Calibri"/>
              <a:cs typeface="Calibri"/>
              <a:sym typeface="Calibri"/>
            </a:endParaRPr>
          </a:p>
        </p:txBody>
      </p:sp>
      <p:sp>
        <p:nvSpPr>
          <p:cNvPr id="338" name="Google Shape;338;g3f8386f7cd2_2_234"/>
          <p:cNvSpPr/>
          <p:nvPr/>
        </p:nvSpPr>
        <p:spPr>
          <a:xfrm>
            <a:off x="1014957" y="4005072"/>
            <a:ext cx="2103064"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4A3C"/>
              </a:buClr>
              <a:buSzPts val="1200"/>
              <a:buFont typeface="Calibri"/>
              <a:buNone/>
            </a:pPr>
            <a:r>
              <a:rPr b="0" i="0" lang="en-US" sz="1200" u="none" cap="none" strike="noStrike">
                <a:solidFill>
                  <a:srgbClr val="B44A3C"/>
                </a:solidFill>
                <a:latin typeface="Calibri"/>
                <a:ea typeface="Calibri"/>
                <a:cs typeface="Calibri"/>
                <a:sym typeface="Calibri"/>
              </a:rPr>
              <a:t>First Ten Days</a:t>
            </a:r>
            <a:endParaRPr b="0" i="0" sz="1200" u="none" cap="none" strike="noStrike">
              <a:solidFill>
                <a:schemeClr val="dk1"/>
              </a:solidFill>
              <a:latin typeface="Calibri"/>
              <a:ea typeface="Calibri"/>
              <a:cs typeface="Calibri"/>
              <a:sym typeface="Calibri"/>
            </a:endParaRPr>
          </a:p>
        </p:txBody>
      </p:sp>
      <p:sp>
        <p:nvSpPr>
          <p:cNvPr id="339" name="Google Shape;339;g3f8386f7cd2_2_234"/>
          <p:cNvSpPr/>
          <p:nvPr/>
        </p:nvSpPr>
        <p:spPr>
          <a:xfrm>
            <a:off x="1014957" y="4334256"/>
            <a:ext cx="2048201" cy="123444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2333D"/>
              </a:buClr>
              <a:buSzPts val="1250"/>
              <a:buFont typeface="Calibri"/>
              <a:buNone/>
            </a:pPr>
            <a:r>
              <a:rPr b="0" i="0" lang="en-US" sz="1250" u="none" cap="none" strike="noStrike">
                <a:solidFill>
                  <a:srgbClr val="22333D"/>
                </a:solidFill>
                <a:latin typeface="Calibri"/>
                <a:ea typeface="Calibri"/>
                <a:cs typeface="Calibri"/>
                <a:sym typeface="Calibri"/>
              </a:rPr>
              <a:t>Ten ordered steps for the first fortnight, phrased as things to ask rather than things to know. Progress stays on the device; no account.</a:t>
            </a:r>
            <a:endParaRPr b="0" i="0" sz="1250" u="none" cap="none" strike="noStrike">
              <a:solidFill>
                <a:schemeClr val="dk1"/>
              </a:solidFill>
              <a:latin typeface="Calibri"/>
              <a:ea typeface="Calibri"/>
              <a:cs typeface="Calibri"/>
              <a:sym typeface="Calibri"/>
            </a:endParaRPr>
          </a:p>
        </p:txBody>
      </p:sp>
      <p:sp>
        <p:nvSpPr>
          <p:cNvPr id="340" name="Google Shape;340;g3f8386f7cd2_2_234"/>
          <p:cNvSpPr/>
          <p:nvPr/>
        </p:nvSpPr>
        <p:spPr>
          <a:xfrm>
            <a:off x="3483771" y="2999232"/>
            <a:ext cx="2487102" cy="2606040"/>
          </a:xfrm>
          <a:prstGeom prst="roundRect">
            <a:avLst>
              <a:gd fmla="val 3500" name="adj"/>
            </a:avLst>
          </a:prstGeom>
          <a:solidFill>
            <a:srgbClr val="F4F7F4"/>
          </a:solidFill>
          <a:ln cap="flat" cmpd="sng" w="12700">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cjk_yanyu.png" id="341" name="Google Shape;341;g3f8386f7cd2_2_234"/>
          <p:cNvPicPr preferRelativeResize="0"/>
          <p:nvPr/>
        </p:nvPicPr>
        <p:blipFill rotWithShape="1">
          <a:blip r:embed="rId4">
            <a:alphaModFix/>
          </a:blip>
          <a:srcRect b="0" l="0" r="0" t="0"/>
          <a:stretch/>
        </p:blipFill>
        <p:spPr>
          <a:xfrm>
            <a:off x="3721509" y="3200400"/>
            <a:ext cx="786363" cy="384048"/>
          </a:xfrm>
          <a:prstGeom prst="rect">
            <a:avLst/>
          </a:prstGeom>
          <a:noFill/>
          <a:ln>
            <a:noFill/>
          </a:ln>
        </p:spPr>
      </p:pic>
      <p:sp>
        <p:nvSpPr>
          <p:cNvPr id="342" name="Google Shape;342;g3f8386f7cd2_2_234"/>
          <p:cNvSpPr/>
          <p:nvPr/>
        </p:nvSpPr>
        <p:spPr>
          <a:xfrm>
            <a:off x="3721509" y="3730752"/>
            <a:ext cx="201162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libri"/>
              <a:buNone/>
            </a:pPr>
            <a:r>
              <a:rPr b="1" i="0" lang="en-US" sz="1550" u="none" cap="none" strike="noStrike">
                <a:solidFill>
                  <a:srgbClr val="16232E"/>
                </a:solidFill>
                <a:latin typeface="Calibri"/>
                <a:ea typeface="Calibri"/>
                <a:cs typeface="Calibri"/>
                <a:sym typeface="Calibri"/>
              </a:rPr>
              <a:t>Words</a:t>
            </a:r>
            <a:endParaRPr b="0" i="0" sz="1550" u="none" cap="none" strike="noStrike">
              <a:solidFill>
                <a:schemeClr val="dk1"/>
              </a:solidFill>
              <a:latin typeface="Calibri"/>
              <a:ea typeface="Calibri"/>
              <a:cs typeface="Calibri"/>
              <a:sym typeface="Calibri"/>
            </a:endParaRPr>
          </a:p>
        </p:txBody>
      </p:sp>
      <p:sp>
        <p:nvSpPr>
          <p:cNvPr id="343" name="Google Shape;343;g3f8386f7cd2_2_234"/>
          <p:cNvSpPr/>
          <p:nvPr/>
        </p:nvSpPr>
        <p:spPr>
          <a:xfrm>
            <a:off x="3721509" y="4005072"/>
            <a:ext cx="2103064"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4A3C"/>
              </a:buClr>
              <a:buSzPts val="1200"/>
              <a:buFont typeface="Calibri"/>
              <a:buNone/>
            </a:pPr>
            <a:r>
              <a:rPr b="0" i="0" lang="en-US" sz="1200" u="none" cap="none" strike="noStrike">
                <a:solidFill>
                  <a:srgbClr val="B44A3C"/>
                </a:solidFill>
                <a:latin typeface="Calibri"/>
                <a:ea typeface="Calibri"/>
                <a:cs typeface="Calibri"/>
                <a:sym typeface="Calibri"/>
              </a:rPr>
              <a:t>The knowledge hub</a:t>
            </a:r>
            <a:endParaRPr b="0" i="0" sz="1200" u="none" cap="none" strike="noStrike">
              <a:solidFill>
                <a:schemeClr val="dk1"/>
              </a:solidFill>
              <a:latin typeface="Calibri"/>
              <a:ea typeface="Calibri"/>
              <a:cs typeface="Calibri"/>
              <a:sym typeface="Calibri"/>
            </a:endParaRPr>
          </a:p>
        </p:txBody>
      </p:sp>
      <p:sp>
        <p:nvSpPr>
          <p:cNvPr id="344" name="Google Shape;344;g3f8386f7cd2_2_234"/>
          <p:cNvSpPr/>
          <p:nvPr/>
        </p:nvSpPr>
        <p:spPr>
          <a:xfrm>
            <a:off x="3721509" y="4334256"/>
            <a:ext cx="2048201" cy="123444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2333D"/>
              </a:buClr>
              <a:buSzPts val="1250"/>
              <a:buFont typeface="Calibri"/>
              <a:buNone/>
            </a:pPr>
            <a:r>
              <a:rPr b="0" i="0" lang="en-US" sz="1250" u="none" cap="none" strike="noStrike">
                <a:solidFill>
                  <a:srgbClr val="22333D"/>
                </a:solidFill>
                <a:latin typeface="Calibri"/>
                <a:ea typeface="Calibri"/>
                <a:cs typeface="Calibri"/>
                <a:sym typeface="Calibri"/>
              </a:rPr>
              <a:t>Age-graded guides for talking to a child, and a guide for talking to someone who is dying. Two euphemisms prohibited outright.</a:t>
            </a:r>
            <a:endParaRPr b="0" i="0" sz="1250" u="none" cap="none" strike="noStrike">
              <a:solidFill>
                <a:schemeClr val="dk1"/>
              </a:solidFill>
              <a:latin typeface="Calibri"/>
              <a:ea typeface="Calibri"/>
              <a:cs typeface="Calibri"/>
              <a:sym typeface="Calibri"/>
            </a:endParaRPr>
          </a:p>
        </p:txBody>
      </p:sp>
      <p:sp>
        <p:nvSpPr>
          <p:cNvPr id="345" name="Google Shape;345;g3f8386f7cd2_2_234"/>
          <p:cNvSpPr/>
          <p:nvPr/>
        </p:nvSpPr>
        <p:spPr>
          <a:xfrm>
            <a:off x="6190323" y="2999232"/>
            <a:ext cx="2487102" cy="2606040"/>
          </a:xfrm>
          <a:prstGeom prst="roundRect">
            <a:avLst>
              <a:gd fmla="val 3500" name="adj"/>
            </a:avLst>
          </a:prstGeom>
          <a:solidFill>
            <a:srgbClr val="F4F7F4"/>
          </a:solidFill>
          <a:ln cap="flat" cmpd="sng" w="12700">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cjk_xunlu.png" id="346" name="Google Shape;346;g3f8386f7cd2_2_234"/>
          <p:cNvPicPr preferRelativeResize="0"/>
          <p:nvPr/>
        </p:nvPicPr>
        <p:blipFill rotWithShape="1">
          <a:blip r:embed="rId5">
            <a:alphaModFix/>
          </a:blip>
          <a:srcRect b="0" l="0" r="0" t="0"/>
          <a:stretch/>
        </p:blipFill>
        <p:spPr>
          <a:xfrm>
            <a:off x="6428061" y="3200400"/>
            <a:ext cx="786363" cy="384038"/>
          </a:xfrm>
          <a:prstGeom prst="rect">
            <a:avLst/>
          </a:prstGeom>
          <a:noFill/>
          <a:ln>
            <a:noFill/>
          </a:ln>
        </p:spPr>
      </p:pic>
      <p:sp>
        <p:nvSpPr>
          <p:cNvPr id="347" name="Google Shape;347;g3f8386f7cd2_2_234"/>
          <p:cNvSpPr/>
          <p:nvPr/>
        </p:nvSpPr>
        <p:spPr>
          <a:xfrm>
            <a:off x="6428061" y="3730752"/>
            <a:ext cx="201162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libri"/>
              <a:buNone/>
            </a:pPr>
            <a:r>
              <a:rPr b="1" i="0" lang="en-US" sz="1550" u="none" cap="none" strike="noStrike">
                <a:solidFill>
                  <a:srgbClr val="16232E"/>
                </a:solidFill>
                <a:latin typeface="Calibri"/>
                <a:ea typeface="Calibri"/>
                <a:cs typeface="Calibri"/>
                <a:sym typeface="Calibri"/>
              </a:rPr>
              <a:t>Care Map</a:t>
            </a:r>
            <a:endParaRPr b="0" i="0" sz="1550" u="none" cap="none" strike="noStrike">
              <a:solidFill>
                <a:schemeClr val="dk1"/>
              </a:solidFill>
              <a:latin typeface="Calibri"/>
              <a:ea typeface="Calibri"/>
              <a:cs typeface="Calibri"/>
              <a:sym typeface="Calibri"/>
            </a:endParaRPr>
          </a:p>
        </p:txBody>
      </p:sp>
      <p:sp>
        <p:nvSpPr>
          <p:cNvPr id="348" name="Google Shape;348;g3f8386f7cd2_2_234"/>
          <p:cNvSpPr/>
          <p:nvPr/>
        </p:nvSpPr>
        <p:spPr>
          <a:xfrm>
            <a:off x="6428061" y="4005072"/>
            <a:ext cx="2103064"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4A3C"/>
              </a:buClr>
              <a:buSzPts val="1200"/>
              <a:buFont typeface="Calibri"/>
              <a:buNone/>
            </a:pPr>
            <a:r>
              <a:rPr b="0" i="0" lang="en-US" sz="1200" u="none" cap="none" strike="noStrike">
                <a:solidFill>
                  <a:srgbClr val="B44A3C"/>
                </a:solidFill>
                <a:latin typeface="Calibri"/>
                <a:ea typeface="Calibri"/>
                <a:cs typeface="Calibri"/>
                <a:sym typeface="Calibri"/>
              </a:rPr>
              <a:t>Service directory</a:t>
            </a:r>
            <a:endParaRPr b="0" i="0" sz="1200" u="none" cap="none" strike="noStrike">
              <a:solidFill>
                <a:schemeClr val="dk1"/>
              </a:solidFill>
              <a:latin typeface="Calibri"/>
              <a:ea typeface="Calibri"/>
              <a:cs typeface="Calibri"/>
              <a:sym typeface="Calibri"/>
            </a:endParaRPr>
          </a:p>
        </p:txBody>
      </p:sp>
      <p:sp>
        <p:nvSpPr>
          <p:cNvPr id="349" name="Google Shape;349;g3f8386f7cd2_2_234"/>
          <p:cNvSpPr/>
          <p:nvPr/>
        </p:nvSpPr>
        <p:spPr>
          <a:xfrm>
            <a:off x="6428061" y="4334256"/>
            <a:ext cx="2048201" cy="123444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2333D"/>
              </a:buClr>
              <a:buSzPts val="1250"/>
              <a:buFont typeface="Calibri"/>
              <a:buNone/>
            </a:pPr>
            <a:r>
              <a:rPr b="0" i="0" lang="en-US" sz="1250" u="none" cap="none" strike="noStrike">
                <a:solidFill>
                  <a:srgbClr val="22333D"/>
                </a:solidFill>
                <a:latin typeface="Calibri"/>
                <a:ea typeface="Calibri"/>
                <a:cs typeface="Calibri"/>
                <a:sym typeface="Calibri"/>
              </a:rPr>
              <a:t>Wards, home-care teams, clinics, NGOs and offline groups — filtered, and each listing dated with when it was last confirmed.</a:t>
            </a:r>
            <a:endParaRPr b="0" i="0" sz="1250" u="none" cap="none" strike="noStrike">
              <a:solidFill>
                <a:schemeClr val="dk1"/>
              </a:solidFill>
              <a:latin typeface="Calibri"/>
              <a:ea typeface="Calibri"/>
              <a:cs typeface="Calibri"/>
              <a:sym typeface="Calibri"/>
            </a:endParaRPr>
          </a:p>
        </p:txBody>
      </p:sp>
      <p:sp>
        <p:nvSpPr>
          <p:cNvPr id="350" name="Google Shape;350;g3f8386f7cd2_2_234"/>
          <p:cNvSpPr/>
          <p:nvPr/>
        </p:nvSpPr>
        <p:spPr>
          <a:xfrm>
            <a:off x="8896875" y="2999232"/>
            <a:ext cx="2487102" cy="2606040"/>
          </a:xfrm>
          <a:prstGeom prst="roundRect">
            <a:avLst>
              <a:gd fmla="val 3500" name="adj"/>
            </a:avLst>
          </a:prstGeom>
          <a:solidFill>
            <a:srgbClr val="F4F7F4"/>
          </a:solidFill>
          <a:ln cap="flat" cmpd="sng" w="12700">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cjk_tongxing.png" id="351" name="Google Shape;351;g3f8386f7cd2_2_234"/>
          <p:cNvPicPr preferRelativeResize="0"/>
          <p:nvPr/>
        </p:nvPicPr>
        <p:blipFill rotWithShape="1">
          <a:blip r:embed="rId6">
            <a:alphaModFix/>
          </a:blip>
          <a:srcRect b="0" l="0" r="0" t="0"/>
          <a:stretch/>
        </p:blipFill>
        <p:spPr>
          <a:xfrm>
            <a:off x="9134612" y="3200400"/>
            <a:ext cx="786363" cy="384038"/>
          </a:xfrm>
          <a:prstGeom prst="rect">
            <a:avLst/>
          </a:prstGeom>
          <a:noFill/>
          <a:ln>
            <a:noFill/>
          </a:ln>
        </p:spPr>
      </p:pic>
      <p:sp>
        <p:nvSpPr>
          <p:cNvPr id="352" name="Google Shape;352;g3f8386f7cd2_2_234"/>
          <p:cNvSpPr/>
          <p:nvPr/>
        </p:nvSpPr>
        <p:spPr>
          <a:xfrm>
            <a:off x="9134612" y="3730752"/>
            <a:ext cx="201162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libri"/>
              <a:buNone/>
            </a:pPr>
            <a:r>
              <a:rPr b="1" i="0" lang="en-US" sz="1550" u="none" cap="none" strike="noStrike">
                <a:solidFill>
                  <a:srgbClr val="16232E"/>
                </a:solidFill>
                <a:latin typeface="Calibri"/>
                <a:ea typeface="Calibri"/>
                <a:cs typeface="Calibri"/>
                <a:sym typeface="Calibri"/>
              </a:rPr>
              <a:t>Forum</a:t>
            </a:r>
            <a:endParaRPr b="0" i="0" sz="1550" u="none" cap="none" strike="noStrike">
              <a:solidFill>
                <a:schemeClr val="dk1"/>
              </a:solidFill>
              <a:latin typeface="Calibri"/>
              <a:ea typeface="Calibri"/>
              <a:cs typeface="Calibri"/>
              <a:sym typeface="Calibri"/>
            </a:endParaRPr>
          </a:p>
        </p:txBody>
      </p:sp>
      <p:sp>
        <p:nvSpPr>
          <p:cNvPr id="353" name="Google Shape;353;g3f8386f7cd2_2_234"/>
          <p:cNvSpPr/>
          <p:nvPr/>
        </p:nvSpPr>
        <p:spPr>
          <a:xfrm>
            <a:off x="9134612" y="4005072"/>
            <a:ext cx="2103064"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4A3C"/>
              </a:buClr>
              <a:buSzPts val="1200"/>
              <a:buFont typeface="Calibri"/>
              <a:buNone/>
            </a:pPr>
            <a:r>
              <a:rPr b="0" i="0" lang="en-US" sz="1200" u="none" cap="none" strike="noStrike">
                <a:solidFill>
                  <a:srgbClr val="B44A3C"/>
                </a:solidFill>
                <a:latin typeface="Calibri"/>
                <a:ea typeface="Calibri"/>
                <a:cs typeface="Calibri"/>
                <a:sym typeface="Calibri"/>
              </a:rPr>
              <a:t>Peers and specialists</a:t>
            </a:r>
            <a:endParaRPr b="0" i="0" sz="1200" u="none" cap="none" strike="noStrike">
              <a:solidFill>
                <a:schemeClr val="dk1"/>
              </a:solidFill>
              <a:latin typeface="Calibri"/>
              <a:ea typeface="Calibri"/>
              <a:cs typeface="Calibri"/>
              <a:sym typeface="Calibri"/>
            </a:endParaRPr>
          </a:p>
        </p:txBody>
      </p:sp>
      <p:sp>
        <p:nvSpPr>
          <p:cNvPr id="354" name="Google Shape;354;g3f8386f7cd2_2_234"/>
          <p:cNvSpPr/>
          <p:nvPr/>
        </p:nvSpPr>
        <p:spPr>
          <a:xfrm>
            <a:off x="9134612" y="4334256"/>
            <a:ext cx="2048201" cy="123444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2333D"/>
              </a:buClr>
              <a:buSzPts val="1250"/>
              <a:buFont typeface="Calibri"/>
              <a:buNone/>
            </a:pPr>
            <a:r>
              <a:rPr b="0" i="0" lang="en-US" sz="1250" u="none" cap="none" strike="noStrike">
                <a:solidFill>
                  <a:srgbClr val="22333D"/>
                </a:solidFill>
                <a:latin typeface="Calibri"/>
                <a:ea typeface="Calibri"/>
                <a:cs typeface="Calibri"/>
                <a:sym typeface="Calibri"/>
              </a:rPr>
              <a:t>Pseudonymous peer sections, time-boxed threads answered by verified clinicians, and a professionals-only room for peer supervision.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358" name="Shape 358"/>
        <p:cNvGrpSpPr/>
        <p:nvPr/>
      </p:nvGrpSpPr>
      <p:grpSpPr>
        <a:xfrm>
          <a:off x="0" y="0"/>
          <a:ext cx="0" cy="0"/>
          <a:chOff x="0" y="0"/>
          <a:chExt cx="0" cy="0"/>
        </a:xfrm>
      </p:grpSpPr>
      <p:sp>
        <p:nvSpPr>
          <p:cNvPr id="359" name="Google Shape;359;g3f83a022279_6_0"/>
          <p:cNvSpPr/>
          <p:nvPr/>
        </p:nvSpPr>
        <p:spPr>
          <a:xfrm>
            <a:off x="7818120" y="1783080"/>
            <a:ext cx="3612000" cy="3612000"/>
          </a:xfrm>
          <a:prstGeom prst="roundRect">
            <a:avLst>
              <a:gd fmla="val 4500" name="adj"/>
            </a:avLst>
          </a:prstGeom>
          <a:solidFill>
            <a:srgbClr val="F4F7F4"/>
          </a:solidFill>
          <a:ln cap="flat" cmpd="sng" w="12700">
            <a:solidFill>
              <a:srgbClr val="C6D1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60" name="Google Shape;360;g3f83a022279_6_0" title="Screenshot 2026-08-22 at 6.50.19 PM.png"/>
          <p:cNvPicPr preferRelativeResize="0"/>
          <p:nvPr/>
        </p:nvPicPr>
        <p:blipFill rotWithShape="1">
          <a:blip r:embed="rId3">
            <a:alphaModFix/>
          </a:blip>
          <a:srcRect b="0" l="0" r="0" t="0"/>
          <a:stretch/>
        </p:blipFill>
        <p:spPr>
          <a:xfrm>
            <a:off x="8549640" y="2331720"/>
            <a:ext cx="2148841" cy="2148839"/>
          </a:xfrm>
          <a:prstGeom prst="rect">
            <a:avLst/>
          </a:prstGeom>
          <a:noFill/>
          <a:ln>
            <a:noFill/>
          </a:ln>
        </p:spPr>
      </p:pic>
      <p:sp>
        <p:nvSpPr>
          <p:cNvPr id="361" name="Google Shape;361;g3f83a022279_6_0"/>
          <p:cNvSpPr txBox="1"/>
          <p:nvPr/>
        </p:nvSpPr>
        <p:spPr>
          <a:xfrm>
            <a:off x="7818120" y="4617720"/>
            <a:ext cx="36120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300" u="sng" cap="none" strike="noStrike">
                <a:solidFill>
                  <a:schemeClr val="hlink"/>
                </a:solidFill>
                <a:latin typeface="Calibri"/>
                <a:ea typeface="Calibri"/>
                <a:cs typeface="Calibri"/>
                <a:sym typeface="Calibri"/>
                <a:hlinkClick r:id="rId4"/>
              </a:rPr>
              <a:t>QR code expired</a:t>
            </a:r>
            <a:endParaRPr b="0" i="0" sz="1400" u="none" cap="none" strike="noStrike">
              <a:solidFill>
                <a:srgbClr val="000000"/>
              </a:solidFill>
              <a:latin typeface="Arial"/>
              <a:ea typeface="Arial"/>
              <a:cs typeface="Arial"/>
              <a:sym typeface="Arial"/>
            </a:endParaRPr>
          </a:p>
        </p:txBody>
      </p:sp>
      <p:sp>
        <p:nvSpPr>
          <p:cNvPr id="362" name="Google Shape;362;g3f83a022279_6_0"/>
          <p:cNvSpPr txBox="1"/>
          <p:nvPr/>
        </p:nvSpPr>
        <p:spPr>
          <a:xfrm>
            <a:off x="777240" y="868680"/>
            <a:ext cx="73152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n-US" sz="3400" u="none" cap="none" strike="noStrike">
                <a:solidFill>
                  <a:srgbClr val="16232E"/>
                </a:solidFill>
                <a:latin typeface="Cambria"/>
                <a:ea typeface="Cambria"/>
                <a:cs typeface="Cambria"/>
                <a:sym typeface="Cambria"/>
              </a:rPr>
              <a:t>Demo Time ：）</a:t>
            </a:r>
            <a:endParaRPr b="0" i="0" sz="1400" u="none" cap="none" strike="noStrike">
              <a:solidFill>
                <a:srgbClr val="000000"/>
              </a:solidFill>
              <a:latin typeface="Arial"/>
              <a:ea typeface="Arial"/>
              <a:cs typeface="Arial"/>
              <a:sym typeface="Arial"/>
            </a:endParaRPr>
          </a:p>
        </p:txBody>
      </p:sp>
      <p:sp>
        <p:nvSpPr>
          <p:cNvPr id="363" name="Google Shape;363;g3f83a022279_6_0"/>
          <p:cNvSpPr txBox="1"/>
          <p:nvPr/>
        </p:nvSpPr>
        <p:spPr>
          <a:xfrm>
            <a:off x="777240" y="502920"/>
            <a:ext cx="7315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B44A3C"/>
                </a:solidFill>
                <a:latin typeface="Calibri"/>
                <a:ea typeface="Calibri"/>
                <a:cs typeface="Calibri"/>
                <a:sym typeface="Calibri"/>
              </a:rPr>
              <a:t>THE PROTOTYPE</a:t>
            </a:r>
            <a:endParaRPr/>
          </a:p>
        </p:txBody>
      </p:sp>
      <p:sp>
        <p:nvSpPr>
          <p:cNvPr id="364" name="Google Shape;364;g3f83a022279_6_0"/>
          <p:cNvSpPr txBox="1"/>
          <p:nvPr/>
        </p:nvSpPr>
        <p:spPr>
          <a:xfrm>
            <a:off x="777240" y="1783080"/>
            <a:ext cx="65838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5F706C"/>
                </a:solidFill>
                <a:latin typeface="Calibri"/>
                <a:ea typeface="Calibri"/>
                <a:cs typeface="Calibri"/>
                <a:sym typeface="Calibri"/>
              </a:rPr>
              <a:t>Four surfaces, and the two utilities that sit on every screen.</a:t>
            </a:r>
            <a:endParaRPr/>
          </a:p>
        </p:txBody>
      </p:sp>
      <p:sp>
        <p:nvSpPr>
          <p:cNvPr id="365" name="Google Shape;365;g3f83a022279_6_0"/>
          <p:cNvSpPr txBox="1"/>
          <p:nvPr/>
        </p:nvSpPr>
        <p:spPr>
          <a:xfrm>
            <a:off x="777240" y="2395728"/>
            <a:ext cx="5670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u="none" cap="none" strike="noStrike">
                <a:solidFill>
                  <a:srgbClr val="B44A3C"/>
                </a:solidFill>
                <a:latin typeface="Cambria"/>
                <a:ea typeface="Cambria"/>
                <a:cs typeface="Cambria"/>
                <a:sym typeface="Cambria"/>
              </a:rPr>
              <a:t>渡口</a:t>
            </a:r>
            <a:endParaRPr/>
          </a:p>
        </p:txBody>
      </p:sp>
      <p:sp>
        <p:nvSpPr>
          <p:cNvPr id="366" name="Google Shape;366;g3f83a022279_6_0"/>
          <p:cNvSpPr txBox="1"/>
          <p:nvPr/>
        </p:nvSpPr>
        <p:spPr>
          <a:xfrm>
            <a:off x="1490472" y="2377440"/>
            <a:ext cx="13716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16232E"/>
                </a:solidFill>
                <a:latin typeface="Calibri"/>
                <a:ea typeface="Calibri"/>
                <a:cs typeface="Calibri"/>
                <a:sym typeface="Calibri"/>
              </a:rPr>
              <a:t>Home</a:t>
            </a:r>
            <a:endParaRPr/>
          </a:p>
        </p:txBody>
      </p:sp>
      <p:sp>
        <p:nvSpPr>
          <p:cNvPr id="367" name="Google Shape;367;g3f83a022279_6_0"/>
          <p:cNvSpPr txBox="1"/>
          <p:nvPr/>
        </p:nvSpPr>
        <p:spPr>
          <a:xfrm>
            <a:off x="2880360" y="2377440"/>
            <a:ext cx="45720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2333D"/>
                </a:solidFill>
                <a:latin typeface="Calibri"/>
                <a:ea typeface="Calibri"/>
                <a:cs typeface="Calibri"/>
                <a:sym typeface="Calibri"/>
              </a:rPr>
              <a:t>The First Ten Days checklist — ten things to ask, not to know.</a:t>
            </a:r>
            <a:endParaRPr/>
          </a:p>
        </p:txBody>
      </p:sp>
      <p:sp>
        <p:nvSpPr>
          <p:cNvPr id="368" name="Google Shape;368;g3f83a022279_6_0"/>
          <p:cNvSpPr txBox="1"/>
          <p:nvPr/>
        </p:nvSpPr>
        <p:spPr>
          <a:xfrm>
            <a:off x="777240" y="2999232"/>
            <a:ext cx="5670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u="none" cap="none" strike="noStrike">
                <a:solidFill>
                  <a:srgbClr val="B44A3C"/>
                </a:solidFill>
                <a:latin typeface="Cambria"/>
                <a:ea typeface="Cambria"/>
                <a:cs typeface="Cambria"/>
                <a:sym typeface="Cambria"/>
              </a:rPr>
              <a:t>言语</a:t>
            </a:r>
            <a:endParaRPr/>
          </a:p>
        </p:txBody>
      </p:sp>
      <p:sp>
        <p:nvSpPr>
          <p:cNvPr id="369" name="Google Shape;369;g3f83a022279_6_0"/>
          <p:cNvSpPr txBox="1"/>
          <p:nvPr/>
        </p:nvSpPr>
        <p:spPr>
          <a:xfrm>
            <a:off x="1490472" y="2980944"/>
            <a:ext cx="13716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16232E"/>
                </a:solidFill>
                <a:latin typeface="Calibri"/>
                <a:ea typeface="Calibri"/>
                <a:cs typeface="Calibri"/>
                <a:sym typeface="Calibri"/>
              </a:rPr>
              <a:t>Words</a:t>
            </a:r>
            <a:endParaRPr/>
          </a:p>
        </p:txBody>
      </p:sp>
      <p:sp>
        <p:nvSpPr>
          <p:cNvPr id="370" name="Google Shape;370;g3f83a022279_6_0"/>
          <p:cNvSpPr txBox="1"/>
          <p:nvPr/>
        </p:nvSpPr>
        <p:spPr>
          <a:xfrm>
            <a:off x="2880360" y="2980944"/>
            <a:ext cx="4572000" cy="43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2333D"/>
                </a:solidFill>
                <a:latin typeface="Calibri"/>
                <a:ea typeface="Calibri"/>
                <a:cs typeface="Calibri"/>
                <a:sym typeface="Calibri"/>
              </a:rPr>
              <a:t>Age-graded child guides, and the guide for talking to someone dying.</a:t>
            </a:r>
            <a:endParaRPr/>
          </a:p>
        </p:txBody>
      </p:sp>
      <p:sp>
        <p:nvSpPr>
          <p:cNvPr id="371" name="Google Shape;371;g3f83a022279_6_0"/>
          <p:cNvSpPr txBox="1"/>
          <p:nvPr/>
        </p:nvSpPr>
        <p:spPr>
          <a:xfrm>
            <a:off x="777240" y="3602736"/>
            <a:ext cx="5670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u="none" cap="none" strike="noStrike">
                <a:solidFill>
                  <a:srgbClr val="B44A3C"/>
                </a:solidFill>
                <a:latin typeface="Cambria"/>
                <a:ea typeface="Cambria"/>
                <a:cs typeface="Cambria"/>
                <a:sym typeface="Cambria"/>
              </a:rPr>
              <a:t>寻路</a:t>
            </a:r>
            <a:endParaRPr/>
          </a:p>
        </p:txBody>
      </p:sp>
      <p:sp>
        <p:nvSpPr>
          <p:cNvPr id="372" name="Google Shape;372;g3f83a022279_6_0"/>
          <p:cNvSpPr txBox="1"/>
          <p:nvPr/>
        </p:nvSpPr>
        <p:spPr>
          <a:xfrm>
            <a:off x="1490472" y="3584448"/>
            <a:ext cx="13716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16232E"/>
                </a:solidFill>
                <a:latin typeface="Calibri"/>
                <a:ea typeface="Calibri"/>
                <a:cs typeface="Calibri"/>
                <a:sym typeface="Calibri"/>
              </a:rPr>
              <a:t>Care Map</a:t>
            </a:r>
            <a:endParaRPr/>
          </a:p>
        </p:txBody>
      </p:sp>
      <p:sp>
        <p:nvSpPr>
          <p:cNvPr id="373" name="Google Shape;373;g3f83a022279_6_0"/>
          <p:cNvSpPr txBox="1"/>
          <p:nvPr/>
        </p:nvSpPr>
        <p:spPr>
          <a:xfrm>
            <a:off x="2880360" y="3584448"/>
            <a:ext cx="45720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2333D"/>
                </a:solidFill>
                <a:latin typeface="Calibri"/>
                <a:ea typeface="Calibri"/>
                <a:cs typeface="Calibri"/>
                <a:sym typeface="Calibri"/>
              </a:rPr>
              <a:t>Filtered listings, each dated with when it was last confirmed.</a:t>
            </a:r>
            <a:endParaRPr/>
          </a:p>
        </p:txBody>
      </p:sp>
      <p:sp>
        <p:nvSpPr>
          <p:cNvPr id="374" name="Google Shape;374;g3f83a022279_6_0"/>
          <p:cNvSpPr txBox="1"/>
          <p:nvPr/>
        </p:nvSpPr>
        <p:spPr>
          <a:xfrm>
            <a:off x="777240" y="4206240"/>
            <a:ext cx="5670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u="none" cap="none" strike="noStrike">
                <a:solidFill>
                  <a:srgbClr val="B44A3C"/>
                </a:solidFill>
                <a:latin typeface="Cambria"/>
                <a:ea typeface="Cambria"/>
                <a:cs typeface="Cambria"/>
                <a:sym typeface="Cambria"/>
              </a:rPr>
              <a:t>同行</a:t>
            </a:r>
            <a:endParaRPr/>
          </a:p>
        </p:txBody>
      </p:sp>
      <p:sp>
        <p:nvSpPr>
          <p:cNvPr id="375" name="Google Shape;375;g3f83a022279_6_0"/>
          <p:cNvSpPr txBox="1"/>
          <p:nvPr/>
        </p:nvSpPr>
        <p:spPr>
          <a:xfrm>
            <a:off x="1490472" y="4187952"/>
            <a:ext cx="13716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16232E"/>
                </a:solidFill>
                <a:latin typeface="Calibri"/>
                <a:ea typeface="Calibri"/>
                <a:cs typeface="Calibri"/>
                <a:sym typeface="Calibri"/>
              </a:rPr>
              <a:t>Forum</a:t>
            </a:r>
            <a:endParaRPr/>
          </a:p>
        </p:txBody>
      </p:sp>
      <p:sp>
        <p:nvSpPr>
          <p:cNvPr id="376" name="Google Shape;376;g3f83a022279_6_0"/>
          <p:cNvSpPr txBox="1"/>
          <p:nvPr/>
        </p:nvSpPr>
        <p:spPr>
          <a:xfrm>
            <a:off x="2880360" y="4187952"/>
            <a:ext cx="45720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2333D"/>
                </a:solidFill>
                <a:latin typeface="Calibri"/>
                <a:ea typeface="Calibri"/>
                <a:cs typeface="Calibri"/>
                <a:sym typeface="Calibri"/>
              </a:rPr>
              <a:t>Pseudonymous peers, verified clinicians, professionals-only room.</a:t>
            </a:r>
            <a:endParaRPr/>
          </a:p>
        </p:txBody>
      </p:sp>
      <p:sp>
        <p:nvSpPr>
          <p:cNvPr id="377" name="Google Shape;377;g3f83a022279_6_0"/>
          <p:cNvSpPr txBox="1"/>
          <p:nvPr/>
        </p:nvSpPr>
        <p:spPr>
          <a:xfrm>
            <a:off x="777240" y="5138928"/>
            <a:ext cx="6766500" cy="440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n-US" sz="1300" u="none" cap="none" strike="noStrike">
                <a:solidFill>
                  <a:srgbClr val="5F706C"/>
                </a:solidFill>
                <a:latin typeface="Calibri"/>
                <a:ea typeface="Calibri"/>
                <a:cs typeface="Calibri"/>
                <a:sym typeface="Calibri"/>
              </a:rPr>
              <a:t>Ask sheet — retrieval only, and a refusal when the guides cannot answer. Safety sheet — the crisis routing, with the markers deliberately unwritten.</a:t>
            </a:r>
            <a:endParaRPr/>
          </a:p>
        </p:txBody>
      </p:sp>
      <p:sp>
        <p:nvSpPr>
          <p:cNvPr id="378" name="Google Shape;378;g3f83a022279_6_0"/>
          <p:cNvSpPr txBox="1"/>
          <p:nvPr/>
        </p:nvSpPr>
        <p:spPr>
          <a:xfrm>
            <a:off x="777240" y="6291072"/>
            <a:ext cx="36576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5F706C"/>
                </a:solidFill>
                <a:latin typeface="Calibri"/>
                <a:ea typeface="Calibri"/>
                <a:cs typeface="Calibri"/>
                <a:sym typeface="Calibri"/>
              </a:rPr>
              <a:t>Bridge · Group 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383" name="Shape 383"/>
        <p:cNvGrpSpPr/>
        <p:nvPr/>
      </p:nvGrpSpPr>
      <p:grpSpPr>
        <a:xfrm>
          <a:off x="0" y="0"/>
          <a:ext cx="0" cy="0"/>
          <a:chOff x="0" y="0"/>
          <a:chExt cx="0" cy="0"/>
        </a:xfrm>
      </p:grpSpPr>
      <p:sp>
        <p:nvSpPr>
          <p:cNvPr id="384" name="Google Shape;384;g3f8386f7cd2_2_268"/>
          <p:cNvSpPr/>
          <p:nvPr/>
        </p:nvSpPr>
        <p:spPr>
          <a:xfrm>
            <a:off x="731500" y="502920"/>
            <a:ext cx="10728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FOUNDATIONS  ·  理论基础与设计转化</a:t>
            </a:r>
            <a:endParaRPr b="0" i="0" sz="1100" u="none" cap="none" strike="noStrike">
              <a:solidFill>
                <a:schemeClr val="dk1"/>
              </a:solidFill>
              <a:latin typeface="Calibri"/>
              <a:ea typeface="Calibri"/>
              <a:cs typeface="Calibri"/>
              <a:sym typeface="Calibri"/>
            </a:endParaRPr>
          </a:p>
        </p:txBody>
      </p:sp>
      <p:sp>
        <p:nvSpPr>
          <p:cNvPr id="385" name="Google Shape;385;g3f8386f7cd2_2_268"/>
          <p:cNvSpPr/>
          <p:nvPr/>
        </p:nvSpPr>
        <p:spPr>
          <a:xfrm>
            <a:off x="731500" y="850392"/>
            <a:ext cx="10728300" cy="502800"/>
          </a:xfrm>
          <a:prstGeom prst="rect">
            <a:avLst/>
          </a:prstGeom>
          <a:noFill/>
          <a:ln>
            <a:noFill/>
          </a:ln>
        </p:spPr>
        <p:txBody>
          <a:bodyPr anchorCtr="0" anchor="t" bIns="0" lIns="0" spcFirstLastPara="1" rIns="0" wrap="square" tIns="0">
            <a:noAutofit/>
          </a:bodyPr>
          <a:lstStyle/>
          <a:p>
            <a:pPr indent="0" lvl="0" marL="0" marR="0" rtl="0" algn="l">
              <a:lnSpc>
                <a:spcPct val="117647"/>
              </a:lnSpc>
              <a:spcBef>
                <a:spcPts val="0"/>
              </a:spcBef>
              <a:spcAft>
                <a:spcPts val="0"/>
              </a:spcAft>
              <a:buClr>
                <a:srgbClr val="16232E"/>
              </a:buClr>
              <a:buSzPts val="3400"/>
              <a:buFont typeface="Cambria"/>
              <a:buNone/>
            </a:pPr>
            <a:r>
              <a:rPr b="1" i="0" lang="en-US" sz="3400" u="none" cap="none" strike="noStrike">
                <a:solidFill>
                  <a:srgbClr val="16232E"/>
                </a:solidFill>
                <a:latin typeface="Cambria"/>
                <a:ea typeface="Cambria"/>
                <a:cs typeface="Cambria"/>
                <a:sym typeface="Cambria"/>
              </a:rPr>
              <a:t>Every feature is the translation of a construct.</a:t>
            </a:r>
            <a:endParaRPr b="0" i="0" sz="3400" u="none" cap="none" strike="noStrike">
              <a:solidFill>
                <a:schemeClr val="dk1"/>
              </a:solidFill>
              <a:latin typeface="Calibri"/>
              <a:ea typeface="Calibri"/>
              <a:cs typeface="Calibri"/>
              <a:sym typeface="Calibri"/>
            </a:endParaRPr>
          </a:p>
        </p:txBody>
      </p:sp>
      <p:sp>
        <p:nvSpPr>
          <p:cNvPr id="386" name="Google Shape;386;g3f8386f7cd2_2_268"/>
          <p:cNvSpPr/>
          <p:nvPr/>
        </p:nvSpPr>
        <p:spPr>
          <a:xfrm>
            <a:off x="731501" y="1572768"/>
            <a:ext cx="367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350"/>
              <a:buFont typeface="Cambria"/>
              <a:buNone/>
            </a:pPr>
            <a:r>
              <a:rPr b="1" i="0" lang="en-US" sz="1350" u="none" cap="none" strike="noStrike">
                <a:solidFill>
                  <a:srgbClr val="16232E"/>
                </a:solidFill>
                <a:latin typeface="Cambria"/>
                <a:ea typeface="Cambria"/>
                <a:cs typeface="Cambria"/>
                <a:sym typeface="Cambria"/>
              </a:rPr>
              <a:t>Death anxiety and avoidance</a:t>
            </a:r>
            <a:endParaRPr b="0" i="0" sz="1350" u="none" cap="none" strike="noStrike">
              <a:solidFill>
                <a:schemeClr val="dk1"/>
              </a:solidFill>
              <a:latin typeface="Calibri"/>
              <a:ea typeface="Calibri"/>
              <a:cs typeface="Calibri"/>
              <a:sym typeface="Calibri"/>
            </a:endParaRPr>
          </a:p>
        </p:txBody>
      </p:sp>
      <p:sp>
        <p:nvSpPr>
          <p:cNvPr id="387" name="Google Shape;387;g3f8386f7cd2_2_268"/>
          <p:cNvSpPr/>
          <p:nvPr/>
        </p:nvSpPr>
        <p:spPr>
          <a:xfrm>
            <a:off x="4404548" y="1600200"/>
            <a:ext cx="1463100" cy="25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F706C"/>
              </a:buClr>
              <a:buSzPts val="950"/>
              <a:buFont typeface="Calibri"/>
              <a:buNone/>
            </a:pPr>
            <a:r>
              <a:rPr b="0" i="1" lang="en-US" sz="950" u="none" cap="none" strike="noStrike">
                <a:solidFill>
                  <a:srgbClr val="5F706C"/>
                </a:solidFill>
                <a:latin typeface="Calibri"/>
                <a:ea typeface="Calibri"/>
                <a:cs typeface="Calibri"/>
                <a:sym typeface="Calibri"/>
              </a:rPr>
              <a:t>Greenberg et al., 1986</a:t>
            </a:r>
            <a:endParaRPr b="0" i="0" sz="950" u="none" cap="none" strike="noStrike">
              <a:solidFill>
                <a:schemeClr val="dk1"/>
              </a:solidFill>
              <a:latin typeface="Calibri"/>
              <a:ea typeface="Calibri"/>
              <a:cs typeface="Calibri"/>
              <a:sym typeface="Calibri"/>
            </a:endParaRPr>
          </a:p>
        </p:txBody>
      </p:sp>
      <p:sp>
        <p:nvSpPr>
          <p:cNvPr id="388" name="Google Shape;388;g3f8386f7cd2_2_268"/>
          <p:cNvSpPr/>
          <p:nvPr/>
        </p:nvSpPr>
        <p:spPr>
          <a:xfrm>
            <a:off x="731500" y="1865376"/>
            <a:ext cx="5136300" cy="5487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  </a:t>
            </a:r>
            <a:r>
              <a:rPr b="0" i="0" lang="en-US" sz="1100" u="none" cap="none" strike="noStrike">
                <a:solidFill>
                  <a:srgbClr val="5F706C"/>
                </a:solidFill>
                <a:latin typeface="Calibri"/>
                <a:ea typeface="Calibri"/>
                <a:cs typeface="Calibri"/>
                <a:sym typeface="Calibri"/>
              </a:rPr>
              <a:t>Lantern Language: warm metaphor instead of clinical terms; the child track as a low-stigma entry</a:t>
            </a:r>
            <a:endParaRPr b="0" i="0" sz="1100" u="none" cap="none" strike="noStrike">
              <a:solidFill>
                <a:schemeClr val="dk1"/>
              </a:solidFill>
              <a:latin typeface="Calibri"/>
              <a:ea typeface="Calibri"/>
              <a:cs typeface="Calibri"/>
              <a:sym typeface="Calibri"/>
            </a:endParaRPr>
          </a:p>
        </p:txBody>
      </p:sp>
      <p:cxnSp>
        <p:nvCxnSpPr>
          <p:cNvPr id="389" name="Google Shape;389;g3f8386f7cd2_2_268"/>
          <p:cNvCxnSpPr/>
          <p:nvPr/>
        </p:nvCxnSpPr>
        <p:spPr>
          <a:xfrm>
            <a:off x="731500" y="2450592"/>
            <a:ext cx="5136300" cy="0"/>
          </a:xfrm>
          <a:prstGeom prst="straightConnector1">
            <a:avLst/>
          </a:prstGeom>
          <a:noFill/>
          <a:ln cap="flat" cmpd="sng" w="9525">
            <a:solidFill>
              <a:srgbClr val="C6D1CC"/>
            </a:solidFill>
            <a:prstDash val="solid"/>
            <a:round/>
            <a:headEnd len="sm" w="sm" type="none"/>
            <a:tailEnd len="sm" w="sm" type="none"/>
          </a:ln>
        </p:spPr>
      </p:cxnSp>
      <p:sp>
        <p:nvSpPr>
          <p:cNvPr id="390" name="Google Shape;390;g3f8386f7cd2_2_268"/>
          <p:cNvSpPr/>
          <p:nvPr/>
        </p:nvSpPr>
        <p:spPr>
          <a:xfrm>
            <a:off x="6324736" y="1572768"/>
            <a:ext cx="367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350"/>
              <a:buFont typeface="Cambria"/>
              <a:buNone/>
            </a:pPr>
            <a:r>
              <a:rPr b="1" i="0" lang="en-US" sz="1350" u="none" cap="none" strike="noStrike">
                <a:solidFill>
                  <a:srgbClr val="16232E"/>
                </a:solidFill>
                <a:latin typeface="Cambria"/>
                <a:ea typeface="Cambria"/>
                <a:cs typeface="Cambria"/>
                <a:sym typeface="Cambria"/>
              </a:rPr>
              <a:t>Privacy boundaries as family rules</a:t>
            </a:r>
            <a:endParaRPr b="0" i="0" sz="1350" u="none" cap="none" strike="noStrike">
              <a:solidFill>
                <a:schemeClr val="dk1"/>
              </a:solidFill>
              <a:latin typeface="Calibri"/>
              <a:ea typeface="Calibri"/>
              <a:cs typeface="Calibri"/>
              <a:sym typeface="Calibri"/>
            </a:endParaRPr>
          </a:p>
        </p:txBody>
      </p:sp>
      <p:sp>
        <p:nvSpPr>
          <p:cNvPr id="391" name="Google Shape;391;g3f8386f7cd2_2_268"/>
          <p:cNvSpPr/>
          <p:nvPr/>
        </p:nvSpPr>
        <p:spPr>
          <a:xfrm>
            <a:off x="9997783" y="1600200"/>
            <a:ext cx="1463100" cy="25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F706C"/>
              </a:buClr>
              <a:buSzPts val="950"/>
              <a:buFont typeface="Calibri"/>
              <a:buNone/>
            </a:pPr>
            <a:r>
              <a:rPr b="0" i="1" lang="en-US" sz="950" u="none" cap="none" strike="noStrike">
                <a:solidFill>
                  <a:srgbClr val="5F706C"/>
                </a:solidFill>
                <a:latin typeface="Calibri"/>
                <a:ea typeface="Calibri"/>
                <a:cs typeface="Calibri"/>
                <a:sym typeface="Calibri"/>
              </a:rPr>
              <a:t>Petronio, 2002</a:t>
            </a:r>
            <a:endParaRPr b="0" i="0" sz="950" u="none" cap="none" strike="noStrike">
              <a:solidFill>
                <a:schemeClr val="dk1"/>
              </a:solidFill>
              <a:latin typeface="Calibri"/>
              <a:ea typeface="Calibri"/>
              <a:cs typeface="Calibri"/>
              <a:sym typeface="Calibri"/>
            </a:endParaRPr>
          </a:p>
        </p:txBody>
      </p:sp>
      <p:sp>
        <p:nvSpPr>
          <p:cNvPr id="392" name="Google Shape;392;g3f8386f7cd2_2_268"/>
          <p:cNvSpPr/>
          <p:nvPr/>
        </p:nvSpPr>
        <p:spPr>
          <a:xfrm>
            <a:off x="6324736" y="1865376"/>
            <a:ext cx="5136300" cy="5487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  </a:t>
            </a:r>
            <a:r>
              <a:rPr b="0" i="0" lang="en-US" sz="1100" u="none" cap="none" strike="noStrike">
                <a:solidFill>
                  <a:srgbClr val="5F706C"/>
                </a:solidFill>
                <a:latin typeface="Calibri"/>
                <a:ea typeface="Calibri"/>
                <a:cs typeface="Calibri"/>
                <a:sym typeface="Calibri"/>
              </a:rPr>
              <a:t>A script for renegotiating a rule, and the checklist step that assigns who tells whom</a:t>
            </a:r>
            <a:endParaRPr b="0" i="0" sz="1100" u="none" cap="none" strike="noStrike">
              <a:solidFill>
                <a:schemeClr val="dk1"/>
              </a:solidFill>
              <a:latin typeface="Calibri"/>
              <a:ea typeface="Calibri"/>
              <a:cs typeface="Calibri"/>
              <a:sym typeface="Calibri"/>
            </a:endParaRPr>
          </a:p>
        </p:txBody>
      </p:sp>
      <p:cxnSp>
        <p:nvCxnSpPr>
          <p:cNvPr id="393" name="Google Shape;393;g3f8386f7cd2_2_268"/>
          <p:cNvCxnSpPr/>
          <p:nvPr/>
        </p:nvCxnSpPr>
        <p:spPr>
          <a:xfrm>
            <a:off x="6324736" y="2450592"/>
            <a:ext cx="5136300" cy="0"/>
          </a:xfrm>
          <a:prstGeom prst="straightConnector1">
            <a:avLst/>
          </a:prstGeom>
          <a:noFill/>
          <a:ln cap="flat" cmpd="sng" w="9525">
            <a:solidFill>
              <a:srgbClr val="C6D1CC"/>
            </a:solidFill>
            <a:prstDash val="solid"/>
            <a:round/>
            <a:headEnd len="sm" w="sm" type="none"/>
            <a:tailEnd len="sm" w="sm" type="none"/>
          </a:ln>
        </p:spPr>
      </p:cxnSp>
      <p:sp>
        <p:nvSpPr>
          <p:cNvPr id="394" name="Google Shape;394;g3f8386f7cd2_2_268"/>
          <p:cNvSpPr/>
          <p:nvPr/>
        </p:nvSpPr>
        <p:spPr>
          <a:xfrm>
            <a:off x="731501" y="2542032"/>
            <a:ext cx="367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350"/>
              <a:buFont typeface="Cambria"/>
              <a:buNone/>
            </a:pPr>
            <a:r>
              <a:rPr b="1" i="0" lang="en-US" sz="1350" u="none" cap="none" strike="noStrike">
                <a:solidFill>
                  <a:srgbClr val="16232E"/>
                </a:solidFill>
                <a:latin typeface="Cambria"/>
                <a:ea typeface="Cambria"/>
                <a:cs typeface="Cambria"/>
                <a:sym typeface="Cambria"/>
              </a:rPr>
              <a:t>Filial obligation</a:t>
            </a:r>
            <a:endParaRPr b="0" i="0" sz="1350" u="none" cap="none" strike="noStrike">
              <a:solidFill>
                <a:schemeClr val="dk1"/>
              </a:solidFill>
              <a:latin typeface="Calibri"/>
              <a:ea typeface="Calibri"/>
              <a:cs typeface="Calibri"/>
              <a:sym typeface="Calibri"/>
            </a:endParaRPr>
          </a:p>
        </p:txBody>
      </p:sp>
      <p:sp>
        <p:nvSpPr>
          <p:cNvPr id="395" name="Google Shape;395;g3f8386f7cd2_2_268"/>
          <p:cNvSpPr/>
          <p:nvPr/>
        </p:nvSpPr>
        <p:spPr>
          <a:xfrm>
            <a:off x="4404548" y="2569464"/>
            <a:ext cx="1463100" cy="25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F706C"/>
              </a:buClr>
              <a:buSzPts val="950"/>
              <a:buFont typeface="Calibri"/>
              <a:buNone/>
            </a:pPr>
            <a:r>
              <a:rPr b="0" i="1" lang="en-US" sz="950" u="none" cap="none" strike="noStrike">
                <a:solidFill>
                  <a:srgbClr val="5F706C"/>
                </a:solidFill>
                <a:latin typeface="Calibri"/>
                <a:ea typeface="Calibri"/>
                <a:cs typeface="Calibri"/>
                <a:sym typeface="Calibri"/>
              </a:rPr>
              <a:t>Hsu et al., 2009</a:t>
            </a:r>
            <a:endParaRPr b="0" i="0" sz="950" u="none" cap="none" strike="noStrike">
              <a:solidFill>
                <a:schemeClr val="dk1"/>
              </a:solidFill>
              <a:latin typeface="Calibri"/>
              <a:ea typeface="Calibri"/>
              <a:cs typeface="Calibri"/>
              <a:sym typeface="Calibri"/>
            </a:endParaRPr>
          </a:p>
        </p:txBody>
      </p:sp>
      <p:sp>
        <p:nvSpPr>
          <p:cNvPr id="396" name="Google Shape;396;g3f8386f7cd2_2_268"/>
          <p:cNvSpPr/>
          <p:nvPr/>
        </p:nvSpPr>
        <p:spPr>
          <a:xfrm>
            <a:off x="731500" y="2834640"/>
            <a:ext cx="5136300" cy="5487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  </a:t>
            </a:r>
            <a:r>
              <a:rPr b="0" i="0" lang="en-US" sz="1100" u="none" cap="none" strike="noStrike">
                <a:solidFill>
                  <a:srgbClr val="5F706C"/>
                </a:solidFill>
                <a:latin typeface="Calibri"/>
                <a:ea typeface="Calibri"/>
                <a:cs typeface="Calibri"/>
                <a:sym typeface="Calibri"/>
              </a:rPr>
              <a:t>An explicit section naming mutual pretence and 孝, reframing speaking first as care</a:t>
            </a:r>
            <a:endParaRPr b="0" i="0" sz="1100" u="none" cap="none" strike="noStrike">
              <a:solidFill>
                <a:schemeClr val="dk1"/>
              </a:solidFill>
              <a:latin typeface="Calibri"/>
              <a:ea typeface="Calibri"/>
              <a:cs typeface="Calibri"/>
              <a:sym typeface="Calibri"/>
            </a:endParaRPr>
          </a:p>
        </p:txBody>
      </p:sp>
      <p:cxnSp>
        <p:nvCxnSpPr>
          <p:cNvPr id="397" name="Google Shape;397;g3f8386f7cd2_2_268"/>
          <p:cNvCxnSpPr/>
          <p:nvPr/>
        </p:nvCxnSpPr>
        <p:spPr>
          <a:xfrm>
            <a:off x="731500" y="3419856"/>
            <a:ext cx="5136300" cy="0"/>
          </a:xfrm>
          <a:prstGeom prst="straightConnector1">
            <a:avLst/>
          </a:prstGeom>
          <a:noFill/>
          <a:ln cap="flat" cmpd="sng" w="9525">
            <a:solidFill>
              <a:srgbClr val="C6D1CC"/>
            </a:solidFill>
            <a:prstDash val="solid"/>
            <a:round/>
            <a:headEnd len="sm" w="sm" type="none"/>
            <a:tailEnd len="sm" w="sm" type="none"/>
          </a:ln>
        </p:spPr>
      </p:cxnSp>
      <p:sp>
        <p:nvSpPr>
          <p:cNvPr id="398" name="Google Shape;398;g3f8386f7cd2_2_268"/>
          <p:cNvSpPr/>
          <p:nvPr/>
        </p:nvSpPr>
        <p:spPr>
          <a:xfrm>
            <a:off x="6324736" y="2542032"/>
            <a:ext cx="367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350"/>
              <a:buFont typeface="Cambria"/>
              <a:buNone/>
            </a:pPr>
            <a:r>
              <a:rPr b="1" i="0" lang="en-US" sz="1350" u="none" cap="none" strike="noStrike">
                <a:solidFill>
                  <a:srgbClr val="16232E"/>
                </a:solidFill>
                <a:latin typeface="Cambria"/>
                <a:ea typeface="Cambria"/>
                <a:cs typeface="Cambria"/>
                <a:sym typeface="Cambria"/>
              </a:rPr>
              <a:t>Components of the death concept</a:t>
            </a:r>
            <a:endParaRPr b="0" i="0" sz="1350" u="none" cap="none" strike="noStrike">
              <a:solidFill>
                <a:schemeClr val="dk1"/>
              </a:solidFill>
              <a:latin typeface="Calibri"/>
              <a:ea typeface="Calibri"/>
              <a:cs typeface="Calibri"/>
              <a:sym typeface="Calibri"/>
            </a:endParaRPr>
          </a:p>
        </p:txBody>
      </p:sp>
      <p:sp>
        <p:nvSpPr>
          <p:cNvPr id="399" name="Google Shape;399;g3f8386f7cd2_2_268"/>
          <p:cNvSpPr/>
          <p:nvPr/>
        </p:nvSpPr>
        <p:spPr>
          <a:xfrm>
            <a:off x="9997783" y="2569464"/>
            <a:ext cx="1463100" cy="25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F706C"/>
              </a:buClr>
              <a:buSzPts val="950"/>
              <a:buFont typeface="Calibri"/>
              <a:buNone/>
            </a:pPr>
            <a:r>
              <a:rPr b="0" i="1" lang="en-US" sz="950" u="none" cap="none" strike="noStrike">
                <a:solidFill>
                  <a:srgbClr val="5F706C"/>
                </a:solidFill>
                <a:latin typeface="Calibri"/>
                <a:ea typeface="Calibri"/>
                <a:cs typeface="Calibri"/>
                <a:sym typeface="Calibri"/>
              </a:rPr>
              <a:t>Speece &amp; Brent, 1984</a:t>
            </a:r>
            <a:endParaRPr b="0" i="0" sz="950" u="none" cap="none" strike="noStrike">
              <a:solidFill>
                <a:schemeClr val="dk1"/>
              </a:solidFill>
              <a:latin typeface="Calibri"/>
              <a:ea typeface="Calibri"/>
              <a:cs typeface="Calibri"/>
              <a:sym typeface="Calibri"/>
            </a:endParaRPr>
          </a:p>
        </p:txBody>
      </p:sp>
      <p:sp>
        <p:nvSpPr>
          <p:cNvPr id="400" name="Google Shape;400;g3f8386f7cd2_2_268"/>
          <p:cNvSpPr/>
          <p:nvPr/>
        </p:nvSpPr>
        <p:spPr>
          <a:xfrm>
            <a:off x="6324736" y="2834640"/>
            <a:ext cx="5136300" cy="5487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  </a:t>
            </a:r>
            <a:r>
              <a:rPr b="0" i="0" lang="en-US" sz="1100" u="none" cap="none" strike="noStrike">
                <a:solidFill>
                  <a:srgbClr val="5F706C"/>
                </a:solidFill>
                <a:latin typeface="Calibri"/>
                <a:ea typeface="Calibri"/>
                <a:cs typeface="Calibri"/>
                <a:sym typeface="Calibri"/>
              </a:rPr>
              <a:t>Age-graded guides for 3–6, 7–12 and 13+, with two phrases prohibited outright: “fell asleep,” “went away.” Irreversibility, non-functionality, universality</a:t>
            </a:r>
            <a:endParaRPr b="0" i="0" sz="1100" u="none" cap="none" strike="noStrike">
              <a:solidFill>
                <a:srgbClr val="5F706C"/>
              </a:solidFill>
              <a:latin typeface="Calibri"/>
              <a:ea typeface="Calibri"/>
              <a:cs typeface="Calibri"/>
              <a:sym typeface="Calibri"/>
            </a:endParaRPr>
          </a:p>
        </p:txBody>
      </p:sp>
      <p:cxnSp>
        <p:nvCxnSpPr>
          <p:cNvPr id="401" name="Google Shape;401;g3f8386f7cd2_2_268"/>
          <p:cNvCxnSpPr/>
          <p:nvPr/>
        </p:nvCxnSpPr>
        <p:spPr>
          <a:xfrm>
            <a:off x="6324736" y="3419856"/>
            <a:ext cx="5136300" cy="0"/>
          </a:xfrm>
          <a:prstGeom prst="straightConnector1">
            <a:avLst/>
          </a:prstGeom>
          <a:noFill/>
          <a:ln cap="flat" cmpd="sng" w="9525">
            <a:solidFill>
              <a:srgbClr val="C6D1CC"/>
            </a:solidFill>
            <a:prstDash val="solid"/>
            <a:round/>
            <a:headEnd len="sm" w="sm" type="none"/>
            <a:tailEnd len="sm" w="sm" type="none"/>
          </a:ln>
        </p:spPr>
      </p:cxnSp>
      <p:sp>
        <p:nvSpPr>
          <p:cNvPr id="402" name="Google Shape;402;g3f8386f7cd2_2_268"/>
          <p:cNvSpPr/>
          <p:nvPr/>
        </p:nvSpPr>
        <p:spPr>
          <a:xfrm>
            <a:off x="731501" y="3511296"/>
            <a:ext cx="367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350"/>
              <a:buFont typeface="Cambria"/>
              <a:buNone/>
            </a:pPr>
            <a:r>
              <a:rPr b="1" i="0" lang="en-US" sz="1350" u="none" cap="none" strike="noStrike">
                <a:solidFill>
                  <a:srgbClr val="16232E"/>
                </a:solidFill>
                <a:latin typeface="Cambria"/>
                <a:ea typeface="Cambria"/>
                <a:cs typeface="Cambria"/>
                <a:sym typeface="Cambria"/>
              </a:rPr>
              <a:t>Dignity and being heard</a:t>
            </a:r>
            <a:endParaRPr b="0" i="0" sz="1350" u="none" cap="none" strike="noStrike">
              <a:solidFill>
                <a:schemeClr val="dk1"/>
              </a:solidFill>
              <a:latin typeface="Calibri"/>
              <a:ea typeface="Calibri"/>
              <a:cs typeface="Calibri"/>
              <a:sym typeface="Calibri"/>
            </a:endParaRPr>
          </a:p>
        </p:txBody>
      </p:sp>
      <p:sp>
        <p:nvSpPr>
          <p:cNvPr id="403" name="Google Shape;403;g3f8386f7cd2_2_268"/>
          <p:cNvSpPr/>
          <p:nvPr/>
        </p:nvSpPr>
        <p:spPr>
          <a:xfrm>
            <a:off x="4404548" y="3538728"/>
            <a:ext cx="1463100" cy="25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F706C"/>
              </a:buClr>
              <a:buSzPts val="950"/>
              <a:buFont typeface="Calibri"/>
              <a:buNone/>
            </a:pPr>
            <a:r>
              <a:rPr b="0" i="1" lang="en-US" sz="950" u="none" cap="none" strike="noStrike">
                <a:solidFill>
                  <a:srgbClr val="5F706C"/>
                </a:solidFill>
                <a:latin typeface="Calibri"/>
                <a:ea typeface="Calibri"/>
                <a:cs typeface="Calibri"/>
                <a:sym typeface="Calibri"/>
              </a:rPr>
              <a:t>Chochinov et al., 2005</a:t>
            </a:r>
            <a:endParaRPr b="0" i="0" sz="950" u="none" cap="none" strike="noStrike">
              <a:solidFill>
                <a:schemeClr val="dk1"/>
              </a:solidFill>
              <a:latin typeface="Calibri"/>
              <a:ea typeface="Calibri"/>
              <a:cs typeface="Calibri"/>
              <a:sym typeface="Calibri"/>
            </a:endParaRPr>
          </a:p>
        </p:txBody>
      </p:sp>
      <p:sp>
        <p:nvSpPr>
          <p:cNvPr id="404" name="Google Shape;404;g3f8386f7cd2_2_268"/>
          <p:cNvSpPr/>
          <p:nvPr/>
        </p:nvSpPr>
        <p:spPr>
          <a:xfrm>
            <a:off x="731500" y="3803904"/>
            <a:ext cx="5136300" cy="5487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  </a:t>
            </a:r>
            <a:r>
              <a:rPr b="0" i="0" lang="en-US" sz="1100" u="none" cap="none" strike="noStrike">
                <a:solidFill>
                  <a:srgbClr val="5F706C"/>
                </a:solidFill>
                <a:latin typeface="Calibri"/>
                <a:ea typeface="Calibri"/>
                <a:cs typeface="Calibri"/>
                <a:sym typeface="Calibri"/>
              </a:rPr>
              <a:t>Script cards after 四道人生, inspired by dignity-oriented work rather than implementing it</a:t>
            </a:r>
            <a:endParaRPr b="0" i="0" sz="1100" u="none" cap="none" strike="noStrike">
              <a:solidFill>
                <a:schemeClr val="dk1"/>
              </a:solidFill>
              <a:latin typeface="Calibri"/>
              <a:ea typeface="Calibri"/>
              <a:cs typeface="Calibri"/>
              <a:sym typeface="Calibri"/>
            </a:endParaRPr>
          </a:p>
        </p:txBody>
      </p:sp>
      <p:cxnSp>
        <p:nvCxnSpPr>
          <p:cNvPr id="405" name="Google Shape;405;g3f8386f7cd2_2_268"/>
          <p:cNvCxnSpPr/>
          <p:nvPr/>
        </p:nvCxnSpPr>
        <p:spPr>
          <a:xfrm>
            <a:off x="731500" y="4389120"/>
            <a:ext cx="5136300" cy="0"/>
          </a:xfrm>
          <a:prstGeom prst="straightConnector1">
            <a:avLst/>
          </a:prstGeom>
          <a:noFill/>
          <a:ln cap="flat" cmpd="sng" w="9525">
            <a:solidFill>
              <a:srgbClr val="C6D1CC"/>
            </a:solidFill>
            <a:prstDash val="solid"/>
            <a:round/>
            <a:headEnd len="sm" w="sm" type="none"/>
            <a:tailEnd len="sm" w="sm" type="none"/>
          </a:ln>
        </p:spPr>
      </p:cxnSp>
      <p:sp>
        <p:nvSpPr>
          <p:cNvPr id="406" name="Google Shape;406;g3f8386f7cd2_2_268"/>
          <p:cNvSpPr/>
          <p:nvPr/>
        </p:nvSpPr>
        <p:spPr>
          <a:xfrm>
            <a:off x="6324736" y="3511296"/>
            <a:ext cx="367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350"/>
              <a:buFont typeface="Cambria"/>
              <a:buNone/>
            </a:pPr>
            <a:r>
              <a:rPr b="1" i="0" lang="en-US" sz="1350" u="none" cap="none" strike="noStrike">
                <a:solidFill>
                  <a:srgbClr val="16232E"/>
                </a:solidFill>
                <a:latin typeface="Cambria"/>
                <a:ea typeface="Cambria"/>
                <a:cs typeface="Cambria"/>
                <a:sym typeface="Cambria"/>
              </a:rPr>
              <a:t>Caregiver stress process</a:t>
            </a:r>
            <a:endParaRPr b="0" i="0" sz="1350" u="none" cap="none" strike="noStrike">
              <a:solidFill>
                <a:schemeClr val="dk1"/>
              </a:solidFill>
              <a:latin typeface="Calibri"/>
              <a:ea typeface="Calibri"/>
              <a:cs typeface="Calibri"/>
              <a:sym typeface="Calibri"/>
            </a:endParaRPr>
          </a:p>
        </p:txBody>
      </p:sp>
      <p:sp>
        <p:nvSpPr>
          <p:cNvPr id="407" name="Google Shape;407;g3f8386f7cd2_2_268"/>
          <p:cNvSpPr/>
          <p:nvPr/>
        </p:nvSpPr>
        <p:spPr>
          <a:xfrm>
            <a:off x="9997783" y="3538728"/>
            <a:ext cx="1463100" cy="25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F706C"/>
              </a:buClr>
              <a:buSzPts val="950"/>
              <a:buFont typeface="Calibri"/>
              <a:buNone/>
            </a:pPr>
            <a:r>
              <a:rPr b="0" i="1" lang="en-US" sz="950" u="none" cap="none" strike="noStrike">
                <a:solidFill>
                  <a:srgbClr val="5F706C"/>
                </a:solidFill>
                <a:latin typeface="Calibri"/>
                <a:ea typeface="Calibri"/>
                <a:cs typeface="Calibri"/>
                <a:sym typeface="Calibri"/>
              </a:rPr>
              <a:t>Pearlin et al., 1990</a:t>
            </a:r>
            <a:endParaRPr b="0" i="0" sz="950" u="none" cap="none" strike="noStrike">
              <a:solidFill>
                <a:schemeClr val="dk1"/>
              </a:solidFill>
              <a:latin typeface="Calibri"/>
              <a:ea typeface="Calibri"/>
              <a:cs typeface="Calibri"/>
              <a:sym typeface="Calibri"/>
            </a:endParaRPr>
          </a:p>
        </p:txBody>
      </p:sp>
      <p:sp>
        <p:nvSpPr>
          <p:cNvPr id="408" name="Google Shape;408;g3f8386f7cd2_2_268"/>
          <p:cNvSpPr/>
          <p:nvPr/>
        </p:nvSpPr>
        <p:spPr>
          <a:xfrm>
            <a:off x="6324736" y="3803904"/>
            <a:ext cx="5136300" cy="5487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  </a:t>
            </a:r>
            <a:r>
              <a:rPr b="0" i="0" lang="en-US" sz="1100" u="none" cap="none" strike="noStrike">
                <a:solidFill>
                  <a:srgbClr val="5F706C"/>
                </a:solidFill>
                <a:latin typeface="Calibri"/>
                <a:ea typeface="Calibri"/>
                <a:cs typeface="Calibri"/>
                <a:sym typeface="Calibri"/>
              </a:rPr>
              <a:t>Ten-step checklist, care map, peer community — appraisal and resources, not the illness</a:t>
            </a:r>
            <a:endParaRPr b="0" i="0" sz="1100" u="none" cap="none" strike="noStrike">
              <a:solidFill>
                <a:schemeClr val="dk1"/>
              </a:solidFill>
              <a:latin typeface="Calibri"/>
              <a:ea typeface="Calibri"/>
              <a:cs typeface="Calibri"/>
              <a:sym typeface="Calibri"/>
            </a:endParaRPr>
          </a:p>
        </p:txBody>
      </p:sp>
      <p:cxnSp>
        <p:nvCxnSpPr>
          <p:cNvPr id="409" name="Google Shape;409;g3f8386f7cd2_2_268"/>
          <p:cNvCxnSpPr/>
          <p:nvPr/>
        </p:nvCxnSpPr>
        <p:spPr>
          <a:xfrm>
            <a:off x="6324736" y="4389120"/>
            <a:ext cx="5136300" cy="0"/>
          </a:xfrm>
          <a:prstGeom prst="straightConnector1">
            <a:avLst/>
          </a:prstGeom>
          <a:noFill/>
          <a:ln cap="flat" cmpd="sng" w="9525">
            <a:solidFill>
              <a:srgbClr val="C6D1CC"/>
            </a:solidFill>
            <a:prstDash val="solid"/>
            <a:round/>
            <a:headEnd len="sm" w="sm" type="none"/>
            <a:tailEnd len="sm" w="sm" type="none"/>
          </a:ln>
        </p:spPr>
      </p:cxnSp>
      <p:sp>
        <p:nvSpPr>
          <p:cNvPr id="410" name="Google Shape;410;g3f8386f7cd2_2_268"/>
          <p:cNvSpPr/>
          <p:nvPr/>
        </p:nvSpPr>
        <p:spPr>
          <a:xfrm>
            <a:off x="731501" y="4480560"/>
            <a:ext cx="367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350"/>
              <a:buFont typeface="Cambria"/>
              <a:buNone/>
            </a:pPr>
            <a:r>
              <a:rPr b="1" i="0" lang="en-US" sz="1350" u="none" cap="none" strike="noStrike">
                <a:solidFill>
                  <a:srgbClr val="16232E"/>
                </a:solidFill>
                <a:latin typeface="Cambria"/>
                <a:ea typeface="Cambria"/>
                <a:cs typeface="Cambria"/>
                <a:sym typeface="Cambria"/>
              </a:rPr>
              <a:t>Self-efficacy</a:t>
            </a:r>
            <a:endParaRPr b="0" i="0" sz="1350" u="none" cap="none" strike="noStrike">
              <a:solidFill>
                <a:schemeClr val="dk1"/>
              </a:solidFill>
              <a:latin typeface="Calibri"/>
              <a:ea typeface="Calibri"/>
              <a:cs typeface="Calibri"/>
              <a:sym typeface="Calibri"/>
            </a:endParaRPr>
          </a:p>
        </p:txBody>
      </p:sp>
      <p:sp>
        <p:nvSpPr>
          <p:cNvPr id="411" name="Google Shape;411;g3f8386f7cd2_2_268"/>
          <p:cNvSpPr/>
          <p:nvPr/>
        </p:nvSpPr>
        <p:spPr>
          <a:xfrm>
            <a:off x="4404548" y="4507992"/>
            <a:ext cx="1463100" cy="25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F706C"/>
              </a:buClr>
              <a:buSzPts val="950"/>
              <a:buFont typeface="Calibri"/>
              <a:buNone/>
            </a:pPr>
            <a:r>
              <a:rPr b="0" i="1" lang="en-US" sz="950" u="none" cap="none" strike="noStrike">
                <a:solidFill>
                  <a:srgbClr val="5F706C"/>
                </a:solidFill>
                <a:latin typeface="Calibri"/>
                <a:ea typeface="Calibri"/>
                <a:cs typeface="Calibri"/>
                <a:sym typeface="Calibri"/>
              </a:rPr>
              <a:t>Bandura, 1997</a:t>
            </a:r>
            <a:endParaRPr b="0" i="0" sz="950" u="none" cap="none" strike="noStrike">
              <a:solidFill>
                <a:schemeClr val="dk1"/>
              </a:solidFill>
              <a:latin typeface="Calibri"/>
              <a:ea typeface="Calibri"/>
              <a:cs typeface="Calibri"/>
              <a:sym typeface="Calibri"/>
            </a:endParaRPr>
          </a:p>
        </p:txBody>
      </p:sp>
      <p:sp>
        <p:nvSpPr>
          <p:cNvPr id="412" name="Google Shape;412;g3f8386f7cd2_2_268"/>
          <p:cNvSpPr/>
          <p:nvPr/>
        </p:nvSpPr>
        <p:spPr>
          <a:xfrm>
            <a:off x="731500" y="4773168"/>
            <a:ext cx="5136300" cy="5487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  </a:t>
            </a:r>
            <a:r>
              <a:rPr b="0" i="0" lang="en-US" sz="1100" u="none" cap="none" strike="noStrike">
                <a:solidFill>
                  <a:srgbClr val="5F706C"/>
                </a:solidFill>
                <a:latin typeface="Calibri"/>
                <a:ea typeface="Calibri"/>
                <a:cs typeface="Calibri"/>
                <a:sym typeface="Calibri"/>
              </a:rPr>
              <a:t>Verbatim openings rather than principles; Rehearse, deferred</a:t>
            </a:r>
            <a:endParaRPr b="0" i="0" sz="1100" u="none" cap="none" strike="noStrike">
              <a:solidFill>
                <a:schemeClr val="dk1"/>
              </a:solidFill>
              <a:latin typeface="Calibri"/>
              <a:ea typeface="Calibri"/>
              <a:cs typeface="Calibri"/>
              <a:sym typeface="Calibri"/>
            </a:endParaRPr>
          </a:p>
        </p:txBody>
      </p:sp>
      <p:sp>
        <p:nvSpPr>
          <p:cNvPr id="413" name="Google Shape;413;g3f8386f7cd2_2_268"/>
          <p:cNvSpPr/>
          <p:nvPr/>
        </p:nvSpPr>
        <p:spPr>
          <a:xfrm>
            <a:off x="6324736" y="4480560"/>
            <a:ext cx="367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350"/>
              <a:buFont typeface="Cambria"/>
              <a:buNone/>
            </a:pPr>
            <a:r>
              <a:rPr b="1" i="0" lang="en-US" sz="1350" u="none" cap="none" strike="noStrike">
                <a:solidFill>
                  <a:srgbClr val="16232E"/>
                </a:solidFill>
                <a:latin typeface="Cambria"/>
                <a:ea typeface="Cambria"/>
                <a:cs typeface="Cambria"/>
                <a:sym typeface="Cambria"/>
              </a:rPr>
              <a:t>Oscillation in grief</a:t>
            </a:r>
            <a:endParaRPr b="0" i="0" sz="1350" u="none" cap="none" strike="noStrike">
              <a:solidFill>
                <a:schemeClr val="dk1"/>
              </a:solidFill>
              <a:latin typeface="Calibri"/>
              <a:ea typeface="Calibri"/>
              <a:cs typeface="Calibri"/>
              <a:sym typeface="Calibri"/>
            </a:endParaRPr>
          </a:p>
        </p:txBody>
      </p:sp>
      <p:sp>
        <p:nvSpPr>
          <p:cNvPr id="414" name="Google Shape;414;g3f8386f7cd2_2_268"/>
          <p:cNvSpPr/>
          <p:nvPr/>
        </p:nvSpPr>
        <p:spPr>
          <a:xfrm>
            <a:off x="9997783" y="4507992"/>
            <a:ext cx="1463100" cy="25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F706C"/>
              </a:buClr>
              <a:buSzPts val="950"/>
              <a:buFont typeface="Calibri"/>
              <a:buNone/>
            </a:pPr>
            <a:r>
              <a:rPr b="0" i="1" lang="en-US" sz="950" u="none" cap="none" strike="noStrike">
                <a:solidFill>
                  <a:srgbClr val="5F706C"/>
                </a:solidFill>
                <a:latin typeface="Calibri"/>
                <a:ea typeface="Calibri"/>
                <a:cs typeface="Calibri"/>
                <a:sym typeface="Calibri"/>
              </a:rPr>
              <a:t>Stroebe &amp; Schut, 1999</a:t>
            </a:r>
            <a:endParaRPr b="0" i="0" sz="950" u="none" cap="none" strike="noStrike">
              <a:solidFill>
                <a:schemeClr val="dk1"/>
              </a:solidFill>
              <a:latin typeface="Calibri"/>
              <a:ea typeface="Calibri"/>
              <a:cs typeface="Calibri"/>
              <a:sym typeface="Calibri"/>
            </a:endParaRPr>
          </a:p>
        </p:txBody>
      </p:sp>
      <p:sp>
        <p:nvSpPr>
          <p:cNvPr id="415" name="Google Shape;415;g3f8386f7cd2_2_268"/>
          <p:cNvSpPr/>
          <p:nvPr/>
        </p:nvSpPr>
        <p:spPr>
          <a:xfrm>
            <a:off x="6324736" y="4773168"/>
            <a:ext cx="5136300" cy="5487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  </a:t>
            </a:r>
            <a:r>
              <a:rPr b="0" i="0" lang="en-US" sz="1100" u="none" cap="none" strike="noStrike">
                <a:solidFill>
                  <a:srgbClr val="5F706C"/>
                </a:solidFill>
                <a:latin typeface="Calibri"/>
                <a:ea typeface="Calibri"/>
                <a:cs typeface="Calibri"/>
                <a:sym typeface="Calibri"/>
              </a:rPr>
              <a:t>No streaks, no notifications, no re-engagement mechanics of any kind</a:t>
            </a:r>
            <a:endParaRPr b="0" i="0" sz="1100" u="none" cap="none" strike="noStrike">
              <a:solidFill>
                <a:schemeClr val="dk1"/>
              </a:solidFill>
              <a:latin typeface="Calibri"/>
              <a:ea typeface="Calibri"/>
              <a:cs typeface="Calibri"/>
              <a:sym typeface="Calibri"/>
            </a:endParaRPr>
          </a:p>
        </p:txBody>
      </p:sp>
      <p:sp>
        <p:nvSpPr>
          <p:cNvPr id="416" name="Google Shape;416;g3f8386f7cd2_2_268"/>
          <p:cNvSpPr/>
          <p:nvPr/>
        </p:nvSpPr>
        <p:spPr>
          <a:xfrm>
            <a:off x="731500" y="5504688"/>
            <a:ext cx="10728300" cy="567000"/>
          </a:xfrm>
          <a:prstGeom prst="roundRect">
            <a:avLst>
              <a:gd fmla="val 3500" name="adj"/>
            </a:avLst>
          </a:prstGeom>
          <a:solidFill>
            <a:srgbClr val="F4F7F4"/>
          </a:solidFill>
          <a:ln cap="flat" cmpd="sng" w="12700">
            <a:solidFill>
              <a:srgbClr val="F4F7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g3f8386f7cd2_2_268"/>
          <p:cNvSpPr/>
          <p:nvPr/>
        </p:nvSpPr>
        <p:spPr>
          <a:xfrm>
            <a:off x="1051532" y="5504688"/>
            <a:ext cx="100884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250"/>
              <a:buFont typeface="Calibri"/>
              <a:buNone/>
            </a:pPr>
            <a:r>
              <a:rPr b="1" i="0" lang="en-US" sz="1250" u="none" cap="none" strike="noStrike">
                <a:solidFill>
                  <a:srgbClr val="16232E"/>
                </a:solidFill>
                <a:latin typeface="Calibri"/>
                <a:ea typeface="Calibri"/>
                <a:cs typeface="Calibri"/>
                <a:sym typeface="Calibri"/>
              </a:rPr>
              <a:t>No feature is here because it was buildable.  </a:t>
            </a:r>
            <a:r>
              <a:rPr b="0" i="0" lang="en-US" sz="1250" u="none" cap="none" strike="noStrike">
                <a:solidFill>
                  <a:srgbClr val="5F706C"/>
                </a:solidFill>
                <a:latin typeface="Calibri"/>
                <a:ea typeface="Calibri"/>
                <a:cs typeface="Calibri"/>
                <a:sym typeface="Calibri"/>
              </a:rPr>
              <a:t>Each is here because a theory predicted it would help — which means each could turn out to be wrong.</a:t>
            </a:r>
            <a:endParaRPr b="0" i="0" sz="1250" u="none" cap="none" strike="noStrike">
              <a:solidFill>
                <a:schemeClr val="dk1"/>
              </a:solidFill>
              <a:latin typeface="Calibri"/>
              <a:ea typeface="Calibri"/>
              <a:cs typeface="Calibri"/>
              <a:sym typeface="Calibri"/>
            </a:endParaRPr>
          </a:p>
        </p:txBody>
      </p:sp>
      <p:sp>
        <p:nvSpPr>
          <p:cNvPr id="418" name="Google Shape;418;g3f8386f7cd2_2_268"/>
          <p:cNvSpPr/>
          <p:nvPr/>
        </p:nvSpPr>
        <p:spPr>
          <a:xfrm>
            <a:off x="731501" y="6281928"/>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900"/>
              <a:buFont typeface="Calibri"/>
              <a:buNone/>
            </a:pPr>
            <a:r>
              <a:rPr b="0" i="0" lang="en-US" sz="900" u="none" cap="none" strike="noStrike">
                <a:solidFill>
                  <a:srgbClr val="5F706C"/>
                </a:solidFill>
                <a:latin typeface="Calibri"/>
                <a:ea typeface="Calibri"/>
                <a:cs typeface="Calibri"/>
                <a:sym typeface="Calibri"/>
              </a:rPr>
              <a:t>Bridge · Group 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2E"/>
        </a:solidFill>
      </p:bgPr>
    </p:bg>
    <p:spTree>
      <p:nvGrpSpPr>
        <p:cNvPr id="423" name="Shape 423"/>
        <p:cNvGrpSpPr/>
        <p:nvPr/>
      </p:nvGrpSpPr>
      <p:grpSpPr>
        <a:xfrm>
          <a:off x="0" y="0"/>
          <a:ext cx="0" cy="0"/>
          <a:chOff x="0" y="0"/>
          <a:chExt cx="0" cy="0"/>
        </a:xfrm>
      </p:grpSpPr>
      <p:pic>
        <p:nvPicPr>
          <p:cNvPr descr="/home/claude/badge.png" id="424" name="Google Shape;424;g3f8386f7cd2_2_307"/>
          <p:cNvPicPr preferRelativeResize="0"/>
          <p:nvPr/>
        </p:nvPicPr>
        <p:blipFill rotWithShape="1">
          <a:blip r:embed="rId3">
            <a:alphaModFix/>
          </a:blip>
          <a:srcRect b="0" l="0" r="0" t="0"/>
          <a:stretch/>
        </p:blipFill>
        <p:spPr>
          <a:xfrm>
            <a:off x="10499775" y="685800"/>
            <a:ext cx="914376" cy="914376"/>
          </a:xfrm>
          <a:prstGeom prst="rect">
            <a:avLst/>
          </a:prstGeom>
          <a:noFill/>
          <a:ln>
            <a:noFill/>
          </a:ln>
        </p:spPr>
      </p:pic>
      <p:sp>
        <p:nvSpPr>
          <p:cNvPr id="425" name="Google Shape;425;g3f8386f7cd2_2_307"/>
          <p:cNvSpPr/>
          <p:nvPr/>
        </p:nvSpPr>
        <p:spPr>
          <a:xfrm>
            <a:off x="777219" y="2431850"/>
            <a:ext cx="2743200" cy="146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4A3C"/>
              </a:buClr>
              <a:buSzPts val="9600"/>
              <a:buFont typeface="Cambria"/>
              <a:buNone/>
            </a:pPr>
            <a:r>
              <a:rPr b="0" i="0" lang="en-US" sz="9600" u="none" cap="none" strike="noStrike">
                <a:solidFill>
                  <a:srgbClr val="B44A3C"/>
                </a:solidFill>
                <a:latin typeface="Cambria"/>
                <a:ea typeface="Cambria"/>
                <a:cs typeface="Cambria"/>
                <a:sym typeface="Cambria"/>
              </a:rPr>
              <a:t>03</a:t>
            </a:r>
            <a:endParaRPr b="0" i="0" sz="9600" u="none" cap="none" strike="noStrike">
              <a:solidFill>
                <a:schemeClr val="dk1"/>
              </a:solidFill>
              <a:latin typeface="Calibri"/>
              <a:ea typeface="Calibri"/>
              <a:cs typeface="Calibri"/>
              <a:sym typeface="Calibri"/>
            </a:endParaRPr>
          </a:p>
        </p:txBody>
      </p:sp>
      <p:sp>
        <p:nvSpPr>
          <p:cNvPr id="426" name="Google Shape;426;g3f8386f7cd2_2_307"/>
          <p:cNvSpPr/>
          <p:nvPr/>
        </p:nvSpPr>
        <p:spPr>
          <a:xfrm>
            <a:off x="777219" y="3803440"/>
            <a:ext cx="82293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9EDEA"/>
              </a:buClr>
              <a:buSzPts val="4400"/>
              <a:buFont typeface="Cambria"/>
              <a:buNone/>
            </a:pPr>
            <a:r>
              <a:rPr b="0" i="0" lang="en-US" sz="4400" u="none" cap="none" strike="noStrike">
                <a:solidFill>
                  <a:srgbClr val="E9EDEA"/>
                </a:solidFill>
                <a:latin typeface="Cambria"/>
                <a:ea typeface="Cambria"/>
                <a:cs typeface="Cambria"/>
                <a:sym typeface="Cambria"/>
              </a:rPr>
              <a:t>Study</a:t>
            </a:r>
            <a:endParaRPr b="0" i="0" sz="4400" u="none" cap="none" strike="noStrike">
              <a:solidFill>
                <a:schemeClr val="dk1"/>
              </a:solidFill>
              <a:latin typeface="Calibri"/>
              <a:ea typeface="Calibri"/>
              <a:cs typeface="Calibri"/>
              <a:sym typeface="Calibri"/>
            </a:endParaRPr>
          </a:p>
        </p:txBody>
      </p:sp>
      <p:sp>
        <p:nvSpPr>
          <p:cNvPr id="427" name="Google Shape;427;g3f8386f7cd2_2_307"/>
          <p:cNvSpPr/>
          <p:nvPr/>
        </p:nvSpPr>
        <p:spPr>
          <a:xfrm>
            <a:off x="777219" y="5609844"/>
            <a:ext cx="118800" cy="118800"/>
          </a:xfrm>
          <a:prstGeom prst="ellipse">
            <a:avLst/>
          </a:prstGeom>
          <a:solidFill>
            <a:srgbClr val="16232E"/>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g3f8386f7cd2_2_307"/>
          <p:cNvSpPr/>
          <p:nvPr/>
        </p:nvSpPr>
        <p:spPr>
          <a:xfrm>
            <a:off x="1088107" y="5577840"/>
            <a:ext cx="183000" cy="183000"/>
          </a:xfrm>
          <a:prstGeom prst="ellipse">
            <a:avLst/>
          </a:prstGeom>
          <a:solidFill>
            <a:srgbClr val="16232E"/>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g3f8386f7cd2_2_307"/>
          <p:cNvSpPr/>
          <p:nvPr/>
        </p:nvSpPr>
        <p:spPr>
          <a:xfrm>
            <a:off x="1398995" y="5532120"/>
            <a:ext cx="274200" cy="274200"/>
          </a:xfrm>
          <a:prstGeom prst="ellipse">
            <a:avLst/>
          </a:prstGeom>
          <a:solidFill>
            <a:srgbClr val="16232E"/>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g3f8386f7cd2_2_307"/>
          <p:cNvSpPr/>
          <p:nvPr/>
        </p:nvSpPr>
        <p:spPr>
          <a:xfrm>
            <a:off x="1709882" y="5577840"/>
            <a:ext cx="183000" cy="183000"/>
          </a:xfrm>
          <a:prstGeom prst="ellipse">
            <a:avLst/>
          </a:prstGeom>
          <a:solidFill>
            <a:srgbClr val="B44A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435" name="Shape 435"/>
        <p:cNvGrpSpPr/>
        <p:nvPr/>
      </p:nvGrpSpPr>
      <p:grpSpPr>
        <a:xfrm>
          <a:off x="0" y="0"/>
          <a:ext cx="0" cy="0"/>
          <a:chOff x="0" y="0"/>
          <a:chExt cx="0" cy="0"/>
        </a:xfrm>
      </p:grpSpPr>
      <p:sp>
        <p:nvSpPr>
          <p:cNvPr id="436" name="Google Shape;436;g3f8386f7cd2_2_318"/>
          <p:cNvSpPr/>
          <p:nvPr/>
        </p:nvSpPr>
        <p:spPr>
          <a:xfrm>
            <a:off x="731500" y="502920"/>
            <a:ext cx="10728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FORMATIVE STUDY  ·  §6</a:t>
            </a:r>
            <a:endParaRPr b="0" i="0" sz="1100" u="none" cap="none" strike="noStrike">
              <a:solidFill>
                <a:schemeClr val="dk1"/>
              </a:solidFill>
              <a:latin typeface="Calibri"/>
              <a:ea typeface="Calibri"/>
              <a:cs typeface="Calibri"/>
              <a:sym typeface="Calibri"/>
            </a:endParaRPr>
          </a:p>
        </p:txBody>
      </p:sp>
      <p:sp>
        <p:nvSpPr>
          <p:cNvPr id="437" name="Google Shape;437;g3f8386f7cd2_2_318"/>
          <p:cNvSpPr/>
          <p:nvPr/>
        </p:nvSpPr>
        <p:spPr>
          <a:xfrm>
            <a:off x="731500" y="850392"/>
            <a:ext cx="10728300" cy="548700"/>
          </a:xfrm>
          <a:prstGeom prst="rect">
            <a:avLst/>
          </a:prstGeom>
          <a:noFill/>
          <a:ln>
            <a:noFill/>
          </a:ln>
        </p:spPr>
        <p:txBody>
          <a:bodyPr anchorCtr="0" anchor="t" bIns="0" lIns="0" spcFirstLastPara="1" rIns="0" wrap="square" tIns="0">
            <a:noAutofit/>
          </a:bodyPr>
          <a:lstStyle/>
          <a:p>
            <a:pPr indent="0" lvl="0" marL="0" marR="0" rtl="0" algn="l">
              <a:lnSpc>
                <a:spcPct val="117647"/>
              </a:lnSpc>
              <a:spcBef>
                <a:spcPts val="0"/>
              </a:spcBef>
              <a:spcAft>
                <a:spcPts val="0"/>
              </a:spcAft>
              <a:buClr>
                <a:srgbClr val="16232E"/>
              </a:buClr>
              <a:buSzPts val="3400"/>
              <a:buFont typeface="Cambria"/>
              <a:buNone/>
            </a:pPr>
            <a:r>
              <a:rPr b="1" i="0" lang="en-US" sz="3400" u="none" cap="none" strike="noStrike">
                <a:solidFill>
                  <a:srgbClr val="16232E"/>
                </a:solidFill>
                <a:latin typeface="Cambria"/>
                <a:ea typeface="Cambria"/>
                <a:cs typeface="Cambria"/>
                <a:sym typeface="Cambria"/>
              </a:rPr>
              <a:t>First, We Let Older Adults Improve the Platform</a:t>
            </a:r>
            <a:endParaRPr b="0" i="0" sz="3400" u="none" cap="none" strike="noStrike">
              <a:solidFill>
                <a:schemeClr val="dk1"/>
              </a:solidFill>
              <a:latin typeface="Calibri"/>
              <a:ea typeface="Calibri"/>
              <a:cs typeface="Calibri"/>
              <a:sym typeface="Calibri"/>
            </a:endParaRPr>
          </a:p>
        </p:txBody>
      </p:sp>
      <p:sp>
        <p:nvSpPr>
          <p:cNvPr id="438" name="Google Shape;438;g3f8386f7cd2_2_318"/>
          <p:cNvSpPr/>
          <p:nvPr/>
        </p:nvSpPr>
        <p:spPr>
          <a:xfrm>
            <a:off x="731500" y="1499616"/>
            <a:ext cx="10241100" cy="548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1" lang="en-US" sz="1500" u="none" cap="none" strike="noStrike">
                <a:solidFill>
                  <a:schemeClr val="dk1"/>
                </a:solidFill>
                <a:latin typeface="Arial"/>
                <a:ea typeface="Arial"/>
                <a:cs typeface="Arial"/>
                <a:sym typeface="Arial"/>
              </a:rPr>
              <a:t>Before testing whether Bridge works, we must make sure we designed the right thing.</a:t>
            </a:r>
            <a:endParaRPr b="0" i="1" sz="1500" u="none" cap="none" strike="noStrike">
              <a:solidFill>
                <a:schemeClr val="dk1"/>
              </a:solidFill>
              <a:latin typeface="Arial"/>
              <a:ea typeface="Arial"/>
              <a:cs typeface="Arial"/>
              <a:sym typeface="Arial"/>
            </a:endParaRPr>
          </a:p>
          <a:p>
            <a:pPr indent="0" lvl="0" marL="0" marR="0" rtl="0" algn="l">
              <a:lnSpc>
                <a:spcPct val="142857"/>
              </a:lnSpc>
              <a:spcBef>
                <a:spcPts val="1200"/>
              </a:spcBef>
              <a:spcAft>
                <a:spcPts val="0"/>
              </a:spcAft>
              <a:buClr>
                <a:srgbClr val="5F706C"/>
              </a:buClr>
              <a:buSzPts val="1400"/>
              <a:buFont typeface="Calibri"/>
              <a:buNone/>
            </a:pPr>
            <a:r>
              <a:t/>
            </a:r>
            <a:endParaRPr b="0" i="0" sz="1400" u="none" cap="none" strike="noStrike">
              <a:solidFill>
                <a:srgbClr val="5F706C"/>
              </a:solidFill>
              <a:latin typeface="Calibri"/>
              <a:ea typeface="Calibri"/>
              <a:cs typeface="Calibri"/>
              <a:sym typeface="Calibri"/>
            </a:endParaRPr>
          </a:p>
        </p:txBody>
      </p:sp>
      <p:sp>
        <p:nvSpPr>
          <p:cNvPr id="439" name="Google Shape;439;g3f8386f7cd2_2_318"/>
          <p:cNvSpPr/>
          <p:nvPr/>
        </p:nvSpPr>
        <p:spPr>
          <a:xfrm>
            <a:off x="731500" y="2212848"/>
            <a:ext cx="5136300" cy="2011800"/>
          </a:xfrm>
          <a:prstGeom prst="roundRect">
            <a:avLst>
              <a:gd fmla="val 3500" name="adj"/>
            </a:avLst>
          </a:prstGeom>
          <a:solidFill>
            <a:srgbClr val="F4F7F4"/>
          </a:solidFill>
          <a:ln cap="flat" cmpd="sng" w="9525">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g3f8386f7cd2_2_318"/>
          <p:cNvSpPr/>
          <p:nvPr/>
        </p:nvSpPr>
        <p:spPr>
          <a:xfrm>
            <a:off x="1051532" y="2212853"/>
            <a:ext cx="18288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mbria"/>
              <a:buNone/>
            </a:pPr>
            <a:r>
              <a:rPr b="1" i="0" lang="en-US" sz="1100" u="none" cap="none" strike="noStrike">
                <a:solidFill>
                  <a:srgbClr val="B44A3C"/>
                </a:solidFill>
                <a:latin typeface="Cambria"/>
                <a:ea typeface="Cambria"/>
                <a:cs typeface="Cambria"/>
                <a:sym typeface="Cambria"/>
              </a:rPr>
              <a:t>WHO WE”LL HEAR FROM</a:t>
            </a:r>
            <a:endParaRPr b="0" i="0" sz="1100" u="none" cap="none" strike="noStrike">
              <a:solidFill>
                <a:schemeClr val="dk1"/>
              </a:solidFill>
              <a:latin typeface="Calibri"/>
              <a:ea typeface="Calibri"/>
              <a:cs typeface="Calibri"/>
              <a:sym typeface="Calibri"/>
            </a:endParaRPr>
          </a:p>
        </p:txBody>
      </p:sp>
      <p:sp>
        <p:nvSpPr>
          <p:cNvPr id="441" name="Google Shape;441;g3f8386f7cd2_2_318"/>
          <p:cNvSpPr/>
          <p:nvPr/>
        </p:nvSpPr>
        <p:spPr>
          <a:xfrm>
            <a:off x="1051525" y="2546263"/>
            <a:ext cx="4496100" cy="1568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0" lang="en-US" sz="1100" u="none" cap="none" strike="noStrike">
                <a:solidFill>
                  <a:schemeClr val="accent3"/>
                </a:solidFill>
                <a:latin typeface="Calibri"/>
                <a:ea typeface="Calibri"/>
                <a:cs typeface="Calibri"/>
                <a:sym typeface="Calibri"/>
              </a:rPr>
              <a:t>20–24 older adults</a:t>
            </a:r>
            <a:br>
              <a:rPr b="1" i="0" lang="en-US" sz="1100" u="none" cap="none" strike="noStrike">
                <a:solidFill>
                  <a:schemeClr val="accent3"/>
                </a:solidFill>
                <a:latin typeface="Calibri"/>
                <a:ea typeface="Calibri"/>
                <a:cs typeface="Calibri"/>
                <a:sym typeface="Calibri"/>
              </a:rPr>
            </a:br>
            <a:r>
              <a:rPr b="0" i="0" lang="en-US" sz="1100" u="none" cap="none" strike="noStrike">
                <a:solidFill>
                  <a:schemeClr val="accent3"/>
                </a:solidFill>
                <a:latin typeface="Calibri"/>
                <a:ea typeface="Calibri"/>
                <a:cs typeface="Calibri"/>
                <a:sym typeface="Calibri"/>
              </a:rPr>
              <a:t>At least half from rural communities</a:t>
            </a:r>
            <a:endParaRPr b="0" i="0" sz="1100" u="none" cap="none" strike="noStrike">
              <a:solidFill>
                <a:schemeClr val="accent3"/>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US" sz="1100" u="none" cap="none" strike="noStrike">
                <a:solidFill>
                  <a:schemeClr val="accent3"/>
                </a:solidFill>
                <a:latin typeface="Calibri"/>
                <a:ea typeface="Calibri"/>
                <a:cs typeface="Calibri"/>
                <a:sym typeface="Calibri"/>
              </a:rPr>
              <a:t>12–16 family caregivers</a:t>
            </a:r>
            <a:br>
              <a:rPr b="1" i="0" lang="en-US" sz="1100" u="none" cap="none" strike="noStrike">
                <a:solidFill>
                  <a:schemeClr val="accent3"/>
                </a:solidFill>
                <a:latin typeface="Calibri"/>
                <a:ea typeface="Calibri"/>
                <a:cs typeface="Calibri"/>
                <a:sym typeface="Calibri"/>
              </a:rPr>
            </a:br>
            <a:r>
              <a:rPr b="0" i="0" lang="en-US" sz="1100" u="none" cap="none" strike="noStrike">
                <a:solidFill>
                  <a:schemeClr val="accent3"/>
                </a:solidFill>
                <a:latin typeface="Calibri"/>
                <a:ea typeface="Calibri"/>
                <a:cs typeface="Calibri"/>
                <a:sym typeface="Calibri"/>
              </a:rPr>
              <a:t>The platform’s main intended users</a:t>
            </a:r>
            <a:endParaRPr b="0" i="0" sz="1100" u="none" cap="none" strike="noStrike">
              <a:solidFill>
                <a:schemeClr val="accent3"/>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US" sz="1100" u="none" cap="none" strike="noStrike">
                <a:solidFill>
                  <a:schemeClr val="accent3"/>
                </a:solidFill>
                <a:latin typeface="Calibri"/>
                <a:ea typeface="Calibri"/>
                <a:cs typeface="Calibri"/>
                <a:sym typeface="Calibri"/>
              </a:rPr>
              <a:t>8–10 bereaved relatives</a:t>
            </a:r>
            <a:br>
              <a:rPr b="1" i="0" lang="en-US" sz="1100" u="none" cap="none" strike="noStrike">
                <a:solidFill>
                  <a:schemeClr val="accent3"/>
                </a:solidFill>
                <a:latin typeface="Calibri"/>
                <a:ea typeface="Calibri"/>
                <a:cs typeface="Calibri"/>
                <a:sym typeface="Calibri"/>
              </a:rPr>
            </a:br>
            <a:r>
              <a:rPr b="0" i="0" lang="en-US" sz="1100" u="none" cap="none" strike="noStrike">
                <a:solidFill>
                  <a:schemeClr val="accent3"/>
                </a:solidFill>
                <a:latin typeface="Calibri"/>
                <a:ea typeface="Calibri"/>
                <a:cs typeface="Calibri"/>
                <a:sym typeface="Calibri"/>
              </a:rPr>
              <a:t>At least six months after their loss</a:t>
            </a:r>
            <a:endParaRPr b="0" i="0" sz="1100" u="none" cap="none" strike="noStrike">
              <a:solidFill>
                <a:schemeClr val="accent3"/>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US" sz="1100" u="none" cap="none" strike="noStrike">
                <a:solidFill>
                  <a:schemeClr val="accent3"/>
                </a:solidFill>
                <a:latin typeface="Calibri"/>
                <a:ea typeface="Calibri"/>
                <a:cs typeface="Calibri"/>
                <a:sym typeface="Calibri"/>
              </a:rPr>
              <a:t>6–8 professionals</a:t>
            </a:r>
            <a:br>
              <a:rPr b="1" i="0" lang="en-US" sz="1100" u="none" cap="none" strike="noStrike">
                <a:solidFill>
                  <a:schemeClr val="accent3"/>
                </a:solidFill>
                <a:latin typeface="Calibri"/>
                <a:ea typeface="Calibri"/>
                <a:cs typeface="Calibri"/>
                <a:sym typeface="Calibri"/>
              </a:rPr>
            </a:br>
            <a:r>
              <a:rPr b="0" i="0" lang="en-US" sz="1100" u="none" cap="none" strike="noStrike">
                <a:solidFill>
                  <a:schemeClr val="accent3"/>
                </a:solidFill>
                <a:latin typeface="Calibri"/>
                <a:ea typeface="Calibri"/>
                <a:cs typeface="Calibri"/>
                <a:sym typeface="Calibri"/>
              </a:rPr>
              <a:t>Clinicians, psychologists, and care specialists</a:t>
            </a:r>
            <a:endParaRPr b="0" i="0" sz="1100" u="none" cap="none" strike="noStrike">
              <a:solidFill>
                <a:schemeClr val="accent3"/>
              </a:solidFill>
              <a:latin typeface="Calibri"/>
              <a:ea typeface="Calibri"/>
              <a:cs typeface="Calibri"/>
              <a:sym typeface="Calibri"/>
            </a:endParaRPr>
          </a:p>
          <a:p>
            <a:pPr indent="0" lvl="0" marL="0" marR="0" rtl="0" algn="l">
              <a:lnSpc>
                <a:spcPct val="134782"/>
              </a:lnSpc>
              <a:spcBef>
                <a:spcPts val="0"/>
              </a:spcBef>
              <a:spcAft>
                <a:spcPts val="0"/>
              </a:spcAft>
              <a:buClr>
                <a:srgbClr val="5F706C"/>
              </a:buClr>
              <a:buSzPts val="1150"/>
              <a:buFont typeface="Calibri"/>
              <a:buNone/>
            </a:pPr>
            <a:r>
              <a:t/>
            </a:r>
            <a:endParaRPr b="0" i="0" sz="1150" u="none" cap="none" strike="noStrike">
              <a:solidFill>
                <a:srgbClr val="5F706C"/>
              </a:solidFill>
              <a:latin typeface="Calibri"/>
              <a:ea typeface="Calibri"/>
              <a:cs typeface="Calibri"/>
              <a:sym typeface="Calibri"/>
            </a:endParaRPr>
          </a:p>
        </p:txBody>
      </p:sp>
      <p:sp>
        <p:nvSpPr>
          <p:cNvPr id="442" name="Google Shape;442;g3f8386f7cd2_2_318"/>
          <p:cNvSpPr/>
          <p:nvPr/>
        </p:nvSpPr>
        <p:spPr>
          <a:xfrm>
            <a:off x="6324736" y="2212848"/>
            <a:ext cx="5136300" cy="2011800"/>
          </a:xfrm>
          <a:prstGeom prst="roundRect">
            <a:avLst>
              <a:gd fmla="val 3500" name="adj"/>
            </a:avLst>
          </a:prstGeom>
          <a:solidFill>
            <a:srgbClr val="F4F7F4"/>
          </a:solidFill>
          <a:ln cap="flat" cmpd="sng" w="9525">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g3f8386f7cd2_2_318"/>
          <p:cNvSpPr/>
          <p:nvPr/>
        </p:nvSpPr>
        <p:spPr>
          <a:xfrm>
            <a:off x="6644818" y="2331878"/>
            <a:ext cx="3108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mbria"/>
              <a:buNone/>
            </a:pPr>
            <a:r>
              <a:rPr b="1" i="0" lang="en-US" sz="1100" u="none" cap="none" strike="noStrike">
                <a:solidFill>
                  <a:srgbClr val="B44A3C"/>
                </a:solidFill>
                <a:latin typeface="Cambria"/>
                <a:ea typeface="Cambria"/>
                <a:cs typeface="Cambria"/>
                <a:sym typeface="Cambria"/>
              </a:rPr>
              <a:t>WHAT PARTICIPANTS WILL DO</a:t>
            </a:r>
            <a:endParaRPr b="0" i="0" sz="1100" u="none" cap="none" strike="noStrike">
              <a:solidFill>
                <a:schemeClr val="dk1"/>
              </a:solidFill>
              <a:latin typeface="Calibri"/>
              <a:ea typeface="Calibri"/>
              <a:cs typeface="Calibri"/>
              <a:sym typeface="Calibri"/>
            </a:endParaRPr>
          </a:p>
        </p:txBody>
      </p:sp>
      <p:sp>
        <p:nvSpPr>
          <p:cNvPr id="444" name="Google Shape;444;g3f8386f7cd2_2_318"/>
          <p:cNvSpPr/>
          <p:nvPr/>
        </p:nvSpPr>
        <p:spPr>
          <a:xfrm>
            <a:off x="6644818" y="2624363"/>
            <a:ext cx="4496100" cy="1371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0" lang="en-US" sz="1100" u="none" cap="none" strike="noStrike">
                <a:solidFill>
                  <a:schemeClr val="accent3"/>
                </a:solidFill>
                <a:latin typeface="Calibri"/>
                <a:ea typeface="Calibri"/>
                <a:cs typeface="Calibri"/>
                <a:sym typeface="Calibri"/>
              </a:rPr>
              <a:t>Individual interview</a:t>
            </a:r>
            <a:br>
              <a:rPr b="1" i="0" lang="en-US" sz="1100" u="none" cap="none" strike="noStrike">
                <a:solidFill>
                  <a:schemeClr val="accent3"/>
                </a:solidFill>
                <a:latin typeface="Calibri"/>
                <a:ea typeface="Calibri"/>
                <a:cs typeface="Calibri"/>
                <a:sym typeface="Calibri"/>
              </a:rPr>
            </a:br>
            <a:r>
              <a:rPr b="0" i="0" lang="en-US" sz="1100" u="none" cap="none" strike="noStrike">
                <a:solidFill>
                  <a:schemeClr val="accent3"/>
                </a:solidFill>
                <a:latin typeface="Calibri"/>
                <a:ea typeface="Calibri"/>
                <a:cs typeface="Calibri"/>
                <a:sym typeface="Calibri"/>
              </a:rPr>
              <a:t>Tell us about their real experiences before seeing the app</a:t>
            </a:r>
            <a:endParaRPr b="0" i="0" sz="1100" u="none" cap="none" strike="noStrike">
              <a:solidFill>
                <a:schemeClr val="accent3"/>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US" sz="1100" u="none" cap="none" strike="noStrike">
                <a:solidFill>
                  <a:schemeClr val="accent3"/>
                </a:solidFill>
                <a:latin typeface="Calibri"/>
                <a:ea typeface="Calibri"/>
                <a:cs typeface="Calibri"/>
                <a:sym typeface="Calibri"/>
              </a:rPr>
              <a:t>Sort the features</a:t>
            </a:r>
            <a:br>
              <a:rPr b="1" i="0" lang="en-US" sz="1100" u="none" cap="none" strike="noStrike">
                <a:solidFill>
                  <a:schemeClr val="accent3"/>
                </a:solidFill>
                <a:latin typeface="Calibri"/>
                <a:ea typeface="Calibri"/>
                <a:cs typeface="Calibri"/>
                <a:sym typeface="Calibri"/>
              </a:rPr>
            </a:br>
            <a:r>
              <a:rPr b="0" i="0" lang="en-US" sz="1100" u="none" cap="none" strike="noStrike">
                <a:solidFill>
                  <a:schemeClr val="accent3"/>
                </a:solidFill>
                <a:latin typeface="Calibri"/>
                <a:ea typeface="Calibri"/>
                <a:cs typeface="Calibri"/>
                <a:sym typeface="Calibri"/>
              </a:rPr>
              <a:t>Label each one as necessary, useless, or harmful</a:t>
            </a:r>
            <a:endParaRPr b="0" i="0" sz="1100" u="none" cap="none" strike="noStrike">
              <a:solidFill>
                <a:schemeClr val="accent3"/>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US" sz="1100" u="none" cap="none" strike="noStrike">
                <a:solidFill>
                  <a:schemeClr val="accent3"/>
                </a:solidFill>
                <a:latin typeface="Calibri"/>
                <a:ea typeface="Calibri"/>
                <a:cs typeface="Calibri"/>
                <a:sym typeface="Calibri"/>
              </a:rPr>
              <a:t>Test the prototype</a:t>
            </a:r>
            <a:br>
              <a:rPr b="1" i="0" lang="en-US" sz="1100" u="none" cap="none" strike="noStrike">
                <a:solidFill>
                  <a:schemeClr val="accent3"/>
                </a:solidFill>
                <a:latin typeface="Calibri"/>
                <a:ea typeface="Calibri"/>
                <a:cs typeface="Calibri"/>
                <a:sym typeface="Calibri"/>
              </a:rPr>
            </a:br>
            <a:r>
              <a:rPr b="0" i="0" lang="en-US" sz="1100" u="none" cap="none" strike="noStrike">
                <a:solidFill>
                  <a:schemeClr val="accent3"/>
                </a:solidFill>
                <a:latin typeface="Calibri"/>
                <a:ea typeface="Calibri"/>
                <a:cs typeface="Calibri"/>
                <a:sym typeface="Calibri"/>
              </a:rPr>
              <a:t>Use it on their own phone while explaining their thoughts</a:t>
            </a:r>
            <a:endParaRPr b="0" i="0" sz="1100" u="none" cap="none" strike="noStrike">
              <a:solidFill>
                <a:schemeClr val="accent3"/>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en-US" sz="1100" u="none" cap="none" strike="noStrike">
                <a:solidFill>
                  <a:schemeClr val="accent3"/>
                </a:solidFill>
                <a:latin typeface="Calibri"/>
                <a:ea typeface="Calibri"/>
                <a:cs typeface="Calibri"/>
                <a:sym typeface="Calibri"/>
              </a:rPr>
              <a:t>Older-adult discussion groups</a:t>
            </a:r>
            <a:br>
              <a:rPr b="1" i="0" lang="en-US" sz="1100" u="none" cap="none" strike="noStrike">
                <a:solidFill>
                  <a:schemeClr val="accent3"/>
                </a:solidFill>
                <a:latin typeface="Calibri"/>
                <a:ea typeface="Calibri"/>
                <a:cs typeface="Calibri"/>
                <a:sym typeface="Calibri"/>
              </a:rPr>
            </a:br>
            <a:r>
              <a:rPr b="0" i="0" lang="en-US" sz="1100" u="none" cap="none" strike="noStrike">
                <a:solidFill>
                  <a:schemeClr val="accent3"/>
                </a:solidFill>
                <a:latin typeface="Calibri"/>
                <a:ea typeface="Calibri"/>
                <a:cs typeface="Calibri"/>
                <a:sym typeface="Calibri"/>
              </a:rPr>
              <a:t>Show us what feels comfortable to discuss with others</a:t>
            </a:r>
            <a:endParaRPr b="0" i="0" sz="1100" u="none" cap="none" strike="noStrike">
              <a:solidFill>
                <a:schemeClr val="accent3"/>
              </a:solidFill>
              <a:latin typeface="Calibri"/>
              <a:ea typeface="Calibri"/>
              <a:cs typeface="Calibri"/>
              <a:sym typeface="Calibri"/>
            </a:endParaRPr>
          </a:p>
          <a:p>
            <a:pPr indent="0" lvl="0" marL="0" marR="0" rtl="0" algn="l">
              <a:lnSpc>
                <a:spcPct val="134782"/>
              </a:lnSpc>
              <a:spcBef>
                <a:spcPts val="0"/>
              </a:spcBef>
              <a:spcAft>
                <a:spcPts val="0"/>
              </a:spcAft>
              <a:buClr>
                <a:srgbClr val="5F706C"/>
              </a:buClr>
              <a:buSzPts val="1150"/>
              <a:buFont typeface="Calibri"/>
              <a:buNone/>
            </a:pPr>
            <a:r>
              <a:t/>
            </a:r>
            <a:endParaRPr b="0" i="0" sz="1150" u="none" cap="none" strike="noStrike">
              <a:solidFill>
                <a:schemeClr val="accent3"/>
              </a:solidFill>
              <a:latin typeface="Calibri"/>
              <a:ea typeface="Calibri"/>
              <a:cs typeface="Calibri"/>
              <a:sym typeface="Calibri"/>
            </a:endParaRPr>
          </a:p>
        </p:txBody>
      </p:sp>
      <p:sp>
        <p:nvSpPr>
          <p:cNvPr id="445" name="Google Shape;445;g3f8386f7cd2_2_318"/>
          <p:cNvSpPr/>
          <p:nvPr/>
        </p:nvSpPr>
        <p:spPr>
          <a:xfrm>
            <a:off x="731500" y="4443984"/>
            <a:ext cx="10728300" cy="1188600"/>
          </a:xfrm>
          <a:prstGeom prst="roundRect">
            <a:avLst>
              <a:gd fmla="val 3500" name="adj"/>
            </a:avLst>
          </a:prstGeom>
          <a:solidFill>
            <a:srgbClr val="16232E"/>
          </a:solidFill>
          <a:ln cap="flat" cmpd="sng" w="12700">
            <a:solidFill>
              <a:srgbClr val="16232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g3f8386f7cd2_2_318"/>
          <p:cNvSpPr/>
          <p:nvPr/>
        </p:nvSpPr>
        <p:spPr>
          <a:xfrm>
            <a:off x="1051532" y="4572000"/>
            <a:ext cx="100884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000"/>
              <a:buFont typeface="Calibri"/>
              <a:buNone/>
            </a:pPr>
            <a:r>
              <a:rPr b="1" i="0" lang="en-US" sz="1000" u="none" cap="none" strike="noStrike">
                <a:solidFill>
                  <a:srgbClr val="B44A3C"/>
                </a:solidFill>
                <a:latin typeface="Calibri"/>
                <a:ea typeface="Calibri"/>
                <a:cs typeface="Calibri"/>
                <a:sym typeface="Calibri"/>
              </a:rPr>
              <a:t>HOW THEIR FEEDBACK WILL CHANGE BRIDGE:</a:t>
            </a:r>
            <a:endParaRPr b="0" i="0" sz="1000" u="none" cap="none" strike="noStrike">
              <a:solidFill>
                <a:schemeClr val="dk1"/>
              </a:solidFill>
              <a:latin typeface="Calibri"/>
              <a:ea typeface="Calibri"/>
              <a:cs typeface="Calibri"/>
              <a:sym typeface="Calibri"/>
            </a:endParaRPr>
          </a:p>
        </p:txBody>
      </p:sp>
      <p:sp>
        <p:nvSpPr>
          <p:cNvPr id="447" name="Google Shape;447;g3f8386f7cd2_2_318"/>
          <p:cNvSpPr/>
          <p:nvPr/>
        </p:nvSpPr>
        <p:spPr>
          <a:xfrm>
            <a:off x="1051532" y="4864608"/>
            <a:ext cx="10088400" cy="658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US" sz="1500" u="none" cap="none" strike="noStrike">
                <a:solidFill>
                  <a:schemeClr val="lt2"/>
                </a:solidFill>
                <a:latin typeface="Calibri"/>
                <a:ea typeface="Calibri"/>
                <a:cs typeface="Calibri"/>
                <a:sym typeface="Calibri"/>
              </a:rPr>
              <a:t>Their language preferences will rewrite our wording. Their views on disclosure will change the conversation guide. Their technology needs will change the interface. If three or more participants call a feature harmful, we will remove it.</a:t>
            </a:r>
            <a:endParaRPr b="0" i="0" sz="1500" u="none" cap="none" strike="noStrike">
              <a:solidFill>
                <a:schemeClr val="lt2"/>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38461"/>
              </a:lnSpc>
              <a:spcBef>
                <a:spcPts val="0"/>
              </a:spcBef>
              <a:spcAft>
                <a:spcPts val="0"/>
              </a:spcAft>
              <a:buClr>
                <a:srgbClr val="F4F7F4"/>
              </a:buClr>
              <a:buSzPts val="1300"/>
              <a:buFont typeface="Calibri"/>
              <a:buNone/>
            </a:pPr>
            <a:r>
              <a:t/>
            </a:r>
            <a:endParaRPr b="0" i="0" sz="1300" u="none" cap="none" strike="noStrike">
              <a:solidFill>
                <a:srgbClr val="F4F7F4"/>
              </a:solidFill>
              <a:latin typeface="Calibri"/>
              <a:ea typeface="Calibri"/>
              <a:cs typeface="Calibri"/>
              <a:sym typeface="Calibri"/>
            </a:endParaRPr>
          </a:p>
        </p:txBody>
      </p:sp>
      <p:sp>
        <p:nvSpPr>
          <p:cNvPr id="448" name="Google Shape;448;g3f8386f7cd2_2_318"/>
          <p:cNvSpPr/>
          <p:nvPr/>
        </p:nvSpPr>
        <p:spPr>
          <a:xfrm>
            <a:off x="731500" y="5760720"/>
            <a:ext cx="10728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500"/>
              <a:buFont typeface="Cambria"/>
              <a:buNone/>
            </a:pPr>
            <a:r>
              <a:rPr b="0" i="1" lang="en-US" sz="1500" u="none" cap="none" strike="noStrike">
                <a:solidFill>
                  <a:srgbClr val="16232E"/>
                </a:solidFill>
                <a:latin typeface="Cambria"/>
                <a:ea typeface="Cambria"/>
                <a:cs typeface="Cambria"/>
                <a:sym typeface="Cambria"/>
              </a:rPr>
              <a:t>If participants cannot change the product, their involvement is only decoration.</a:t>
            </a:r>
            <a:endParaRPr b="0" i="0" sz="1500" u="none" cap="none" strike="noStrike">
              <a:solidFill>
                <a:schemeClr val="dk1"/>
              </a:solidFill>
              <a:latin typeface="Calibri"/>
              <a:ea typeface="Calibri"/>
              <a:cs typeface="Calibri"/>
              <a:sym typeface="Calibri"/>
            </a:endParaRPr>
          </a:p>
        </p:txBody>
      </p:sp>
      <p:sp>
        <p:nvSpPr>
          <p:cNvPr id="449" name="Google Shape;449;g3f8386f7cd2_2_318"/>
          <p:cNvSpPr/>
          <p:nvPr/>
        </p:nvSpPr>
        <p:spPr>
          <a:xfrm>
            <a:off x="731501" y="6281928"/>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900"/>
              <a:buFont typeface="Calibri"/>
              <a:buNone/>
            </a:pPr>
            <a:r>
              <a:rPr b="0" i="0" lang="en-US" sz="900" u="none" cap="none" strike="noStrike">
                <a:solidFill>
                  <a:srgbClr val="5F706C"/>
                </a:solidFill>
                <a:latin typeface="Calibri"/>
                <a:ea typeface="Calibri"/>
                <a:cs typeface="Calibri"/>
                <a:sym typeface="Calibri"/>
              </a:rPr>
              <a:t>Bridge · Group 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454" name="Shape 454"/>
        <p:cNvGrpSpPr/>
        <p:nvPr/>
      </p:nvGrpSpPr>
      <p:grpSpPr>
        <a:xfrm>
          <a:off x="0" y="0"/>
          <a:ext cx="0" cy="0"/>
          <a:chOff x="0" y="0"/>
          <a:chExt cx="0" cy="0"/>
        </a:xfrm>
      </p:grpSpPr>
      <p:sp>
        <p:nvSpPr>
          <p:cNvPr id="455" name="Google Shape;455;g3f8386f7cd2_2_336"/>
          <p:cNvSpPr/>
          <p:nvPr/>
        </p:nvSpPr>
        <p:spPr>
          <a:xfrm>
            <a:off x="731500" y="502920"/>
            <a:ext cx="10728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EVALUATION  ·  拟议的评估框架</a:t>
            </a:r>
            <a:endParaRPr b="0" i="0" sz="1100" u="none" cap="none" strike="noStrike">
              <a:solidFill>
                <a:schemeClr val="dk1"/>
              </a:solidFill>
              <a:latin typeface="Calibri"/>
              <a:ea typeface="Calibri"/>
              <a:cs typeface="Calibri"/>
              <a:sym typeface="Calibri"/>
            </a:endParaRPr>
          </a:p>
        </p:txBody>
      </p:sp>
      <p:sp>
        <p:nvSpPr>
          <p:cNvPr id="456" name="Google Shape;456;g3f8386f7cd2_2_336"/>
          <p:cNvSpPr/>
          <p:nvPr/>
        </p:nvSpPr>
        <p:spPr>
          <a:xfrm>
            <a:off x="731500" y="822960"/>
            <a:ext cx="10728300" cy="548700"/>
          </a:xfrm>
          <a:prstGeom prst="rect">
            <a:avLst/>
          </a:prstGeom>
          <a:noFill/>
          <a:ln>
            <a:noFill/>
          </a:ln>
        </p:spPr>
        <p:txBody>
          <a:bodyPr anchorCtr="0" anchor="t" bIns="0" lIns="0" spcFirstLastPara="1" rIns="0" wrap="square" tIns="0">
            <a:noAutofit/>
          </a:bodyPr>
          <a:lstStyle/>
          <a:p>
            <a:pPr indent="0" lvl="0" marL="0" marR="0" rtl="0" algn="l">
              <a:lnSpc>
                <a:spcPct val="121428"/>
              </a:lnSpc>
              <a:spcBef>
                <a:spcPts val="0"/>
              </a:spcBef>
              <a:spcAft>
                <a:spcPts val="0"/>
              </a:spcAft>
              <a:buClr>
                <a:srgbClr val="16232E"/>
              </a:buClr>
              <a:buSzPts val="2800"/>
              <a:buFont typeface="Cambria"/>
              <a:buNone/>
            </a:pPr>
            <a:r>
              <a:rPr b="1" i="0" lang="en-US" sz="2800" u="none" cap="none" strike="noStrike">
                <a:solidFill>
                  <a:srgbClr val="16232E"/>
                </a:solidFill>
                <a:latin typeface="Cambria"/>
                <a:ea typeface="Cambria"/>
                <a:cs typeface="Cambria"/>
                <a:sym typeface="Cambria"/>
              </a:rPr>
              <a:t>Evaluation Framework - How We’ll Test Bridge, Step by Step</a:t>
            </a:r>
            <a:endParaRPr b="0" i="0" sz="2800" u="none" cap="none" strike="noStrike">
              <a:solidFill>
                <a:schemeClr val="dk1"/>
              </a:solidFill>
              <a:latin typeface="Calibri"/>
              <a:ea typeface="Calibri"/>
              <a:cs typeface="Calibri"/>
              <a:sym typeface="Calibri"/>
            </a:endParaRPr>
          </a:p>
        </p:txBody>
      </p:sp>
      <p:sp>
        <p:nvSpPr>
          <p:cNvPr id="457" name="Google Shape;457;g3f8386f7cd2_2_336"/>
          <p:cNvSpPr/>
          <p:nvPr/>
        </p:nvSpPr>
        <p:spPr>
          <a:xfrm>
            <a:off x="731500" y="1591050"/>
            <a:ext cx="640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700"/>
              <a:buFont typeface="Cambria"/>
              <a:buNone/>
            </a:pPr>
            <a:r>
              <a:rPr b="1" i="0" lang="en-US" sz="1500" u="none" cap="none" strike="noStrike">
                <a:solidFill>
                  <a:srgbClr val="B44A3C"/>
                </a:solidFill>
                <a:latin typeface="Cambria"/>
                <a:ea typeface="Cambria"/>
                <a:cs typeface="Cambria"/>
                <a:sym typeface="Cambria"/>
              </a:rPr>
              <a:t>0</a:t>
            </a:r>
            <a:endParaRPr b="0" i="0" sz="1500" u="none" cap="none" strike="noStrike">
              <a:solidFill>
                <a:schemeClr val="dk1"/>
              </a:solidFill>
              <a:latin typeface="Calibri"/>
              <a:ea typeface="Calibri"/>
              <a:cs typeface="Calibri"/>
              <a:sym typeface="Calibri"/>
            </a:endParaRPr>
          </a:p>
        </p:txBody>
      </p:sp>
      <p:sp>
        <p:nvSpPr>
          <p:cNvPr id="458" name="Google Shape;458;g3f8386f7cd2_2_336"/>
          <p:cNvSpPr/>
          <p:nvPr/>
        </p:nvSpPr>
        <p:spPr>
          <a:xfrm>
            <a:off x="1417282" y="1609344"/>
            <a:ext cx="22860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Expert Safety Review</a:t>
            </a:r>
            <a:endParaRPr b="0" i="0" sz="1400" u="none" cap="none" strike="noStrike">
              <a:solidFill>
                <a:schemeClr val="dk1"/>
              </a:solidFill>
              <a:latin typeface="Calibri"/>
              <a:ea typeface="Calibri"/>
              <a:cs typeface="Calibri"/>
              <a:sym typeface="Calibri"/>
            </a:endParaRPr>
          </a:p>
        </p:txBody>
      </p:sp>
      <p:sp>
        <p:nvSpPr>
          <p:cNvPr id="459" name="Google Shape;459;g3f8386f7cd2_2_336"/>
          <p:cNvSpPr/>
          <p:nvPr/>
        </p:nvSpPr>
        <p:spPr>
          <a:xfrm>
            <a:off x="3840378" y="1572768"/>
            <a:ext cx="7433700" cy="5670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300" u="none" cap="none" strike="noStrike">
                <a:solidFill>
                  <a:srgbClr val="5F706C"/>
                </a:solidFill>
                <a:latin typeface="Calibri"/>
                <a:ea typeface="Calibri"/>
                <a:cs typeface="Calibri"/>
                <a:sym typeface="Calibri"/>
              </a:rPr>
              <a:t>Specialists review every guide and safety procedure. </a:t>
            </a:r>
            <a:endParaRPr b="0" i="0" sz="1300" u="none" cap="none" strike="noStrike">
              <a:solidFill>
                <a:srgbClr val="5F706C"/>
              </a:solidFill>
              <a:latin typeface="Calibri"/>
              <a:ea typeface="Calibri"/>
              <a:cs typeface="Calibri"/>
              <a:sym typeface="Calibri"/>
            </a:endParaRPr>
          </a:p>
          <a:p>
            <a:pPr indent="0" lvl="0" marL="0" marR="0" rtl="0" algn="l">
              <a:lnSpc>
                <a:spcPct val="136363"/>
              </a:lnSpc>
              <a:spcBef>
                <a:spcPts val="0"/>
              </a:spcBef>
              <a:spcAft>
                <a:spcPts val="0"/>
              </a:spcAft>
              <a:buClr>
                <a:srgbClr val="5F706C"/>
              </a:buClr>
              <a:buSzPts val="1100"/>
              <a:buFont typeface="Calibri"/>
              <a:buNone/>
            </a:pPr>
            <a:r>
              <a:rPr b="1" i="0" lang="en-US" sz="1300" u="none" cap="none" strike="noStrike">
                <a:solidFill>
                  <a:srgbClr val="5F706C"/>
                </a:solidFill>
                <a:latin typeface="Calibri"/>
                <a:ea typeface="Calibri"/>
                <a:cs typeface="Calibri"/>
                <a:sym typeface="Calibri"/>
              </a:rPr>
              <a:t>If anything is unsigned or unsafe, we stop.</a:t>
            </a:r>
            <a:endParaRPr b="1" i="0" sz="1300" u="none" cap="none" strike="noStrike">
              <a:solidFill>
                <a:srgbClr val="5F706C"/>
              </a:solidFill>
              <a:latin typeface="Calibri"/>
              <a:ea typeface="Calibri"/>
              <a:cs typeface="Calibri"/>
              <a:sym typeface="Calibri"/>
            </a:endParaRPr>
          </a:p>
        </p:txBody>
      </p:sp>
      <p:sp>
        <p:nvSpPr>
          <p:cNvPr id="460" name="Google Shape;460;g3f8386f7cd2_2_336"/>
          <p:cNvSpPr/>
          <p:nvPr/>
        </p:nvSpPr>
        <p:spPr>
          <a:xfrm>
            <a:off x="3840378" y="1975104"/>
            <a:ext cx="74337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950"/>
              <a:buFont typeface="Calibri"/>
              <a:buNone/>
            </a:pPr>
            <a:r>
              <a:t/>
            </a:r>
            <a:endParaRPr b="0" i="0" sz="950" u="none" cap="none" strike="noStrike">
              <a:solidFill>
                <a:schemeClr val="dk1"/>
              </a:solidFill>
              <a:latin typeface="Calibri"/>
              <a:ea typeface="Calibri"/>
              <a:cs typeface="Calibri"/>
              <a:sym typeface="Calibri"/>
            </a:endParaRPr>
          </a:p>
        </p:txBody>
      </p:sp>
      <p:cxnSp>
        <p:nvCxnSpPr>
          <p:cNvPr id="461" name="Google Shape;461;g3f8386f7cd2_2_336"/>
          <p:cNvCxnSpPr/>
          <p:nvPr/>
        </p:nvCxnSpPr>
        <p:spPr>
          <a:xfrm>
            <a:off x="731500" y="2185416"/>
            <a:ext cx="10728300" cy="0"/>
          </a:xfrm>
          <a:prstGeom prst="straightConnector1">
            <a:avLst/>
          </a:prstGeom>
          <a:noFill/>
          <a:ln cap="flat" cmpd="sng" w="9525">
            <a:solidFill>
              <a:srgbClr val="C6D1CC"/>
            </a:solidFill>
            <a:prstDash val="solid"/>
            <a:round/>
            <a:headEnd len="sm" w="sm" type="none"/>
            <a:tailEnd len="sm" w="sm" type="none"/>
          </a:ln>
        </p:spPr>
      </p:cxnSp>
      <p:sp>
        <p:nvSpPr>
          <p:cNvPr id="462" name="Google Shape;462;g3f8386f7cd2_2_336"/>
          <p:cNvSpPr/>
          <p:nvPr/>
        </p:nvSpPr>
        <p:spPr>
          <a:xfrm>
            <a:off x="731501" y="2258568"/>
            <a:ext cx="640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700"/>
              <a:buFont typeface="Cambria"/>
              <a:buNone/>
            </a:pPr>
            <a:r>
              <a:rPr b="1" i="0" lang="en-US" sz="1700" u="none" cap="none" strike="noStrike">
                <a:solidFill>
                  <a:srgbClr val="B44A3C"/>
                </a:solidFill>
                <a:latin typeface="Cambria"/>
                <a:ea typeface="Cambria"/>
                <a:cs typeface="Cambria"/>
                <a:sym typeface="Cambria"/>
              </a:rPr>
              <a:t>1</a:t>
            </a:r>
            <a:endParaRPr b="0" i="0" sz="1700" u="none" cap="none" strike="noStrike">
              <a:solidFill>
                <a:schemeClr val="dk1"/>
              </a:solidFill>
              <a:latin typeface="Calibri"/>
              <a:ea typeface="Calibri"/>
              <a:cs typeface="Calibri"/>
              <a:sym typeface="Calibri"/>
            </a:endParaRPr>
          </a:p>
        </p:txBody>
      </p:sp>
      <p:sp>
        <p:nvSpPr>
          <p:cNvPr id="463" name="Google Shape;463;g3f8386f7cd2_2_336"/>
          <p:cNvSpPr/>
          <p:nvPr/>
        </p:nvSpPr>
        <p:spPr>
          <a:xfrm>
            <a:off x="1417282" y="2276856"/>
            <a:ext cx="22860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Can People Use It?</a:t>
            </a:r>
            <a:endParaRPr b="0" i="0" sz="1400" u="none" cap="none" strike="noStrike">
              <a:solidFill>
                <a:schemeClr val="dk1"/>
              </a:solidFill>
              <a:latin typeface="Calibri"/>
              <a:ea typeface="Calibri"/>
              <a:cs typeface="Calibri"/>
              <a:sym typeface="Calibri"/>
            </a:endParaRPr>
          </a:p>
        </p:txBody>
      </p:sp>
      <p:sp>
        <p:nvSpPr>
          <p:cNvPr id="464" name="Google Shape;464;g3f8386f7cd2_2_336"/>
          <p:cNvSpPr/>
          <p:nvPr/>
        </p:nvSpPr>
        <p:spPr>
          <a:xfrm>
            <a:off x="3840378" y="2240280"/>
            <a:ext cx="7433700" cy="5670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300" u="none" cap="none" strike="noStrike">
                <a:solidFill>
                  <a:srgbClr val="5F706C"/>
                </a:solidFill>
                <a:latin typeface="Calibri"/>
                <a:ea typeface="Calibri"/>
                <a:cs typeface="Calibri"/>
                <a:sym typeface="Calibri"/>
              </a:rPr>
              <a:t>Around 15–25 participants test whether the platform is understandable and easy to navigate.</a:t>
            </a:r>
            <a:endParaRPr b="0" i="0" sz="1200" u="none" cap="none" strike="noStrike">
              <a:solidFill>
                <a:srgbClr val="5F706C"/>
              </a:solidFill>
              <a:latin typeface="Calibri"/>
              <a:ea typeface="Calibri"/>
              <a:cs typeface="Calibri"/>
              <a:sym typeface="Calibri"/>
            </a:endParaRPr>
          </a:p>
        </p:txBody>
      </p:sp>
      <p:cxnSp>
        <p:nvCxnSpPr>
          <p:cNvPr id="465" name="Google Shape;465;g3f8386f7cd2_2_336"/>
          <p:cNvCxnSpPr/>
          <p:nvPr/>
        </p:nvCxnSpPr>
        <p:spPr>
          <a:xfrm>
            <a:off x="731500" y="2852928"/>
            <a:ext cx="10728300" cy="0"/>
          </a:xfrm>
          <a:prstGeom prst="straightConnector1">
            <a:avLst/>
          </a:prstGeom>
          <a:noFill/>
          <a:ln cap="flat" cmpd="sng" w="9525">
            <a:solidFill>
              <a:srgbClr val="C6D1CC"/>
            </a:solidFill>
            <a:prstDash val="solid"/>
            <a:round/>
            <a:headEnd len="sm" w="sm" type="none"/>
            <a:tailEnd len="sm" w="sm" type="none"/>
          </a:ln>
        </p:spPr>
      </p:cxnSp>
      <p:sp>
        <p:nvSpPr>
          <p:cNvPr id="466" name="Google Shape;466;g3f8386f7cd2_2_336"/>
          <p:cNvSpPr/>
          <p:nvPr/>
        </p:nvSpPr>
        <p:spPr>
          <a:xfrm>
            <a:off x="731501" y="2926080"/>
            <a:ext cx="640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700"/>
              <a:buFont typeface="Cambria"/>
              <a:buNone/>
            </a:pPr>
            <a:r>
              <a:rPr b="1" i="0" lang="en-US" sz="1700" u="none" cap="none" strike="noStrike">
                <a:solidFill>
                  <a:srgbClr val="B44A3C"/>
                </a:solidFill>
                <a:latin typeface="Cambria"/>
                <a:ea typeface="Cambria"/>
                <a:cs typeface="Cambria"/>
                <a:sym typeface="Cambria"/>
              </a:rPr>
              <a:t>2a</a:t>
            </a:r>
            <a:endParaRPr b="0" i="0" sz="1700" u="none" cap="none" strike="noStrike">
              <a:solidFill>
                <a:schemeClr val="dk1"/>
              </a:solidFill>
              <a:latin typeface="Calibri"/>
              <a:ea typeface="Calibri"/>
              <a:cs typeface="Calibri"/>
              <a:sym typeface="Calibri"/>
            </a:endParaRPr>
          </a:p>
        </p:txBody>
      </p:sp>
      <p:sp>
        <p:nvSpPr>
          <p:cNvPr id="467" name="Google Shape;467;g3f8386f7cd2_2_336"/>
          <p:cNvSpPr/>
          <p:nvPr/>
        </p:nvSpPr>
        <p:spPr>
          <a:xfrm>
            <a:off x="1417282" y="2944368"/>
            <a:ext cx="22860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Does The Language Help?</a:t>
            </a:r>
            <a:endParaRPr b="0" i="0" sz="1400" u="none" cap="none" strike="noStrike">
              <a:solidFill>
                <a:schemeClr val="dk1"/>
              </a:solidFill>
              <a:latin typeface="Calibri"/>
              <a:ea typeface="Calibri"/>
              <a:cs typeface="Calibri"/>
              <a:sym typeface="Calibri"/>
            </a:endParaRPr>
          </a:p>
        </p:txBody>
      </p:sp>
      <p:sp>
        <p:nvSpPr>
          <p:cNvPr id="468" name="Google Shape;468;g3f8386f7cd2_2_336"/>
          <p:cNvSpPr/>
          <p:nvPr/>
        </p:nvSpPr>
        <p:spPr>
          <a:xfrm>
            <a:off x="3840378" y="2907792"/>
            <a:ext cx="7433700" cy="5670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300" u="none" cap="none" strike="noStrike">
                <a:solidFill>
                  <a:srgbClr val="5F706C"/>
                </a:solidFill>
                <a:latin typeface="Calibri"/>
                <a:ea typeface="Calibri"/>
                <a:cs typeface="Calibri"/>
                <a:sym typeface="Calibri"/>
              </a:rPr>
              <a:t>Around 300-500 people compare Bridge’s culturally adapted language with more direct wording</a:t>
            </a:r>
            <a:endParaRPr b="0" i="0" sz="1300" u="none" cap="none" strike="noStrike">
              <a:solidFill>
                <a:schemeClr val="dk1"/>
              </a:solidFill>
              <a:latin typeface="Calibri"/>
              <a:ea typeface="Calibri"/>
              <a:cs typeface="Calibri"/>
              <a:sym typeface="Calibri"/>
            </a:endParaRPr>
          </a:p>
        </p:txBody>
      </p:sp>
      <p:cxnSp>
        <p:nvCxnSpPr>
          <p:cNvPr id="469" name="Google Shape;469;g3f8386f7cd2_2_336"/>
          <p:cNvCxnSpPr/>
          <p:nvPr/>
        </p:nvCxnSpPr>
        <p:spPr>
          <a:xfrm>
            <a:off x="731500" y="3520440"/>
            <a:ext cx="10728300" cy="0"/>
          </a:xfrm>
          <a:prstGeom prst="straightConnector1">
            <a:avLst/>
          </a:prstGeom>
          <a:noFill/>
          <a:ln cap="flat" cmpd="sng" w="9525">
            <a:solidFill>
              <a:srgbClr val="C6D1CC"/>
            </a:solidFill>
            <a:prstDash val="solid"/>
            <a:round/>
            <a:headEnd len="sm" w="sm" type="none"/>
            <a:tailEnd len="sm" w="sm" type="none"/>
          </a:ln>
        </p:spPr>
      </p:cxnSp>
      <p:sp>
        <p:nvSpPr>
          <p:cNvPr id="470" name="Google Shape;470;g3f8386f7cd2_2_336"/>
          <p:cNvSpPr/>
          <p:nvPr/>
        </p:nvSpPr>
        <p:spPr>
          <a:xfrm>
            <a:off x="731501" y="3593592"/>
            <a:ext cx="640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700"/>
              <a:buFont typeface="Cambria"/>
              <a:buNone/>
            </a:pPr>
            <a:r>
              <a:rPr b="1" i="0" lang="en-US" sz="1700" u="none" cap="none" strike="noStrike">
                <a:solidFill>
                  <a:srgbClr val="B44A3C"/>
                </a:solidFill>
                <a:latin typeface="Cambria"/>
                <a:ea typeface="Cambria"/>
                <a:cs typeface="Cambria"/>
                <a:sym typeface="Cambria"/>
              </a:rPr>
              <a:t>2b</a:t>
            </a:r>
            <a:endParaRPr b="0" i="0" sz="1700" u="none" cap="none" strike="noStrike">
              <a:solidFill>
                <a:schemeClr val="dk1"/>
              </a:solidFill>
              <a:latin typeface="Calibri"/>
              <a:ea typeface="Calibri"/>
              <a:cs typeface="Calibri"/>
              <a:sym typeface="Calibri"/>
            </a:endParaRPr>
          </a:p>
        </p:txBody>
      </p:sp>
      <p:sp>
        <p:nvSpPr>
          <p:cNvPr id="471" name="Google Shape;471;g3f8386f7cd2_2_336"/>
          <p:cNvSpPr/>
          <p:nvPr/>
        </p:nvSpPr>
        <p:spPr>
          <a:xfrm>
            <a:off x="1417282" y="3611880"/>
            <a:ext cx="22860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Small, Real World Pilot</a:t>
            </a:r>
            <a:endParaRPr b="0" i="0" sz="1400" u="none" cap="none" strike="noStrike">
              <a:solidFill>
                <a:schemeClr val="dk1"/>
              </a:solidFill>
              <a:latin typeface="Calibri"/>
              <a:ea typeface="Calibri"/>
              <a:cs typeface="Calibri"/>
              <a:sym typeface="Calibri"/>
            </a:endParaRPr>
          </a:p>
        </p:txBody>
      </p:sp>
      <p:sp>
        <p:nvSpPr>
          <p:cNvPr id="472" name="Google Shape;472;g3f8386f7cd2_2_336"/>
          <p:cNvSpPr/>
          <p:nvPr/>
        </p:nvSpPr>
        <p:spPr>
          <a:xfrm>
            <a:off x="3840378" y="3570704"/>
            <a:ext cx="7433700" cy="567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US" sz="1100" u="none" cap="none" strike="noStrike">
                <a:solidFill>
                  <a:srgbClr val="5F706C"/>
                </a:solidFill>
                <a:latin typeface="Arial"/>
                <a:ea typeface="Arial"/>
                <a:cs typeface="Arial"/>
                <a:sym typeface="Arial"/>
              </a:rPr>
              <a:t>Around 40–60 caregivers use Bridge for four to six weeks. Researchers check participation, usability, and any unexpected problems. </a:t>
            </a:r>
            <a:r>
              <a:rPr b="1" i="0" lang="en-US" sz="1100" u="none" cap="none" strike="noStrike">
                <a:solidFill>
                  <a:srgbClr val="5F706C"/>
                </a:solidFill>
                <a:latin typeface="Arial"/>
                <a:ea typeface="Arial"/>
                <a:cs typeface="Arial"/>
                <a:sym typeface="Arial"/>
              </a:rPr>
              <a:t>If the platform is not practical or safe, we do not continue.</a:t>
            </a:r>
            <a:endParaRPr b="1" i="0" sz="1100" u="none" cap="none" strike="noStrike">
              <a:solidFill>
                <a:srgbClr val="5F706C"/>
              </a:solidFill>
              <a:latin typeface="Arial"/>
              <a:ea typeface="Arial"/>
              <a:cs typeface="Arial"/>
              <a:sym typeface="Arial"/>
            </a:endParaRPr>
          </a:p>
          <a:p>
            <a:pPr indent="0" lvl="0" marL="0" marR="0" rtl="0" algn="l">
              <a:lnSpc>
                <a:spcPct val="136363"/>
              </a:lnSpc>
              <a:spcBef>
                <a:spcPts val="1200"/>
              </a:spcBef>
              <a:spcAft>
                <a:spcPts val="0"/>
              </a:spcAft>
              <a:buClr>
                <a:srgbClr val="5F706C"/>
              </a:buClr>
              <a:buSzPts val="1100"/>
              <a:buFont typeface="Calibri"/>
              <a:buNone/>
            </a:pPr>
            <a:r>
              <a:t/>
            </a:r>
            <a:endParaRPr b="0" i="0" sz="1300" u="none" cap="none" strike="noStrike">
              <a:solidFill>
                <a:srgbClr val="5F706C"/>
              </a:solidFill>
              <a:latin typeface="Calibri"/>
              <a:ea typeface="Calibri"/>
              <a:cs typeface="Calibri"/>
              <a:sym typeface="Calibri"/>
            </a:endParaRPr>
          </a:p>
        </p:txBody>
      </p:sp>
      <p:cxnSp>
        <p:nvCxnSpPr>
          <p:cNvPr id="473" name="Google Shape;473;g3f8386f7cd2_2_336"/>
          <p:cNvCxnSpPr/>
          <p:nvPr/>
        </p:nvCxnSpPr>
        <p:spPr>
          <a:xfrm>
            <a:off x="731500" y="4187952"/>
            <a:ext cx="10728300" cy="0"/>
          </a:xfrm>
          <a:prstGeom prst="straightConnector1">
            <a:avLst/>
          </a:prstGeom>
          <a:noFill/>
          <a:ln cap="flat" cmpd="sng" w="9525">
            <a:solidFill>
              <a:srgbClr val="C6D1CC"/>
            </a:solidFill>
            <a:prstDash val="solid"/>
            <a:round/>
            <a:headEnd len="sm" w="sm" type="none"/>
            <a:tailEnd len="sm" w="sm" type="none"/>
          </a:ln>
        </p:spPr>
      </p:cxnSp>
      <p:sp>
        <p:nvSpPr>
          <p:cNvPr id="474" name="Google Shape;474;g3f8386f7cd2_2_336"/>
          <p:cNvSpPr/>
          <p:nvPr/>
        </p:nvSpPr>
        <p:spPr>
          <a:xfrm>
            <a:off x="731501" y="4261104"/>
            <a:ext cx="640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700"/>
              <a:buFont typeface="Cambria"/>
              <a:buNone/>
            </a:pPr>
            <a:r>
              <a:rPr b="1" i="0" lang="en-US" sz="1700" u="none" cap="none" strike="noStrike">
                <a:solidFill>
                  <a:srgbClr val="B44A3C"/>
                </a:solidFill>
                <a:latin typeface="Cambria"/>
                <a:ea typeface="Cambria"/>
                <a:cs typeface="Cambria"/>
                <a:sym typeface="Cambria"/>
              </a:rPr>
              <a:t>3</a:t>
            </a:r>
            <a:endParaRPr b="0" i="0" sz="1700" u="none" cap="none" strike="noStrike">
              <a:solidFill>
                <a:schemeClr val="dk1"/>
              </a:solidFill>
              <a:latin typeface="Calibri"/>
              <a:ea typeface="Calibri"/>
              <a:cs typeface="Calibri"/>
              <a:sym typeface="Calibri"/>
            </a:endParaRPr>
          </a:p>
        </p:txBody>
      </p:sp>
      <p:sp>
        <p:nvSpPr>
          <p:cNvPr id="475" name="Google Shape;475;g3f8386f7cd2_2_336"/>
          <p:cNvSpPr/>
          <p:nvPr/>
        </p:nvSpPr>
        <p:spPr>
          <a:xfrm>
            <a:off x="1417282" y="4279392"/>
            <a:ext cx="22860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Controlled trial</a:t>
            </a:r>
            <a:endParaRPr b="0" i="0" sz="1400" u="none" cap="none" strike="noStrike">
              <a:solidFill>
                <a:schemeClr val="dk1"/>
              </a:solidFill>
              <a:latin typeface="Calibri"/>
              <a:ea typeface="Calibri"/>
              <a:cs typeface="Calibri"/>
              <a:sym typeface="Calibri"/>
            </a:endParaRPr>
          </a:p>
        </p:txBody>
      </p:sp>
      <p:sp>
        <p:nvSpPr>
          <p:cNvPr id="476" name="Google Shape;476;g3f8386f7cd2_2_336"/>
          <p:cNvSpPr/>
          <p:nvPr/>
        </p:nvSpPr>
        <p:spPr>
          <a:xfrm>
            <a:off x="3840378" y="4242816"/>
            <a:ext cx="7433700" cy="5670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300" u="none" cap="none" strike="noStrike">
                <a:solidFill>
                  <a:srgbClr val="5F706C"/>
                </a:solidFill>
                <a:latin typeface="Calibri"/>
                <a:ea typeface="Calibri"/>
                <a:cs typeface="Calibri"/>
                <a:sym typeface="Calibri"/>
              </a:rPr>
              <a:t>Bridge is tested across different healthcare sites to see whether it actually causes better outcomes. </a:t>
            </a:r>
            <a:endParaRPr b="0" i="0" sz="1300" u="none" cap="none" strike="noStrike">
              <a:solidFill>
                <a:schemeClr val="dk1"/>
              </a:solidFill>
              <a:latin typeface="Calibri"/>
              <a:ea typeface="Calibri"/>
              <a:cs typeface="Calibri"/>
              <a:sym typeface="Calibri"/>
            </a:endParaRPr>
          </a:p>
        </p:txBody>
      </p:sp>
      <p:cxnSp>
        <p:nvCxnSpPr>
          <p:cNvPr id="477" name="Google Shape;477;g3f8386f7cd2_2_336"/>
          <p:cNvCxnSpPr/>
          <p:nvPr/>
        </p:nvCxnSpPr>
        <p:spPr>
          <a:xfrm>
            <a:off x="731500" y="4855464"/>
            <a:ext cx="10728300" cy="0"/>
          </a:xfrm>
          <a:prstGeom prst="straightConnector1">
            <a:avLst/>
          </a:prstGeom>
          <a:noFill/>
          <a:ln cap="flat" cmpd="sng" w="9525">
            <a:solidFill>
              <a:srgbClr val="C6D1CC"/>
            </a:solidFill>
            <a:prstDash val="solid"/>
            <a:round/>
            <a:headEnd len="sm" w="sm" type="none"/>
            <a:tailEnd len="sm" w="sm" type="none"/>
          </a:ln>
        </p:spPr>
      </p:cxnSp>
      <p:sp>
        <p:nvSpPr>
          <p:cNvPr id="478" name="Google Shape;478;g3f8386f7cd2_2_336"/>
          <p:cNvSpPr/>
          <p:nvPr/>
        </p:nvSpPr>
        <p:spPr>
          <a:xfrm>
            <a:off x="731501" y="4928616"/>
            <a:ext cx="640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700"/>
              <a:buFont typeface="Cambria"/>
              <a:buNone/>
            </a:pPr>
            <a:r>
              <a:rPr b="1" i="0" lang="en-US" sz="1700" u="none" cap="none" strike="noStrike">
                <a:solidFill>
                  <a:srgbClr val="B44A3C"/>
                </a:solidFill>
                <a:latin typeface="Cambria"/>
                <a:ea typeface="Cambria"/>
                <a:cs typeface="Cambria"/>
                <a:sym typeface="Cambria"/>
              </a:rPr>
              <a:t>4</a:t>
            </a:r>
            <a:endParaRPr b="0" i="0" sz="1700" u="none" cap="none" strike="noStrike">
              <a:solidFill>
                <a:schemeClr val="dk1"/>
              </a:solidFill>
              <a:latin typeface="Calibri"/>
              <a:ea typeface="Calibri"/>
              <a:cs typeface="Calibri"/>
              <a:sym typeface="Calibri"/>
            </a:endParaRPr>
          </a:p>
        </p:txBody>
      </p:sp>
      <p:sp>
        <p:nvSpPr>
          <p:cNvPr id="479" name="Google Shape;479;g3f8386f7cd2_2_336"/>
          <p:cNvSpPr/>
          <p:nvPr/>
        </p:nvSpPr>
        <p:spPr>
          <a:xfrm>
            <a:off x="1417282" y="4946904"/>
            <a:ext cx="22860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Long Term Follow Up</a:t>
            </a:r>
            <a:endParaRPr b="0" i="0" sz="1400" u="none" cap="none" strike="noStrike">
              <a:solidFill>
                <a:schemeClr val="dk1"/>
              </a:solidFill>
              <a:latin typeface="Calibri"/>
              <a:ea typeface="Calibri"/>
              <a:cs typeface="Calibri"/>
              <a:sym typeface="Calibri"/>
            </a:endParaRPr>
          </a:p>
        </p:txBody>
      </p:sp>
      <p:sp>
        <p:nvSpPr>
          <p:cNvPr id="480" name="Google Shape;480;g3f8386f7cd2_2_336"/>
          <p:cNvSpPr/>
          <p:nvPr/>
        </p:nvSpPr>
        <p:spPr>
          <a:xfrm>
            <a:off x="3840378" y="4910328"/>
            <a:ext cx="7433700" cy="567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US" sz="1300" u="none" cap="none" strike="noStrike">
                <a:solidFill>
                  <a:srgbClr val="5F706C"/>
                </a:solidFill>
                <a:latin typeface="Calibri"/>
                <a:ea typeface="Calibri"/>
                <a:cs typeface="Calibri"/>
                <a:sym typeface="Calibri"/>
              </a:rPr>
              <a:t>Six to twelve months later, researchers examine family experiences, bereavement, and whether people actually contacted services.</a:t>
            </a:r>
            <a:endParaRPr b="0" i="0" sz="1300" u="none" cap="none" strike="noStrike">
              <a:solidFill>
                <a:srgbClr val="5F706C"/>
              </a:solidFill>
              <a:latin typeface="Calibri"/>
              <a:ea typeface="Calibri"/>
              <a:cs typeface="Calibri"/>
              <a:sym typeface="Calibri"/>
            </a:endParaRPr>
          </a:p>
          <a:p>
            <a:pPr indent="0" lvl="0" marL="0" marR="0" rtl="0" algn="l">
              <a:lnSpc>
                <a:spcPct val="136363"/>
              </a:lnSpc>
              <a:spcBef>
                <a:spcPts val="1200"/>
              </a:spcBef>
              <a:spcAft>
                <a:spcPts val="0"/>
              </a:spcAft>
              <a:buClr>
                <a:srgbClr val="5F706C"/>
              </a:buClr>
              <a:buSzPts val="1100"/>
              <a:buFont typeface="Calibri"/>
              <a:buNone/>
            </a:pPr>
            <a:r>
              <a:t/>
            </a:r>
            <a:endParaRPr b="0" i="0" sz="1300" u="none" cap="none" strike="noStrike">
              <a:solidFill>
                <a:srgbClr val="5F706C"/>
              </a:solidFill>
              <a:latin typeface="Calibri"/>
              <a:ea typeface="Calibri"/>
              <a:cs typeface="Calibri"/>
              <a:sym typeface="Calibri"/>
            </a:endParaRPr>
          </a:p>
        </p:txBody>
      </p:sp>
      <p:sp>
        <p:nvSpPr>
          <p:cNvPr id="481" name="Google Shape;481;g3f8386f7cd2_2_336"/>
          <p:cNvSpPr/>
          <p:nvPr/>
        </p:nvSpPr>
        <p:spPr>
          <a:xfrm>
            <a:off x="731500" y="5614416"/>
            <a:ext cx="10728300" cy="567000"/>
          </a:xfrm>
          <a:prstGeom prst="roundRect">
            <a:avLst>
              <a:gd fmla="val 3500" name="adj"/>
            </a:avLst>
          </a:prstGeom>
          <a:solidFill>
            <a:srgbClr val="F4F7F4"/>
          </a:solidFill>
          <a:ln cap="flat" cmpd="sng" w="12700">
            <a:solidFill>
              <a:srgbClr val="F4F7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g3f8386f7cd2_2_336"/>
          <p:cNvSpPr/>
          <p:nvPr/>
        </p:nvSpPr>
        <p:spPr>
          <a:xfrm>
            <a:off x="1051532" y="5614416"/>
            <a:ext cx="100884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250"/>
              <a:buFont typeface="Calibri"/>
              <a:buNone/>
            </a:pPr>
            <a:r>
              <a:rPr b="1" i="0" lang="en-US" sz="1250" u="none" cap="none" strike="noStrike">
                <a:solidFill>
                  <a:srgbClr val="16232E"/>
                </a:solidFill>
                <a:latin typeface="Calibri"/>
                <a:ea typeface="Calibri"/>
                <a:cs typeface="Calibri"/>
                <a:sym typeface="Calibri"/>
              </a:rPr>
              <a:t>No phase assumes the previous one succeeded.  </a:t>
            </a:r>
            <a:r>
              <a:rPr b="0" i="0" lang="en-US" sz="1250" u="none" cap="none" strike="noStrike">
                <a:solidFill>
                  <a:srgbClr val="5F706C"/>
                </a:solidFill>
                <a:latin typeface="Calibri"/>
                <a:ea typeface="Calibri"/>
                <a:cs typeface="Calibri"/>
                <a:sym typeface="Calibri"/>
              </a:rPr>
              <a:t>A qualitative strand runs through all six, because a farewell that became possible will not appear in a mean difference.</a:t>
            </a:r>
            <a:endParaRPr b="0" i="0" sz="1250" u="none" cap="none" strike="noStrike">
              <a:solidFill>
                <a:schemeClr val="dk1"/>
              </a:solidFill>
              <a:latin typeface="Calibri"/>
              <a:ea typeface="Calibri"/>
              <a:cs typeface="Calibri"/>
              <a:sym typeface="Calibri"/>
            </a:endParaRPr>
          </a:p>
        </p:txBody>
      </p:sp>
      <p:sp>
        <p:nvSpPr>
          <p:cNvPr id="483" name="Google Shape;483;g3f8386f7cd2_2_336"/>
          <p:cNvSpPr/>
          <p:nvPr/>
        </p:nvSpPr>
        <p:spPr>
          <a:xfrm>
            <a:off x="731501" y="6281928"/>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900"/>
              <a:buFont typeface="Calibri"/>
              <a:buNone/>
            </a:pPr>
            <a:r>
              <a:rPr b="0" i="0" lang="en-US" sz="900" u="none" cap="none" strike="noStrike">
                <a:solidFill>
                  <a:srgbClr val="5F706C"/>
                </a:solidFill>
                <a:latin typeface="Calibri"/>
                <a:ea typeface="Calibri"/>
                <a:cs typeface="Calibri"/>
                <a:sym typeface="Calibri"/>
              </a:rPr>
              <a:t>Bridge · Group 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488" name="Shape 488"/>
        <p:cNvGrpSpPr/>
        <p:nvPr/>
      </p:nvGrpSpPr>
      <p:grpSpPr>
        <a:xfrm>
          <a:off x="0" y="0"/>
          <a:ext cx="0" cy="0"/>
          <a:chOff x="0" y="0"/>
          <a:chExt cx="0" cy="0"/>
        </a:xfrm>
      </p:grpSpPr>
      <p:sp>
        <p:nvSpPr>
          <p:cNvPr id="489" name="Google Shape;489;g3f8386f7cd2_2_369"/>
          <p:cNvSpPr/>
          <p:nvPr/>
        </p:nvSpPr>
        <p:spPr>
          <a:xfrm>
            <a:off x="731500" y="502920"/>
            <a:ext cx="10728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WHAT WE PREDICT  ·  预期成果</a:t>
            </a:r>
            <a:endParaRPr b="0" i="0" sz="1100" u="none" cap="none" strike="noStrike">
              <a:solidFill>
                <a:schemeClr val="dk1"/>
              </a:solidFill>
              <a:latin typeface="Calibri"/>
              <a:ea typeface="Calibri"/>
              <a:cs typeface="Calibri"/>
              <a:sym typeface="Calibri"/>
            </a:endParaRPr>
          </a:p>
        </p:txBody>
      </p:sp>
      <p:sp>
        <p:nvSpPr>
          <p:cNvPr id="490" name="Google Shape;490;g3f8386f7cd2_2_369"/>
          <p:cNvSpPr/>
          <p:nvPr/>
        </p:nvSpPr>
        <p:spPr>
          <a:xfrm>
            <a:off x="731500" y="850392"/>
            <a:ext cx="10728300" cy="548700"/>
          </a:xfrm>
          <a:prstGeom prst="rect">
            <a:avLst/>
          </a:prstGeom>
          <a:noFill/>
          <a:ln>
            <a:noFill/>
          </a:ln>
        </p:spPr>
        <p:txBody>
          <a:bodyPr anchorCtr="0" anchor="t" bIns="0" lIns="0" spcFirstLastPara="1" rIns="0" wrap="square" tIns="0">
            <a:noAutofit/>
          </a:bodyPr>
          <a:lstStyle/>
          <a:p>
            <a:pPr indent="0" lvl="0" marL="0" marR="0" rtl="0" algn="l">
              <a:lnSpc>
                <a:spcPct val="117647"/>
              </a:lnSpc>
              <a:spcBef>
                <a:spcPts val="0"/>
              </a:spcBef>
              <a:spcAft>
                <a:spcPts val="0"/>
              </a:spcAft>
              <a:buClr>
                <a:srgbClr val="16232E"/>
              </a:buClr>
              <a:buSzPts val="3400"/>
              <a:buFont typeface="Cambria"/>
              <a:buNone/>
            </a:pPr>
            <a:r>
              <a:rPr b="1" i="0" lang="en-US" sz="3400" u="none" cap="none" strike="noStrike">
                <a:solidFill>
                  <a:srgbClr val="16232E"/>
                </a:solidFill>
                <a:latin typeface="Cambria"/>
                <a:ea typeface="Cambria"/>
                <a:cs typeface="Cambria"/>
                <a:sym typeface="Cambria"/>
              </a:rPr>
              <a:t>What We Expect to Change and How We’ll Measure It</a:t>
            </a:r>
            <a:endParaRPr b="0" i="0" sz="3400" u="none" cap="none" strike="noStrike">
              <a:solidFill>
                <a:schemeClr val="dk1"/>
              </a:solidFill>
              <a:latin typeface="Calibri"/>
              <a:ea typeface="Calibri"/>
              <a:cs typeface="Calibri"/>
              <a:sym typeface="Calibri"/>
            </a:endParaRPr>
          </a:p>
        </p:txBody>
      </p:sp>
      <p:sp>
        <p:nvSpPr>
          <p:cNvPr id="491" name="Google Shape;491;g3f8386f7cd2_2_369"/>
          <p:cNvSpPr/>
          <p:nvPr/>
        </p:nvSpPr>
        <p:spPr>
          <a:xfrm>
            <a:off x="731500" y="1572768"/>
            <a:ext cx="5136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050"/>
              <a:buFont typeface="Calibri"/>
              <a:buNone/>
            </a:pPr>
            <a:r>
              <a:rPr b="1" i="0" lang="en-US" sz="1050" u="none" cap="none" strike="noStrike">
                <a:solidFill>
                  <a:srgbClr val="B44A3C"/>
                </a:solidFill>
                <a:latin typeface="Calibri"/>
                <a:ea typeface="Calibri"/>
                <a:cs typeface="Calibri"/>
                <a:sym typeface="Calibri"/>
              </a:rPr>
              <a:t>MEASURABLE OUTCOMES</a:t>
            </a:r>
            <a:endParaRPr b="0" i="0" sz="1050" u="none" cap="none" strike="noStrike">
              <a:solidFill>
                <a:schemeClr val="dk1"/>
              </a:solidFill>
              <a:latin typeface="Calibri"/>
              <a:ea typeface="Calibri"/>
              <a:cs typeface="Calibri"/>
              <a:sym typeface="Calibri"/>
            </a:endParaRPr>
          </a:p>
        </p:txBody>
      </p:sp>
      <p:cxnSp>
        <p:nvCxnSpPr>
          <p:cNvPr id="492" name="Google Shape;492;g3f8386f7cd2_2_369"/>
          <p:cNvCxnSpPr/>
          <p:nvPr/>
        </p:nvCxnSpPr>
        <p:spPr>
          <a:xfrm>
            <a:off x="731500" y="1883664"/>
            <a:ext cx="5136300" cy="0"/>
          </a:xfrm>
          <a:prstGeom prst="straightConnector1">
            <a:avLst/>
          </a:prstGeom>
          <a:noFill/>
          <a:ln cap="flat" cmpd="sng" w="12700">
            <a:solidFill>
              <a:srgbClr val="C6D1CC"/>
            </a:solidFill>
            <a:prstDash val="solid"/>
            <a:round/>
            <a:headEnd len="sm" w="sm" type="none"/>
            <a:tailEnd len="sm" w="sm" type="none"/>
          </a:ln>
        </p:spPr>
      </p:cxnSp>
      <p:sp>
        <p:nvSpPr>
          <p:cNvPr id="493" name="Google Shape;493;g3f8386f7cd2_2_369"/>
          <p:cNvSpPr/>
          <p:nvPr/>
        </p:nvSpPr>
        <p:spPr>
          <a:xfrm>
            <a:off x="6324736" y="1572768"/>
            <a:ext cx="5136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050"/>
              <a:buFont typeface="Calibri"/>
              <a:buNone/>
            </a:pPr>
            <a:r>
              <a:rPr b="1" i="0" lang="en-US" sz="1050" u="none" cap="none" strike="noStrike">
                <a:solidFill>
                  <a:srgbClr val="B44A3C"/>
                </a:solidFill>
                <a:latin typeface="Calibri"/>
                <a:ea typeface="Calibri"/>
                <a:cs typeface="Calibri"/>
                <a:sym typeface="Calibri"/>
              </a:rPr>
              <a:t>REAL WORLD OUTCOMES</a:t>
            </a:r>
            <a:endParaRPr b="0" i="0" sz="1050" u="none" cap="none" strike="noStrike">
              <a:solidFill>
                <a:schemeClr val="dk1"/>
              </a:solidFill>
              <a:latin typeface="Calibri"/>
              <a:ea typeface="Calibri"/>
              <a:cs typeface="Calibri"/>
              <a:sym typeface="Calibri"/>
            </a:endParaRPr>
          </a:p>
        </p:txBody>
      </p:sp>
      <p:cxnSp>
        <p:nvCxnSpPr>
          <p:cNvPr id="494" name="Google Shape;494;g3f8386f7cd2_2_369"/>
          <p:cNvCxnSpPr/>
          <p:nvPr/>
        </p:nvCxnSpPr>
        <p:spPr>
          <a:xfrm>
            <a:off x="6324736" y="1883664"/>
            <a:ext cx="5136300" cy="0"/>
          </a:xfrm>
          <a:prstGeom prst="straightConnector1">
            <a:avLst/>
          </a:prstGeom>
          <a:noFill/>
          <a:ln cap="flat" cmpd="sng" w="12700">
            <a:solidFill>
              <a:srgbClr val="C6D1CC"/>
            </a:solidFill>
            <a:prstDash val="solid"/>
            <a:round/>
            <a:headEnd len="sm" w="sm" type="none"/>
            <a:tailEnd len="sm" w="sm" type="none"/>
          </a:ln>
        </p:spPr>
      </p:cxnSp>
      <p:sp>
        <p:nvSpPr>
          <p:cNvPr id="495" name="Google Shape;495;g3f8386f7cd2_2_369"/>
          <p:cNvSpPr/>
          <p:nvPr/>
        </p:nvSpPr>
        <p:spPr>
          <a:xfrm>
            <a:off x="731501" y="1975104"/>
            <a:ext cx="1280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500"/>
              <a:buFont typeface="Cambria"/>
              <a:buNone/>
            </a:pPr>
            <a:r>
              <a:rPr b="1" i="0" lang="en-US" sz="1500" u="none" cap="none" strike="noStrike">
                <a:solidFill>
                  <a:srgbClr val="B44A3C"/>
                </a:solidFill>
                <a:latin typeface="Cambria"/>
                <a:ea typeface="Cambria"/>
                <a:cs typeface="Cambria"/>
                <a:sym typeface="Cambria"/>
              </a:rPr>
              <a:t>DAP-R</a:t>
            </a:r>
            <a:endParaRPr b="0" i="0" sz="1500" u="none" cap="none" strike="noStrike">
              <a:solidFill>
                <a:schemeClr val="dk1"/>
              </a:solidFill>
              <a:latin typeface="Calibri"/>
              <a:ea typeface="Calibri"/>
              <a:cs typeface="Calibri"/>
              <a:sym typeface="Calibri"/>
            </a:endParaRPr>
          </a:p>
        </p:txBody>
      </p:sp>
      <p:sp>
        <p:nvSpPr>
          <p:cNvPr id="496" name="Google Shape;496;g3f8386f7cd2_2_369"/>
          <p:cNvSpPr/>
          <p:nvPr/>
        </p:nvSpPr>
        <p:spPr>
          <a:xfrm>
            <a:off x="2103064" y="1975104"/>
            <a:ext cx="3764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Death Attitude Profile–Revised</a:t>
            </a:r>
            <a:endParaRPr b="0" i="0" sz="1400" u="none" cap="none" strike="noStrike">
              <a:solidFill>
                <a:schemeClr val="dk1"/>
              </a:solidFill>
              <a:latin typeface="Calibri"/>
              <a:ea typeface="Calibri"/>
              <a:cs typeface="Calibri"/>
              <a:sym typeface="Calibri"/>
            </a:endParaRPr>
          </a:p>
        </p:txBody>
      </p:sp>
      <p:sp>
        <p:nvSpPr>
          <p:cNvPr id="497" name="Google Shape;497;g3f8386f7cd2_2_369"/>
          <p:cNvSpPr/>
          <p:nvPr/>
        </p:nvSpPr>
        <p:spPr>
          <a:xfrm>
            <a:off x="2103064" y="2286000"/>
            <a:ext cx="3764700" cy="5028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200" u="none" cap="none" strike="noStrike">
                <a:solidFill>
                  <a:srgbClr val="5F706C"/>
                </a:solidFill>
                <a:latin typeface="Calibri"/>
                <a:ea typeface="Calibri"/>
                <a:cs typeface="Calibri"/>
                <a:sym typeface="Calibri"/>
              </a:rPr>
              <a:t>Less death avoidance</a:t>
            </a:r>
            <a:endParaRPr b="0" i="0" sz="1200" u="none" cap="none" strike="noStrike">
              <a:solidFill>
                <a:schemeClr val="dk1"/>
              </a:solidFill>
              <a:latin typeface="Calibri"/>
              <a:ea typeface="Calibri"/>
              <a:cs typeface="Calibri"/>
              <a:sym typeface="Calibri"/>
            </a:endParaRPr>
          </a:p>
        </p:txBody>
      </p:sp>
      <p:cxnSp>
        <p:nvCxnSpPr>
          <p:cNvPr id="498" name="Google Shape;498;g3f8386f7cd2_2_369"/>
          <p:cNvCxnSpPr/>
          <p:nvPr/>
        </p:nvCxnSpPr>
        <p:spPr>
          <a:xfrm>
            <a:off x="731500" y="2798064"/>
            <a:ext cx="5136300" cy="0"/>
          </a:xfrm>
          <a:prstGeom prst="straightConnector1">
            <a:avLst/>
          </a:prstGeom>
          <a:noFill/>
          <a:ln cap="flat" cmpd="sng" w="9525">
            <a:solidFill>
              <a:srgbClr val="C6D1CC"/>
            </a:solidFill>
            <a:prstDash val="solid"/>
            <a:round/>
            <a:headEnd len="sm" w="sm" type="none"/>
            <a:tailEnd len="sm" w="sm" type="none"/>
          </a:ln>
        </p:spPr>
      </p:cxnSp>
      <p:sp>
        <p:nvSpPr>
          <p:cNvPr id="499" name="Google Shape;499;g3f8386f7cd2_2_369"/>
          <p:cNvSpPr/>
          <p:nvPr/>
        </p:nvSpPr>
        <p:spPr>
          <a:xfrm>
            <a:off x="731501" y="2852928"/>
            <a:ext cx="1280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500"/>
              <a:buFont typeface="Cambria"/>
              <a:buNone/>
            </a:pPr>
            <a:r>
              <a:rPr b="1" i="0" lang="en-US" sz="1500" u="none" cap="none" strike="noStrike">
                <a:solidFill>
                  <a:srgbClr val="B44A3C"/>
                </a:solidFill>
                <a:latin typeface="Cambria"/>
                <a:ea typeface="Cambria"/>
                <a:cs typeface="Cambria"/>
                <a:sym typeface="Cambria"/>
              </a:rPr>
              <a:t>ZBI-12</a:t>
            </a:r>
            <a:endParaRPr b="0" i="0" sz="1500" u="none" cap="none" strike="noStrike">
              <a:solidFill>
                <a:schemeClr val="dk1"/>
              </a:solidFill>
              <a:latin typeface="Calibri"/>
              <a:ea typeface="Calibri"/>
              <a:cs typeface="Calibri"/>
              <a:sym typeface="Calibri"/>
            </a:endParaRPr>
          </a:p>
        </p:txBody>
      </p:sp>
      <p:sp>
        <p:nvSpPr>
          <p:cNvPr id="500" name="Google Shape;500;g3f8386f7cd2_2_369"/>
          <p:cNvSpPr/>
          <p:nvPr/>
        </p:nvSpPr>
        <p:spPr>
          <a:xfrm>
            <a:off x="2103064" y="2852928"/>
            <a:ext cx="3764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Zarit Burden Interview, short form</a:t>
            </a:r>
            <a:endParaRPr b="0" i="0" sz="1400" u="none" cap="none" strike="noStrike">
              <a:solidFill>
                <a:schemeClr val="dk1"/>
              </a:solidFill>
              <a:latin typeface="Calibri"/>
              <a:ea typeface="Calibri"/>
              <a:cs typeface="Calibri"/>
              <a:sym typeface="Calibri"/>
            </a:endParaRPr>
          </a:p>
        </p:txBody>
      </p:sp>
      <p:sp>
        <p:nvSpPr>
          <p:cNvPr id="501" name="Google Shape;501;g3f8386f7cd2_2_369"/>
          <p:cNvSpPr/>
          <p:nvPr/>
        </p:nvSpPr>
        <p:spPr>
          <a:xfrm>
            <a:off x="2103064" y="3163824"/>
            <a:ext cx="3764700" cy="5028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200" u="none" cap="none" strike="noStrike">
                <a:solidFill>
                  <a:srgbClr val="5F706C"/>
                </a:solidFill>
                <a:latin typeface="Calibri"/>
                <a:ea typeface="Calibri"/>
                <a:cs typeface="Calibri"/>
                <a:sym typeface="Calibri"/>
              </a:rPr>
              <a:t>Lower caregiver role strain</a:t>
            </a:r>
            <a:endParaRPr b="0" i="0" sz="1200" u="none" cap="none" strike="noStrike">
              <a:solidFill>
                <a:schemeClr val="dk1"/>
              </a:solidFill>
              <a:latin typeface="Calibri"/>
              <a:ea typeface="Calibri"/>
              <a:cs typeface="Calibri"/>
              <a:sym typeface="Calibri"/>
            </a:endParaRPr>
          </a:p>
        </p:txBody>
      </p:sp>
      <p:cxnSp>
        <p:nvCxnSpPr>
          <p:cNvPr id="502" name="Google Shape;502;g3f8386f7cd2_2_369"/>
          <p:cNvCxnSpPr/>
          <p:nvPr/>
        </p:nvCxnSpPr>
        <p:spPr>
          <a:xfrm>
            <a:off x="731500" y="3675888"/>
            <a:ext cx="5136300" cy="0"/>
          </a:xfrm>
          <a:prstGeom prst="straightConnector1">
            <a:avLst/>
          </a:prstGeom>
          <a:noFill/>
          <a:ln cap="flat" cmpd="sng" w="9525">
            <a:solidFill>
              <a:srgbClr val="C6D1CC"/>
            </a:solidFill>
            <a:prstDash val="solid"/>
            <a:round/>
            <a:headEnd len="sm" w="sm" type="none"/>
            <a:tailEnd len="sm" w="sm" type="none"/>
          </a:ln>
        </p:spPr>
      </p:cxnSp>
      <p:sp>
        <p:nvSpPr>
          <p:cNvPr id="503" name="Google Shape;503;g3f8386f7cd2_2_369"/>
          <p:cNvSpPr/>
          <p:nvPr/>
        </p:nvSpPr>
        <p:spPr>
          <a:xfrm>
            <a:off x="731501" y="3730752"/>
            <a:ext cx="1280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500"/>
              <a:buFont typeface="Cambria"/>
              <a:buNone/>
            </a:pPr>
            <a:r>
              <a:rPr b="1" i="0" lang="en-US" sz="1500" u="none" cap="none" strike="noStrike">
                <a:solidFill>
                  <a:srgbClr val="B44A3C"/>
                </a:solidFill>
                <a:latin typeface="Cambria"/>
                <a:ea typeface="Cambria"/>
                <a:cs typeface="Cambria"/>
                <a:sym typeface="Cambria"/>
              </a:rPr>
              <a:t>PHQ-4</a:t>
            </a:r>
            <a:endParaRPr b="0" i="0" sz="1500" u="none" cap="none" strike="noStrike">
              <a:solidFill>
                <a:schemeClr val="dk1"/>
              </a:solidFill>
              <a:latin typeface="Calibri"/>
              <a:ea typeface="Calibri"/>
              <a:cs typeface="Calibri"/>
              <a:sym typeface="Calibri"/>
            </a:endParaRPr>
          </a:p>
        </p:txBody>
      </p:sp>
      <p:sp>
        <p:nvSpPr>
          <p:cNvPr id="504" name="Google Shape;504;g3f8386f7cd2_2_369"/>
          <p:cNvSpPr/>
          <p:nvPr/>
        </p:nvSpPr>
        <p:spPr>
          <a:xfrm>
            <a:off x="2103064" y="3730752"/>
            <a:ext cx="3764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Ultra-brief distress screen</a:t>
            </a:r>
            <a:endParaRPr b="0" i="0" sz="1400" u="none" cap="none" strike="noStrike">
              <a:solidFill>
                <a:schemeClr val="dk1"/>
              </a:solidFill>
              <a:latin typeface="Calibri"/>
              <a:ea typeface="Calibri"/>
              <a:cs typeface="Calibri"/>
              <a:sym typeface="Calibri"/>
            </a:endParaRPr>
          </a:p>
        </p:txBody>
      </p:sp>
      <p:sp>
        <p:nvSpPr>
          <p:cNvPr id="505" name="Google Shape;505;g3f8386f7cd2_2_369"/>
          <p:cNvSpPr/>
          <p:nvPr/>
        </p:nvSpPr>
        <p:spPr>
          <a:xfrm>
            <a:off x="2103064" y="4041648"/>
            <a:ext cx="3764700" cy="5028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200" u="none" cap="none" strike="noStrike">
                <a:solidFill>
                  <a:srgbClr val="5F706C"/>
                </a:solidFill>
                <a:latin typeface="Calibri"/>
                <a:ea typeface="Calibri"/>
                <a:cs typeface="Calibri"/>
                <a:sym typeface="Calibri"/>
              </a:rPr>
              <a:t>Lower emotional distress</a:t>
            </a:r>
            <a:endParaRPr b="0" i="0" sz="1200" u="none" cap="none" strike="noStrike">
              <a:solidFill>
                <a:schemeClr val="dk1"/>
              </a:solidFill>
              <a:latin typeface="Calibri"/>
              <a:ea typeface="Calibri"/>
              <a:cs typeface="Calibri"/>
              <a:sym typeface="Calibri"/>
            </a:endParaRPr>
          </a:p>
        </p:txBody>
      </p:sp>
      <p:cxnSp>
        <p:nvCxnSpPr>
          <p:cNvPr id="506" name="Google Shape;506;g3f8386f7cd2_2_369"/>
          <p:cNvCxnSpPr/>
          <p:nvPr/>
        </p:nvCxnSpPr>
        <p:spPr>
          <a:xfrm>
            <a:off x="731500" y="4553712"/>
            <a:ext cx="5136300" cy="0"/>
          </a:xfrm>
          <a:prstGeom prst="straightConnector1">
            <a:avLst/>
          </a:prstGeom>
          <a:noFill/>
          <a:ln cap="flat" cmpd="sng" w="9525">
            <a:solidFill>
              <a:srgbClr val="C6D1CC"/>
            </a:solidFill>
            <a:prstDash val="solid"/>
            <a:round/>
            <a:headEnd len="sm" w="sm" type="none"/>
            <a:tailEnd len="sm" w="sm" type="none"/>
          </a:ln>
        </p:spPr>
      </p:cxnSp>
      <p:sp>
        <p:nvSpPr>
          <p:cNvPr id="507" name="Google Shape;507;g3f8386f7cd2_2_369"/>
          <p:cNvSpPr/>
          <p:nvPr/>
        </p:nvSpPr>
        <p:spPr>
          <a:xfrm>
            <a:off x="731501" y="4608576"/>
            <a:ext cx="1280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500"/>
              <a:buFont typeface="Cambria"/>
              <a:buNone/>
            </a:pPr>
            <a:r>
              <a:rPr b="1" i="0" lang="en-US" sz="1500" u="none" cap="none" strike="noStrike">
                <a:solidFill>
                  <a:srgbClr val="B44A3C"/>
                </a:solidFill>
                <a:latin typeface="Cambria"/>
                <a:ea typeface="Cambria"/>
                <a:cs typeface="Cambria"/>
                <a:sym typeface="Cambria"/>
              </a:rPr>
              <a:t>—</a:t>
            </a:r>
            <a:endParaRPr b="0" i="0" sz="1500" u="none" cap="none" strike="noStrike">
              <a:solidFill>
                <a:schemeClr val="dk1"/>
              </a:solidFill>
              <a:latin typeface="Calibri"/>
              <a:ea typeface="Calibri"/>
              <a:cs typeface="Calibri"/>
              <a:sym typeface="Calibri"/>
            </a:endParaRPr>
          </a:p>
        </p:txBody>
      </p:sp>
      <p:sp>
        <p:nvSpPr>
          <p:cNvPr id="508" name="Google Shape;508;g3f8386f7cd2_2_369"/>
          <p:cNvSpPr/>
          <p:nvPr/>
        </p:nvSpPr>
        <p:spPr>
          <a:xfrm>
            <a:off x="2103064" y="4608576"/>
            <a:ext cx="3764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Communication self-efficacy</a:t>
            </a:r>
            <a:endParaRPr b="0" i="0" sz="1400" u="none" cap="none" strike="noStrike">
              <a:solidFill>
                <a:schemeClr val="dk1"/>
              </a:solidFill>
              <a:latin typeface="Calibri"/>
              <a:ea typeface="Calibri"/>
              <a:cs typeface="Calibri"/>
              <a:sym typeface="Calibri"/>
            </a:endParaRPr>
          </a:p>
        </p:txBody>
      </p:sp>
      <p:sp>
        <p:nvSpPr>
          <p:cNvPr id="509" name="Google Shape;509;g3f8386f7cd2_2_369"/>
          <p:cNvSpPr/>
          <p:nvPr/>
        </p:nvSpPr>
        <p:spPr>
          <a:xfrm>
            <a:off x="2103064" y="4919472"/>
            <a:ext cx="3764700" cy="5028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200" u="none" cap="none" strike="noStrike">
                <a:solidFill>
                  <a:srgbClr val="5F706C"/>
                </a:solidFill>
                <a:latin typeface="Calibri"/>
                <a:ea typeface="Calibri"/>
                <a:cs typeface="Calibri"/>
                <a:sym typeface="Calibri"/>
              </a:rPr>
              <a:t>More confidence starting conversations</a:t>
            </a:r>
            <a:endParaRPr b="0" i="0" sz="1200" u="none" cap="none" strike="noStrike">
              <a:solidFill>
                <a:schemeClr val="dk1"/>
              </a:solidFill>
              <a:latin typeface="Calibri"/>
              <a:ea typeface="Calibri"/>
              <a:cs typeface="Calibri"/>
              <a:sym typeface="Calibri"/>
            </a:endParaRPr>
          </a:p>
        </p:txBody>
      </p:sp>
      <p:sp>
        <p:nvSpPr>
          <p:cNvPr id="510" name="Google Shape;510;g3f8386f7cd2_2_369"/>
          <p:cNvSpPr/>
          <p:nvPr/>
        </p:nvSpPr>
        <p:spPr>
          <a:xfrm>
            <a:off x="6324736" y="1975104"/>
            <a:ext cx="1280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500"/>
              <a:buFont typeface="Cambria"/>
              <a:buNone/>
            </a:pPr>
            <a:r>
              <a:rPr b="1" i="0" lang="en-US" sz="1500" u="none" cap="none" strike="noStrike">
                <a:solidFill>
                  <a:srgbClr val="B44A3C"/>
                </a:solidFill>
                <a:latin typeface="Cambria"/>
                <a:ea typeface="Cambria"/>
                <a:cs typeface="Cambria"/>
                <a:sym typeface="Cambria"/>
              </a:rPr>
              <a:t>01</a:t>
            </a:r>
            <a:endParaRPr b="0" i="0" sz="1500" u="none" cap="none" strike="noStrike">
              <a:solidFill>
                <a:schemeClr val="dk1"/>
              </a:solidFill>
              <a:latin typeface="Calibri"/>
              <a:ea typeface="Calibri"/>
              <a:cs typeface="Calibri"/>
              <a:sym typeface="Calibri"/>
            </a:endParaRPr>
          </a:p>
        </p:txBody>
      </p:sp>
      <p:sp>
        <p:nvSpPr>
          <p:cNvPr id="511" name="Google Shape;511;g3f8386f7cd2_2_369"/>
          <p:cNvSpPr/>
          <p:nvPr/>
        </p:nvSpPr>
        <p:spPr>
          <a:xfrm>
            <a:off x="7696300" y="1975104"/>
            <a:ext cx="3764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Earlier Service Contact</a:t>
            </a:r>
            <a:endParaRPr b="0" i="0" sz="1400" u="none" cap="none" strike="noStrike">
              <a:solidFill>
                <a:schemeClr val="dk1"/>
              </a:solidFill>
              <a:latin typeface="Calibri"/>
              <a:ea typeface="Calibri"/>
              <a:cs typeface="Calibri"/>
              <a:sym typeface="Calibri"/>
            </a:endParaRPr>
          </a:p>
        </p:txBody>
      </p:sp>
      <p:sp>
        <p:nvSpPr>
          <p:cNvPr id="512" name="Google Shape;512;g3f8386f7cd2_2_369"/>
          <p:cNvSpPr/>
          <p:nvPr/>
        </p:nvSpPr>
        <p:spPr>
          <a:xfrm>
            <a:off x="7696300" y="2286000"/>
            <a:ext cx="3764700" cy="5028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200" u="none" cap="none" strike="noStrike">
                <a:solidFill>
                  <a:srgbClr val="5F706C"/>
                </a:solidFill>
                <a:latin typeface="Calibri"/>
                <a:ea typeface="Calibri"/>
                <a:cs typeface="Calibri"/>
                <a:sym typeface="Calibri"/>
              </a:rPr>
              <a:t>Families receive available support sooner</a:t>
            </a:r>
            <a:endParaRPr b="0" i="0" sz="1200" u="none" cap="none" strike="noStrike">
              <a:solidFill>
                <a:schemeClr val="dk1"/>
              </a:solidFill>
              <a:latin typeface="Calibri"/>
              <a:ea typeface="Calibri"/>
              <a:cs typeface="Calibri"/>
              <a:sym typeface="Calibri"/>
            </a:endParaRPr>
          </a:p>
        </p:txBody>
      </p:sp>
      <p:cxnSp>
        <p:nvCxnSpPr>
          <p:cNvPr id="513" name="Google Shape;513;g3f8386f7cd2_2_369"/>
          <p:cNvCxnSpPr/>
          <p:nvPr/>
        </p:nvCxnSpPr>
        <p:spPr>
          <a:xfrm>
            <a:off x="6324736" y="2798064"/>
            <a:ext cx="5136300" cy="0"/>
          </a:xfrm>
          <a:prstGeom prst="straightConnector1">
            <a:avLst/>
          </a:prstGeom>
          <a:noFill/>
          <a:ln cap="flat" cmpd="sng" w="9525">
            <a:solidFill>
              <a:srgbClr val="C6D1CC"/>
            </a:solidFill>
            <a:prstDash val="solid"/>
            <a:round/>
            <a:headEnd len="sm" w="sm" type="none"/>
            <a:tailEnd len="sm" w="sm" type="none"/>
          </a:ln>
        </p:spPr>
      </p:cxnSp>
      <p:sp>
        <p:nvSpPr>
          <p:cNvPr id="514" name="Google Shape;514;g3f8386f7cd2_2_369"/>
          <p:cNvSpPr/>
          <p:nvPr/>
        </p:nvSpPr>
        <p:spPr>
          <a:xfrm>
            <a:off x="6324736" y="2852928"/>
            <a:ext cx="1280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500"/>
              <a:buFont typeface="Cambria"/>
              <a:buNone/>
            </a:pPr>
            <a:r>
              <a:rPr b="1" i="0" lang="en-US" sz="1500" u="none" cap="none" strike="noStrike">
                <a:solidFill>
                  <a:srgbClr val="B44A3C"/>
                </a:solidFill>
                <a:latin typeface="Cambria"/>
                <a:ea typeface="Cambria"/>
                <a:cs typeface="Cambria"/>
                <a:sym typeface="Cambria"/>
              </a:rPr>
              <a:t>02</a:t>
            </a:r>
            <a:endParaRPr b="0" i="0" sz="1500" u="none" cap="none" strike="noStrike">
              <a:solidFill>
                <a:schemeClr val="dk1"/>
              </a:solidFill>
              <a:latin typeface="Calibri"/>
              <a:ea typeface="Calibri"/>
              <a:cs typeface="Calibri"/>
              <a:sym typeface="Calibri"/>
            </a:endParaRPr>
          </a:p>
        </p:txBody>
      </p:sp>
      <p:sp>
        <p:nvSpPr>
          <p:cNvPr id="515" name="Google Shape;515;g3f8386f7cd2_2_369"/>
          <p:cNvSpPr/>
          <p:nvPr/>
        </p:nvSpPr>
        <p:spPr>
          <a:xfrm>
            <a:off x="7696300" y="2852928"/>
            <a:ext cx="3764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Caregiver Help Seeking</a:t>
            </a:r>
            <a:endParaRPr b="0" i="0" sz="1400" u="none" cap="none" strike="noStrike">
              <a:solidFill>
                <a:schemeClr val="dk1"/>
              </a:solidFill>
              <a:latin typeface="Calibri"/>
              <a:ea typeface="Calibri"/>
              <a:cs typeface="Calibri"/>
              <a:sym typeface="Calibri"/>
            </a:endParaRPr>
          </a:p>
        </p:txBody>
      </p:sp>
      <p:sp>
        <p:nvSpPr>
          <p:cNvPr id="516" name="Google Shape;516;g3f8386f7cd2_2_369"/>
          <p:cNvSpPr/>
          <p:nvPr/>
        </p:nvSpPr>
        <p:spPr>
          <a:xfrm>
            <a:off x="7696300" y="3163824"/>
            <a:ext cx="3764700" cy="5028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200" u="none" cap="none" strike="noStrike">
                <a:solidFill>
                  <a:srgbClr val="5F706C"/>
                </a:solidFill>
                <a:latin typeface="Calibri"/>
                <a:ea typeface="Calibri"/>
                <a:cs typeface="Calibri"/>
                <a:sym typeface="Calibri"/>
              </a:rPr>
              <a:t>Caregivers seek support for themselves</a:t>
            </a:r>
            <a:endParaRPr b="0" i="0" sz="1200" u="none" cap="none" strike="noStrike">
              <a:solidFill>
                <a:schemeClr val="dk1"/>
              </a:solidFill>
              <a:latin typeface="Calibri"/>
              <a:ea typeface="Calibri"/>
              <a:cs typeface="Calibri"/>
              <a:sym typeface="Calibri"/>
            </a:endParaRPr>
          </a:p>
        </p:txBody>
      </p:sp>
      <p:cxnSp>
        <p:nvCxnSpPr>
          <p:cNvPr id="517" name="Google Shape;517;g3f8386f7cd2_2_369"/>
          <p:cNvCxnSpPr/>
          <p:nvPr/>
        </p:nvCxnSpPr>
        <p:spPr>
          <a:xfrm>
            <a:off x="6324736" y="3675888"/>
            <a:ext cx="5136300" cy="0"/>
          </a:xfrm>
          <a:prstGeom prst="straightConnector1">
            <a:avLst/>
          </a:prstGeom>
          <a:noFill/>
          <a:ln cap="flat" cmpd="sng" w="9525">
            <a:solidFill>
              <a:srgbClr val="C6D1CC"/>
            </a:solidFill>
            <a:prstDash val="solid"/>
            <a:round/>
            <a:headEnd len="sm" w="sm" type="none"/>
            <a:tailEnd len="sm" w="sm" type="none"/>
          </a:ln>
        </p:spPr>
      </p:cxnSp>
      <p:sp>
        <p:nvSpPr>
          <p:cNvPr id="518" name="Google Shape;518;g3f8386f7cd2_2_369"/>
          <p:cNvSpPr/>
          <p:nvPr/>
        </p:nvSpPr>
        <p:spPr>
          <a:xfrm>
            <a:off x="6324736" y="3730752"/>
            <a:ext cx="1280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500"/>
              <a:buFont typeface="Cambria"/>
              <a:buNone/>
            </a:pPr>
            <a:r>
              <a:rPr b="1" i="0" lang="en-US" sz="1500" u="none" cap="none" strike="noStrike">
                <a:solidFill>
                  <a:srgbClr val="B44A3C"/>
                </a:solidFill>
                <a:latin typeface="Cambria"/>
                <a:ea typeface="Cambria"/>
                <a:cs typeface="Cambria"/>
                <a:sym typeface="Cambria"/>
              </a:rPr>
              <a:t>03</a:t>
            </a:r>
            <a:endParaRPr b="0" i="0" sz="1500" u="none" cap="none" strike="noStrike">
              <a:solidFill>
                <a:schemeClr val="dk1"/>
              </a:solidFill>
              <a:latin typeface="Calibri"/>
              <a:ea typeface="Calibri"/>
              <a:cs typeface="Calibri"/>
              <a:sym typeface="Calibri"/>
            </a:endParaRPr>
          </a:p>
        </p:txBody>
      </p:sp>
      <p:sp>
        <p:nvSpPr>
          <p:cNvPr id="519" name="Google Shape;519;g3f8386f7cd2_2_369"/>
          <p:cNvSpPr/>
          <p:nvPr/>
        </p:nvSpPr>
        <p:spPr>
          <a:xfrm>
            <a:off x="7696300" y="3730752"/>
            <a:ext cx="3764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A norm, not just an attitude</a:t>
            </a:r>
            <a:endParaRPr b="0" i="0" sz="1400" u="none" cap="none" strike="noStrike">
              <a:solidFill>
                <a:schemeClr val="dk1"/>
              </a:solidFill>
              <a:latin typeface="Calibri"/>
              <a:ea typeface="Calibri"/>
              <a:cs typeface="Calibri"/>
              <a:sym typeface="Calibri"/>
            </a:endParaRPr>
          </a:p>
        </p:txBody>
      </p:sp>
      <p:sp>
        <p:nvSpPr>
          <p:cNvPr id="520" name="Google Shape;520;g3f8386f7cd2_2_369"/>
          <p:cNvSpPr/>
          <p:nvPr/>
        </p:nvSpPr>
        <p:spPr>
          <a:xfrm>
            <a:off x="7696300" y="4041648"/>
            <a:ext cx="3764700" cy="5028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200" u="none" cap="none" strike="noStrike">
                <a:solidFill>
                  <a:srgbClr val="5F706C"/>
                </a:solidFill>
                <a:latin typeface="Calibri"/>
                <a:ea typeface="Calibri"/>
                <a:cs typeface="Calibri"/>
                <a:sym typeface="Calibri"/>
              </a:rPr>
              <a:t>Open communication becomes acceptable within the family</a:t>
            </a:r>
            <a:endParaRPr b="0" i="0" sz="1200" u="none" cap="none" strike="noStrike">
              <a:solidFill>
                <a:schemeClr val="dk1"/>
              </a:solidFill>
              <a:latin typeface="Calibri"/>
              <a:ea typeface="Calibri"/>
              <a:cs typeface="Calibri"/>
              <a:sym typeface="Calibri"/>
            </a:endParaRPr>
          </a:p>
        </p:txBody>
      </p:sp>
      <p:cxnSp>
        <p:nvCxnSpPr>
          <p:cNvPr id="521" name="Google Shape;521;g3f8386f7cd2_2_369"/>
          <p:cNvCxnSpPr/>
          <p:nvPr/>
        </p:nvCxnSpPr>
        <p:spPr>
          <a:xfrm>
            <a:off x="6324736" y="4553712"/>
            <a:ext cx="5136300" cy="0"/>
          </a:xfrm>
          <a:prstGeom prst="straightConnector1">
            <a:avLst/>
          </a:prstGeom>
          <a:noFill/>
          <a:ln cap="flat" cmpd="sng" w="9525">
            <a:solidFill>
              <a:srgbClr val="C6D1CC"/>
            </a:solidFill>
            <a:prstDash val="solid"/>
            <a:round/>
            <a:headEnd len="sm" w="sm" type="none"/>
            <a:tailEnd len="sm" w="sm" type="none"/>
          </a:ln>
        </p:spPr>
      </p:cxnSp>
      <p:sp>
        <p:nvSpPr>
          <p:cNvPr id="522" name="Google Shape;522;g3f8386f7cd2_2_369"/>
          <p:cNvSpPr/>
          <p:nvPr/>
        </p:nvSpPr>
        <p:spPr>
          <a:xfrm>
            <a:off x="6324736" y="4608576"/>
            <a:ext cx="1280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500"/>
              <a:buFont typeface="Cambria"/>
              <a:buNone/>
            </a:pPr>
            <a:r>
              <a:rPr b="1" i="0" lang="en-US" sz="1500" u="none" cap="none" strike="noStrike">
                <a:solidFill>
                  <a:srgbClr val="B44A3C"/>
                </a:solidFill>
                <a:latin typeface="Cambria"/>
                <a:ea typeface="Cambria"/>
                <a:cs typeface="Cambria"/>
                <a:sym typeface="Cambria"/>
              </a:rPr>
              <a:t>04</a:t>
            </a:r>
            <a:endParaRPr b="0" i="0" sz="1500" u="none" cap="none" strike="noStrike">
              <a:solidFill>
                <a:schemeClr val="dk1"/>
              </a:solidFill>
              <a:latin typeface="Calibri"/>
              <a:ea typeface="Calibri"/>
              <a:cs typeface="Calibri"/>
              <a:sym typeface="Calibri"/>
            </a:endParaRPr>
          </a:p>
        </p:txBody>
      </p:sp>
      <p:sp>
        <p:nvSpPr>
          <p:cNvPr id="523" name="Google Shape;523;g3f8386f7cd2_2_369"/>
          <p:cNvSpPr/>
          <p:nvPr/>
        </p:nvSpPr>
        <p:spPr>
          <a:xfrm>
            <a:off x="7696300" y="4608576"/>
            <a:ext cx="3764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400"/>
              <a:buFont typeface="Cambria"/>
              <a:buNone/>
            </a:pPr>
            <a:r>
              <a:rPr b="1" i="0" lang="en-US" sz="1400" u="none" cap="none" strike="noStrike">
                <a:solidFill>
                  <a:srgbClr val="16232E"/>
                </a:solidFill>
                <a:latin typeface="Cambria"/>
                <a:ea typeface="Cambria"/>
                <a:cs typeface="Cambria"/>
                <a:sym typeface="Cambria"/>
              </a:rPr>
              <a:t>A third position for AI</a:t>
            </a:r>
            <a:endParaRPr b="0" i="0" sz="1400" u="none" cap="none" strike="noStrike">
              <a:solidFill>
                <a:schemeClr val="dk1"/>
              </a:solidFill>
              <a:latin typeface="Calibri"/>
              <a:ea typeface="Calibri"/>
              <a:cs typeface="Calibri"/>
              <a:sym typeface="Calibri"/>
            </a:endParaRPr>
          </a:p>
        </p:txBody>
      </p:sp>
      <p:sp>
        <p:nvSpPr>
          <p:cNvPr id="524" name="Google Shape;524;g3f8386f7cd2_2_369"/>
          <p:cNvSpPr/>
          <p:nvPr/>
        </p:nvSpPr>
        <p:spPr>
          <a:xfrm>
            <a:off x="7696300" y="4919472"/>
            <a:ext cx="3764700" cy="5028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100" u="none" cap="none" strike="noStrike">
                <a:solidFill>
                  <a:srgbClr val="5F706C"/>
                </a:solidFill>
                <a:latin typeface="Calibri"/>
                <a:ea typeface="Calibri"/>
                <a:cs typeface="Calibri"/>
                <a:sym typeface="Calibri"/>
              </a:rPr>
              <a:t>AI successfully hands users off to people</a:t>
            </a:r>
            <a:endParaRPr b="0" i="0" sz="1100" u="none" cap="none" strike="noStrike">
              <a:solidFill>
                <a:schemeClr val="dk1"/>
              </a:solidFill>
              <a:latin typeface="Calibri"/>
              <a:ea typeface="Calibri"/>
              <a:cs typeface="Calibri"/>
              <a:sym typeface="Calibri"/>
            </a:endParaRPr>
          </a:p>
        </p:txBody>
      </p:sp>
      <p:sp>
        <p:nvSpPr>
          <p:cNvPr id="525" name="Google Shape;525;g3f8386f7cd2_2_369"/>
          <p:cNvSpPr/>
          <p:nvPr/>
        </p:nvSpPr>
        <p:spPr>
          <a:xfrm>
            <a:off x="731500" y="5486400"/>
            <a:ext cx="10728300" cy="603600"/>
          </a:xfrm>
          <a:prstGeom prst="roundRect">
            <a:avLst>
              <a:gd fmla="val 3500" name="adj"/>
            </a:avLst>
          </a:prstGeom>
          <a:solidFill>
            <a:srgbClr val="F4F7F4"/>
          </a:solidFill>
          <a:ln cap="flat" cmpd="sng" w="12700">
            <a:solidFill>
              <a:srgbClr val="F4F7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g3f8386f7cd2_2_369"/>
          <p:cNvSpPr/>
          <p:nvPr/>
        </p:nvSpPr>
        <p:spPr>
          <a:xfrm>
            <a:off x="1051532" y="5486400"/>
            <a:ext cx="10088400" cy="603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300"/>
              <a:buFont typeface="Calibri"/>
              <a:buNone/>
            </a:pPr>
            <a:r>
              <a:rPr b="1" i="0" lang="en-US" sz="1300" u="none" cap="none" strike="noStrike">
                <a:solidFill>
                  <a:srgbClr val="16232E"/>
                </a:solidFill>
                <a:latin typeface="Calibri"/>
                <a:ea typeface="Calibri"/>
                <a:cs typeface="Calibri"/>
                <a:sym typeface="Calibri"/>
              </a:rPr>
              <a:t>And the primary question, which no instrument answers:  </a:t>
            </a:r>
            <a:r>
              <a:rPr b="0" i="0" lang="en-US" sz="1300" u="none" cap="none" strike="noStrike">
                <a:solidFill>
                  <a:srgbClr val="5F706C"/>
                </a:solidFill>
                <a:latin typeface="Calibri"/>
                <a:ea typeface="Calibri"/>
                <a:cs typeface="Calibri"/>
                <a:sym typeface="Calibri"/>
              </a:rPr>
              <a:t>did the conversation happen, and did it happen earlier than it would have?</a:t>
            </a:r>
            <a:endParaRPr b="0" i="0" sz="1300" u="none" cap="none" strike="noStrike">
              <a:solidFill>
                <a:schemeClr val="dk1"/>
              </a:solidFill>
              <a:latin typeface="Calibri"/>
              <a:ea typeface="Calibri"/>
              <a:cs typeface="Calibri"/>
              <a:sym typeface="Calibri"/>
            </a:endParaRPr>
          </a:p>
        </p:txBody>
      </p:sp>
      <p:sp>
        <p:nvSpPr>
          <p:cNvPr id="527" name="Google Shape;527;g3f8386f7cd2_2_369"/>
          <p:cNvSpPr/>
          <p:nvPr/>
        </p:nvSpPr>
        <p:spPr>
          <a:xfrm>
            <a:off x="731501" y="6281928"/>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900"/>
              <a:buFont typeface="Calibri"/>
              <a:buNone/>
            </a:pPr>
            <a:r>
              <a:rPr b="0" i="0" lang="en-US" sz="900" u="none" cap="none" strike="noStrike">
                <a:solidFill>
                  <a:srgbClr val="5F706C"/>
                </a:solidFill>
                <a:latin typeface="Calibri"/>
                <a:ea typeface="Calibri"/>
                <a:cs typeface="Calibri"/>
                <a:sym typeface="Calibri"/>
              </a:rPr>
              <a:t>Bridge · Group 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532" name="Shape 532"/>
        <p:cNvGrpSpPr/>
        <p:nvPr/>
      </p:nvGrpSpPr>
      <p:grpSpPr>
        <a:xfrm>
          <a:off x="0" y="0"/>
          <a:ext cx="0" cy="0"/>
          <a:chOff x="0" y="0"/>
          <a:chExt cx="0" cy="0"/>
        </a:xfrm>
      </p:grpSpPr>
      <p:sp>
        <p:nvSpPr>
          <p:cNvPr id="533" name="Google Shape;533;g3f8386f7cd2_2_412"/>
          <p:cNvSpPr/>
          <p:nvPr/>
        </p:nvSpPr>
        <p:spPr>
          <a:xfrm>
            <a:off x="731500" y="502920"/>
            <a:ext cx="10728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100"/>
              <a:buFont typeface="Calibri"/>
              <a:buNone/>
            </a:pPr>
            <a:r>
              <a:rPr b="1" i="0" lang="en-US" sz="1100" u="none" cap="none" strike="noStrike">
                <a:solidFill>
                  <a:srgbClr val="B44A3C"/>
                </a:solidFill>
                <a:latin typeface="Calibri"/>
                <a:ea typeface="Calibri"/>
                <a:cs typeface="Calibri"/>
                <a:sym typeface="Calibri"/>
              </a:rPr>
              <a:t>DISCONFIRMATION  ·  §7</a:t>
            </a:r>
            <a:endParaRPr b="0" i="0" sz="1100" u="none" cap="none" strike="noStrike">
              <a:solidFill>
                <a:schemeClr val="dk1"/>
              </a:solidFill>
              <a:latin typeface="Calibri"/>
              <a:ea typeface="Calibri"/>
              <a:cs typeface="Calibri"/>
              <a:sym typeface="Calibri"/>
            </a:endParaRPr>
          </a:p>
        </p:txBody>
      </p:sp>
      <p:sp>
        <p:nvSpPr>
          <p:cNvPr id="534" name="Google Shape;534;g3f8386f7cd2_2_412"/>
          <p:cNvSpPr/>
          <p:nvPr/>
        </p:nvSpPr>
        <p:spPr>
          <a:xfrm>
            <a:off x="731500" y="850392"/>
            <a:ext cx="10728300" cy="548700"/>
          </a:xfrm>
          <a:prstGeom prst="rect">
            <a:avLst/>
          </a:prstGeom>
          <a:noFill/>
          <a:ln>
            <a:noFill/>
          </a:ln>
        </p:spPr>
        <p:txBody>
          <a:bodyPr anchorCtr="0" anchor="t" bIns="0" lIns="0" spcFirstLastPara="1" rIns="0" wrap="square" tIns="0">
            <a:noAutofit/>
          </a:bodyPr>
          <a:lstStyle/>
          <a:p>
            <a:pPr indent="0" lvl="0" marL="0" marR="0" rtl="0" algn="l">
              <a:lnSpc>
                <a:spcPct val="117647"/>
              </a:lnSpc>
              <a:spcBef>
                <a:spcPts val="0"/>
              </a:spcBef>
              <a:spcAft>
                <a:spcPts val="0"/>
              </a:spcAft>
              <a:buClr>
                <a:srgbClr val="16232E"/>
              </a:buClr>
              <a:buSzPts val="3400"/>
              <a:buFont typeface="Cambria"/>
              <a:buNone/>
            </a:pPr>
            <a:r>
              <a:rPr b="1" i="0" lang="en-US" sz="3400" u="none" cap="none" strike="noStrike">
                <a:solidFill>
                  <a:srgbClr val="16232E"/>
                </a:solidFill>
                <a:latin typeface="Cambria"/>
                <a:ea typeface="Cambria"/>
                <a:cs typeface="Cambria"/>
                <a:sym typeface="Cambria"/>
              </a:rPr>
              <a:t>Five results that would tell us we are wrong.</a:t>
            </a:r>
            <a:endParaRPr b="0" i="0" sz="3400" u="none" cap="none" strike="noStrike">
              <a:solidFill>
                <a:schemeClr val="dk1"/>
              </a:solidFill>
              <a:latin typeface="Calibri"/>
              <a:ea typeface="Calibri"/>
              <a:cs typeface="Calibri"/>
              <a:sym typeface="Calibri"/>
            </a:endParaRPr>
          </a:p>
        </p:txBody>
      </p:sp>
      <p:sp>
        <p:nvSpPr>
          <p:cNvPr id="535" name="Google Shape;535;g3f8386f7cd2_2_412"/>
          <p:cNvSpPr/>
          <p:nvPr/>
        </p:nvSpPr>
        <p:spPr>
          <a:xfrm>
            <a:off x="731500" y="1481328"/>
            <a:ext cx="5136300" cy="1417200"/>
          </a:xfrm>
          <a:prstGeom prst="roundRect">
            <a:avLst>
              <a:gd fmla="val 3500" name="adj"/>
            </a:avLst>
          </a:prstGeom>
          <a:solidFill>
            <a:srgbClr val="F4F7F4"/>
          </a:solidFill>
          <a:ln cap="flat" cmpd="sng" w="9525">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g3f8386f7cd2_2_412"/>
          <p:cNvSpPr/>
          <p:nvPr/>
        </p:nvSpPr>
        <p:spPr>
          <a:xfrm>
            <a:off x="1051532" y="1664208"/>
            <a:ext cx="109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200"/>
              <a:buFont typeface="Cambria"/>
              <a:buNone/>
            </a:pPr>
            <a:r>
              <a:rPr b="1" i="0" lang="en-US" sz="1200" u="none" cap="none" strike="noStrike">
                <a:solidFill>
                  <a:srgbClr val="B44A3C"/>
                </a:solidFill>
                <a:latin typeface="Cambria"/>
                <a:ea typeface="Cambria"/>
                <a:cs typeface="Cambria"/>
                <a:sym typeface="Cambria"/>
              </a:rPr>
              <a:t>01</a:t>
            </a:r>
            <a:endParaRPr b="0" i="0" sz="1200" u="none" cap="none" strike="noStrike">
              <a:solidFill>
                <a:schemeClr val="dk1"/>
              </a:solidFill>
              <a:latin typeface="Calibri"/>
              <a:ea typeface="Calibri"/>
              <a:cs typeface="Calibri"/>
              <a:sym typeface="Calibri"/>
            </a:endParaRPr>
          </a:p>
        </p:txBody>
      </p:sp>
      <p:sp>
        <p:nvSpPr>
          <p:cNvPr id="537" name="Google Shape;537;g3f8386f7cd2_2_412"/>
          <p:cNvSpPr/>
          <p:nvPr/>
        </p:nvSpPr>
        <p:spPr>
          <a:xfrm>
            <a:off x="1051532" y="1938528"/>
            <a:ext cx="4496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mbria"/>
              <a:buNone/>
            </a:pPr>
            <a:r>
              <a:rPr b="1" i="0" lang="en-US" sz="1550" u="none" cap="none" strike="noStrike">
                <a:solidFill>
                  <a:srgbClr val="16232E"/>
                </a:solidFill>
                <a:latin typeface="Cambria"/>
                <a:ea typeface="Cambria"/>
                <a:cs typeface="Cambria"/>
                <a:sym typeface="Cambria"/>
              </a:rPr>
              <a:t>People feel better, but still do not talk</a:t>
            </a:r>
            <a:endParaRPr b="0" i="0" sz="1550" u="none" cap="none" strike="noStrike">
              <a:solidFill>
                <a:schemeClr val="dk1"/>
              </a:solidFill>
              <a:latin typeface="Calibri"/>
              <a:ea typeface="Calibri"/>
              <a:cs typeface="Calibri"/>
              <a:sym typeface="Calibri"/>
            </a:endParaRPr>
          </a:p>
        </p:txBody>
      </p:sp>
      <p:sp>
        <p:nvSpPr>
          <p:cNvPr id="538" name="Google Shape;538;g3f8386f7cd2_2_412"/>
          <p:cNvSpPr/>
          <p:nvPr/>
        </p:nvSpPr>
        <p:spPr>
          <a:xfrm>
            <a:off x="1051532" y="2304288"/>
            <a:ext cx="4496100" cy="5121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200" u="none" cap="none" strike="noStrike">
                <a:solidFill>
                  <a:srgbClr val="5F706C"/>
                </a:solidFill>
                <a:latin typeface="Calibri"/>
                <a:ea typeface="Calibri"/>
                <a:cs typeface="Calibri"/>
                <a:sym typeface="Calibri"/>
              </a:rPr>
              <a:t>Bridge reduced anxiety but did not lead to real conversations. We would need more practice and prompting, not more information.</a:t>
            </a:r>
            <a:endParaRPr b="0" i="0" sz="1100" u="none" cap="none" strike="noStrike">
              <a:solidFill>
                <a:srgbClr val="5F706C"/>
              </a:solidFill>
              <a:latin typeface="Calibri"/>
              <a:ea typeface="Calibri"/>
              <a:cs typeface="Calibri"/>
              <a:sym typeface="Calibri"/>
            </a:endParaRPr>
          </a:p>
        </p:txBody>
      </p:sp>
      <p:sp>
        <p:nvSpPr>
          <p:cNvPr id="539" name="Google Shape;539;g3f8386f7cd2_2_412"/>
          <p:cNvSpPr/>
          <p:nvPr/>
        </p:nvSpPr>
        <p:spPr>
          <a:xfrm>
            <a:off x="6324736" y="1481328"/>
            <a:ext cx="5136300" cy="1417200"/>
          </a:xfrm>
          <a:prstGeom prst="roundRect">
            <a:avLst>
              <a:gd fmla="val 3500" name="adj"/>
            </a:avLst>
          </a:prstGeom>
          <a:solidFill>
            <a:srgbClr val="F4F7F4"/>
          </a:solidFill>
          <a:ln cap="flat" cmpd="sng" w="9525">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g3f8386f7cd2_2_412"/>
          <p:cNvSpPr/>
          <p:nvPr/>
        </p:nvSpPr>
        <p:spPr>
          <a:xfrm>
            <a:off x="6644768" y="1664208"/>
            <a:ext cx="109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200"/>
              <a:buFont typeface="Cambria"/>
              <a:buNone/>
            </a:pPr>
            <a:r>
              <a:rPr b="1" i="0" lang="en-US" sz="1200" u="none" cap="none" strike="noStrike">
                <a:solidFill>
                  <a:srgbClr val="B44A3C"/>
                </a:solidFill>
                <a:latin typeface="Cambria"/>
                <a:ea typeface="Cambria"/>
                <a:cs typeface="Cambria"/>
                <a:sym typeface="Cambria"/>
              </a:rPr>
              <a:t>02</a:t>
            </a:r>
            <a:endParaRPr b="0" i="0" sz="1200" u="none" cap="none" strike="noStrike">
              <a:solidFill>
                <a:schemeClr val="dk1"/>
              </a:solidFill>
              <a:latin typeface="Calibri"/>
              <a:ea typeface="Calibri"/>
              <a:cs typeface="Calibri"/>
              <a:sym typeface="Calibri"/>
            </a:endParaRPr>
          </a:p>
        </p:txBody>
      </p:sp>
      <p:sp>
        <p:nvSpPr>
          <p:cNvPr id="541" name="Google Shape;541;g3f8386f7cd2_2_412"/>
          <p:cNvSpPr/>
          <p:nvPr/>
        </p:nvSpPr>
        <p:spPr>
          <a:xfrm>
            <a:off x="6644768" y="1938528"/>
            <a:ext cx="4496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mbria"/>
              <a:buNone/>
            </a:pPr>
            <a:r>
              <a:rPr b="1" i="0" lang="en-US" sz="1550" u="none" cap="none" strike="noStrike">
                <a:solidFill>
                  <a:srgbClr val="16232E"/>
                </a:solidFill>
                <a:latin typeface="Cambria"/>
                <a:ea typeface="Cambria"/>
                <a:cs typeface="Cambria"/>
                <a:sym typeface="Cambria"/>
              </a:rPr>
              <a:t>Family’s only use the children’s guide</a:t>
            </a:r>
            <a:endParaRPr b="0" i="0" sz="1550" u="none" cap="none" strike="noStrike">
              <a:solidFill>
                <a:schemeClr val="dk1"/>
              </a:solidFill>
              <a:latin typeface="Calibri"/>
              <a:ea typeface="Calibri"/>
              <a:cs typeface="Calibri"/>
              <a:sym typeface="Calibri"/>
            </a:endParaRPr>
          </a:p>
        </p:txBody>
      </p:sp>
      <p:sp>
        <p:nvSpPr>
          <p:cNvPr id="542" name="Google Shape;542;g3f8386f7cd2_2_412"/>
          <p:cNvSpPr/>
          <p:nvPr/>
        </p:nvSpPr>
        <p:spPr>
          <a:xfrm>
            <a:off x="6644768" y="2304288"/>
            <a:ext cx="4496100" cy="5121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100" u="none" cap="none" strike="noStrike">
                <a:solidFill>
                  <a:srgbClr val="5F706C"/>
                </a:solidFill>
                <a:latin typeface="Calibri"/>
                <a:ea typeface="Calibri"/>
                <a:cs typeface="Calibri"/>
                <a:sym typeface="Calibri"/>
              </a:rPr>
              <a:t>If users do not continue to caregiver support or service navigation, the guide is only attracting users—not making the full platform effective.</a:t>
            </a:r>
            <a:endParaRPr b="0" i="0" sz="1000" u="none" cap="none" strike="noStrike">
              <a:solidFill>
                <a:srgbClr val="5F706C"/>
              </a:solidFill>
              <a:latin typeface="Calibri"/>
              <a:ea typeface="Calibri"/>
              <a:cs typeface="Calibri"/>
              <a:sym typeface="Calibri"/>
            </a:endParaRPr>
          </a:p>
        </p:txBody>
      </p:sp>
      <p:sp>
        <p:nvSpPr>
          <p:cNvPr id="543" name="Google Shape;543;g3f8386f7cd2_2_412"/>
          <p:cNvSpPr/>
          <p:nvPr/>
        </p:nvSpPr>
        <p:spPr>
          <a:xfrm>
            <a:off x="731500" y="3081528"/>
            <a:ext cx="5136300" cy="1417200"/>
          </a:xfrm>
          <a:prstGeom prst="roundRect">
            <a:avLst>
              <a:gd fmla="val 3500" name="adj"/>
            </a:avLst>
          </a:prstGeom>
          <a:solidFill>
            <a:srgbClr val="F4F7F4"/>
          </a:solidFill>
          <a:ln cap="flat" cmpd="sng" w="9525">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g3f8386f7cd2_2_412"/>
          <p:cNvSpPr/>
          <p:nvPr/>
        </p:nvSpPr>
        <p:spPr>
          <a:xfrm>
            <a:off x="1051532" y="3264408"/>
            <a:ext cx="109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200"/>
              <a:buFont typeface="Cambria"/>
              <a:buNone/>
            </a:pPr>
            <a:r>
              <a:rPr b="1" i="0" lang="en-US" sz="1200" u="none" cap="none" strike="noStrike">
                <a:solidFill>
                  <a:srgbClr val="B44A3C"/>
                </a:solidFill>
                <a:latin typeface="Cambria"/>
                <a:ea typeface="Cambria"/>
                <a:cs typeface="Cambria"/>
                <a:sym typeface="Cambria"/>
              </a:rPr>
              <a:t>03</a:t>
            </a:r>
            <a:endParaRPr b="0" i="0" sz="1200" u="none" cap="none" strike="noStrike">
              <a:solidFill>
                <a:schemeClr val="dk1"/>
              </a:solidFill>
              <a:latin typeface="Calibri"/>
              <a:ea typeface="Calibri"/>
              <a:cs typeface="Calibri"/>
              <a:sym typeface="Calibri"/>
            </a:endParaRPr>
          </a:p>
        </p:txBody>
      </p:sp>
      <p:sp>
        <p:nvSpPr>
          <p:cNvPr id="545" name="Google Shape;545;g3f8386f7cd2_2_412"/>
          <p:cNvSpPr/>
          <p:nvPr/>
        </p:nvSpPr>
        <p:spPr>
          <a:xfrm>
            <a:off x="1051532" y="3538728"/>
            <a:ext cx="4496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mbria"/>
              <a:buNone/>
            </a:pPr>
            <a:r>
              <a:rPr b="1" i="0" lang="en-US" sz="1550" u="none" cap="none" strike="noStrike">
                <a:solidFill>
                  <a:srgbClr val="16232E"/>
                </a:solidFill>
                <a:latin typeface="Cambria"/>
                <a:ea typeface="Cambria"/>
                <a:cs typeface="Cambria"/>
                <a:sym typeface="Cambria"/>
              </a:rPr>
              <a:t>Caregiver burden increases</a:t>
            </a:r>
            <a:endParaRPr b="0" i="0" sz="1550" u="none" cap="none" strike="noStrike">
              <a:solidFill>
                <a:schemeClr val="dk1"/>
              </a:solidFill>
              <a:latin typeface="Calibri"/>
              <a:ea typeface="Calibri"/>
              <a:cs typeface="Calibri"/>
              <a:sym typeface="Calibri"/>
            </a:endParaRPr>
          </a:p>
        </p:txBody>
      </p:sp>
      <p:sp>
        <p:nvSpPr>
          <p:cNvPr id="546" name="Google Shape;546;g3f8386f7cd2_2_412"/>
          <p:cNvSpPr/>
          <p:nvPr/>
        </p:nvSpPr>
        <p:spPr>
          <a:xfrm>
            <a:off x="1051532" y="3904488"/>
            <a:ext cx="4496100" cy="5121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200" u="none" cap="none" strike="noStrike">
                <a:solidFill>
                  <a:srgbClr val="5F706C"/>
                </a:solidFill>
                <a:latin typeface="Calibri"/>
                <a:ea typeface="Calibri"/>
                <a:cs typeface="Calibri"/>
                <a:sym typeface="Calibri"/>
              </a:rPr>
              <a:t>Bridge may give an already overwhelmed caregiver more responsibility. We would treat this as a harmful outcome.</a:t>
            </a:r>
            <a:endParaRPr b="0" i="0" sz="1100" u="none" cap="none" strike="noStrike">
              <a:solidFill>
                <a:srgbClr val="5F706C"/>
              </a:solidFill>
              <a:latin typeface="Calibri"/>
              <a:ea typeface="Calibri"/>
              <a:cs typeface="Calibri"/>
              <a:sym typeface="Calibri"/>
            </a:endParaRPr>
          </a:p>
        </p:txBody>
      </p:sp>
      <p:sp>
        <p:nvSpPr>
          <p:cNvPr id="547" name="Google Shape;547;g3f8386f7cd2_2_412"/>
          <p:cNvSpPr/>
          <p:nvPr/>
        </p:nvSpPr>
        <p:spPr>
          <a:xfrm>
            <a:off x="6324736" y="3081528"/>
            <a:ext cx="5136300" cy="1417200"/>
          </a:xfrm>
          <a:prstGeom prst="roundRect">
            <a:avLst>
              <a:gd fmla="val 3500" name="adj"/>
            </a:avLst>
          </a:prstGeom>
          <a:solidFill>
            <a:srgbClr val="F4F7F4"/>
          </a:solidFill>
          <a:ln cap="flat" cmpd="sng" w="9525">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g3f8386f7cd2_2_412"/>
          <p:cNvSpPr/>
          <p:nvPr/>
        </p:nvSpPr>
        <p:spPr>
          <a:xfrm>
            <a:off x="6644768" y="3264408"/>
            <a:ext cx="109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200"/>
              <a:buFont typeface="Cambria"/>
              <a:buNone/>
            </a:pPr>
            <a:r>
              <a:rPr b="1" i="0" lang="en-US" sz="1200" u="none" cap="none" strike="noStrike">
                <a:solidFill>
                  <a:srgbClr val="B44A3C"/>
                </a:solidFill>
                <a:latin typeface="Cambria"/>
                <a:ea typeface="Cambria"/>
                <a:cs typeface="Cambria"/>
                <a:sym typeface="Cambria"/>
              </a:rPr>
              <a:t>04</a:t>
            </a:r>
            <a:endParaRPr b="0" i="0" sz="1200" u="none" cap="none" strike="noStrike">
              <a:solidFill>
                <a:schemeClr val="dk1"/>
              </a:solidFill>
              <a:latin typeface="Calibri"/>
              <a:ea typeface="Calibri"/>
              <a:cs typeface="Calibri"/>
              <a:sym typeface="Calibri"/>
            </a:endParaRPr>
          </a:p>
        </p:txBody>
      </p:sp>
      <p:sp>
        <p:nvSpPr>
          <p:cNvPr id="549" name="Google Shape;549;g3f8386f7cd2_2_412"/>
          <p:cNvSpPr/>
          <p:nvPr/>
        </p:nvSpPr>
        <p:spPr>
          <a:xfrm>
            <a:off x="6644768" y="3538728"/>
            <a:ext cx="44961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mbria"/>
              <a:buNone/>
            </a:pPr>
            <a:r>
              <a:rPr b="1" i="0" lang="en-US" sz="1550" u="none" cap="none" strike="noStrike">
                <a:solidFill>
                  <a:srgbClr val="16232E"/>
                </a:solidFill>
                <a:latin typeface="Cambria"/>
                <a:ea typeface="Cambria"/>
                <a:cs typeface="Cambria"/>
                <a:sym typeface="Cambria"/>
              </a:rPr>
              <a:t>Bridge mainly helps well served areas</a:t>
            </a:r>
            <a:endParaRPr b="0" i="0" sz="1550" u="none" cap="none" strike="noStrike">
              <a:solidFill>
                <a:schemeClr val="dk1"/>
              </a:solidFill>
              <a:latin typeface="Calibri"/>
              <a:ea typeface="Calibri"/>
              <a:cs typeface="Calibri"/>
              <a:sym typeface="Calibri"/>
            </a:endParaRPr>
          </a:p>
        </p:txBody>
      </p:sp>
      <p:sp>
        <p:nvSpPr>
          <p:cNvPr id="550" name="Google Shape;550;g3f8386f7cd2_2_412"/>
          <p:cNvSpPr/>
          <p:nvPr/>
        </p:nvSpPr>
        <p:spPr>
          <a:xfrm>
            <a:off x="6644768" y="3904488"/>
            <a:ext cx="4496100" cy="5121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5F706C"/>
              </a:buClr>
              <a:buSzPts val="1100"/>
              <a:buFont typeface="Calibri"/>
              <a:buNone/>
            </a:pPr>
            <a:r>
              <a:rPr b="0" i="0" lang="en-US" sz="1200" u="none" cap="none" strike="noStrike">
                <a:solidFill>
                  <a:srgbClr val="5F706C"/>
                </a:solidFill>
                <a:latin typeface="Calibri"/>
                <a:ea typeface="Calibri"/>
                <a:cs typeface="Calibri"/>
                <a:sym typeface="Calibri"/>
              </a:rPr>
              <a:t>If Bridge only works where services are already strong, it may increase inequality instead of reducing it.</a:t>
            </a:r>
            <a:endParaRPr b="0" i="0" sz="1100" u="none" cap="none" strike="noStrike">
              <a:solidFill>
                <a:srgbClr val="5F706C"/>
              </a:solidFill>
              <a:latin typeface="Calibri"/>
              <a:ea typeface="Calibri"/>
              <a:cs typeface="Calibri"/>
              <a:sym typeface="Calibri"/>
            </a:endParaRPr>
          </a:p>
        </p:txBody>
      </p:sp>
      <p:sp>
        <p:nvSpPr>
          <p:cNvPr id="551" name="Google Shape;551;g3f8386f7cd2_2_412"/>
          <p:cNvSpPr/>
          <p:nvPr/>
        </p:nvSpPr>
        <p:spPr>
          <a:xfrm>
            <a:off x="731500" y="4736592"/>
            <a:ext cx="10728300" cy="1206900"/>
          </a:xfrm>
          <a:prstGeom prst="roundRect">
            <a:avLst>
              <a:gd fmla="val 3500" name="adj"/>
            </a:avLst>
          </a:prstGeom>
          <a:solidFill>
            <a:srgbClr val="16232E"/>
          </a:solidFill>
          <a:ln cap="flat" cmpd="sng" w="12700">
            <a:solidFill>
              <a:srgbClr val="16232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g3f8386f7cd2_2_412"/>
          <p:cNvSpPr/>
          <p:nvPr/>
        </p:nvSpPr>
        <p:spPr>
          <a:xfrm>
            <a:off x="1051532" y="4882896"/>
            <a:ext cx="100884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4A3C"/>
              </a:buClr>
              <a:buSzPts val="1000"/>
              <a:buFont typeface="Calibri"/>
              <a:buNone/>
            </a:pPr>
            <a:r>
              <a:rPr b="1" i="0" lang="en-US" sz="1000" u="none" cap="none" strike="noStrike">
                <a:solidFill>
                  <a:srgbClr val="B44A3C"/>
                </a:solidFill>
                <a:latin typeface="Calibri"/>
                <a:ea typeface="Calibri"/>
                <a:cs typeface="Calibri"/>
                <a:sym typeface="Calibri"/>
              </a:rPr>
              <a:t>05   AND THE ONE WE MOST EXPECT</a:t>
            </a:r>
            <a:endParaRPr b="0" i="0" sz="1000" u="none" cap="none" strike="noStrike">
              <a:solidFill>
                <a:schemeClr val="dk1"/>
              </a:solidFill>
              <a:latin typeface="Calibri"/>
              <a:ea typeface="Calibri"/>
              <a:cs typeface="Calibri"/>
              <a:sym typeface="Calibri"/>
            </a:endParaRPr>
          </a:p>
        </p:txBody>
      </p:sp>
      <p:sp>
        <p:nvSpPr>
          <p:cNvPr id="553" name="Google Shape;553;g3f8386f7cd2_2_412"/>
          <p:cNvSpPr/>
          <p:nvPr/>
        </p:nvSpPr>
        <p:spPr>
          <a:xfrm>
            <a:off x="1051532" y="5175504"/>
            <a:ext cx="10088400" cy="6948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F4F7F4"/>
              </a:buClr>
              <a:buSzPts val="1300"/>
              <a:buFont typeface="Calibri"/>
              <a:buNone/>
            </a:pPr>
            <a:r>
              <a:rPr b="0" i="0" lang="en-US" sz="1300" u="none" cap="none" strike="noStrike">
                <a:solidFill>
                  <a:srgbClr val="F4F7F4"/>
                </a:solidFill>
                <a:latin typeface="Calibri"/>
                <a:ea typeface="Calibri"/>
                <a:cs typeface="Calibri"/>
                <a:sym typeface="Calibri"/>
              </a:rPr>
              <a:t>If users report the platform as a substitute — “we read it together, so we didn’t need to talk” — then we have built a faster way to repair the story, and the design premise is wrong. It is why “did the conversation happen” has to stay the primary question.</a:t>
            </a:r>
            <a:endParaRPr b="0" i="0" sz="1300" u="none" cap="none" strike="noStrike">
              <a:solidFill>
                <a:schemeClr val="dk1"/>
              </a:solidFill>
              <a:latin typeface="Calibri"/>
              <a:ea typeface="Calibri"/>
              <a:cs typeface="Calibri"/>
              <a:sym typeface="Calibri"/>
            </a:endParaRPr>
          </a:p>
        </p:txBody>
      </p:sp>
      <p:sp>
        <p:nvSpPr>
          <p:cNvPr id="554" name="Google Shape;554;g3f8386f7cd2_2_412"/>
          <p:cNvSpPr/>
          <p:nvPr/>
        </p:nvSpPr>
        <p:spPr>
          <a:xfrm>
            <a:off x="731501" y="6281928"/>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706C"/>
              </a:buClr>
              <a:buSzPts val="900"/>
              <a:buFont typeface="Calibri"/>
              <a:buNone/>
            </a:pPr>
            <a:r>
              <a:rPr b="0" i="0" lang="en-US" sz="900" u="none" cap="none" strike="noStrike">
                <a:solidFill>
                  <a:srgbClr val="5F706C"/>
                </a:solidFill>
                <a:latin typeface="Calibri"/>
                <a:ea typeface="Calibri"/>
                <a:cs typeface="Calibri"/>
                <a:sym typeface="Calibri"/>
              </a:rPr>
              <a:t>Bridge · Group 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2E"/>
        </a:solidFill>
      </p:bgPr>
    </p:bg>
    <p:spTree>
      <p:nvGrpSpPr>
        <p:cNvPr id="559" name="Shape 559"/>
        <p:cNvGrpSpPr/>
        <p:nvPr/>
      </p:nvGrpSpPr>
      <p:grpSpPr>
        <a:xfrm>
          <a:off x="0" y="0"/>
          <a:ext cx="0" cy="0"/>
          <a:chOff x="0" y="0"/>
          <a:chExt cx="0" cy="0"/>
        </a:xfrm>
      </p:grpSpPr>
      <p:pic>
        <p:nvPicPr>
          <p:cNvPr descr="/home/claude/badge.png" id="560" name="Google Shape;560;g3f8386f7cd2_2_438"/>
          <p:cNvPicPr preferRelativeResize="0"/>
          <p:nvPr/>
        </p:nvPicPr>
        <p:blipFill rotWithShape="1">
          <a:blip r:embed="rId3">
            <a:alphaModFix/>
          </a:blip>
          <a:srcRect b="0" l="0" r="0" t="0"/>
          <a:stretch/>
        </p:blipFill>
        <p:spPr>
          <a:xfrm>
            <a:off x="10499775" y="685800"/>
            <a:ext cx="914376" cy="914376"/>
          </a:xfrm>
          <a:prstGeom prst="rect">
            <a:avLst/>
          </a:prstGeom>
          <a:noFill/>
          <a:ln>
            <a:noFill/>
          </a:ln>
        </p:spPr>
      </p:pic>
      <p:sp>
        <p:nvSpPr>
          <p:cNvPr id="561" name="Google Shape;561;g3f8386f7cd2_2_438"/>
          <p:cNvSpPr/>
          <p:nvPr/>
        </p:nvSpPr>
        <p:spPr>
          <a:xfrm>
            <a:off x="777219" y="2431850"/>
            <a:ext cx="2743200" cy="146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4A3C"/>
              </a:buClr>
              <a:buSzPts val="9600"/>
              <a:buFont typeface="Cambria"/>
              <a:buNone/>
            </a:pPr>
            <a:r>
              <a:rPr b="0" i="0" lang="en-US" sz="9600" u="none" cap="none" strike="noStrike">
                <a:solidFill>
                  <a:srgbClr val="B44A3C"/>
                </a:solidFill>
                <a:latin typeface="Cambria"/>
                <a:ea typeface="Cambria"/>
                <a:cs typeface="Cambria"/>
                <a:sym typeface="Cambria"/>
              </a:rPr>
              <a:t>04</a:t>
            </a:r>
            <a:endParaRPr b="0" i="0" sz="9600" u="none" cap="none" strike="noStrike">
              <a:solidFill>
                <a:schemeClr val="dk1"/>
              </a:solidFill>
              <a:latin typeface="Calibri"/>
              <a:ea typeface="Calibri"/>
              <a:cs typeface="Calibri"/>
              <a:sym typeface="Calibri"/>
            </a:endParaRPr>
          </a:p>
        </p:txBody>
      </p:sp>
      <p:sp>
        <p:nvSpPr>
          <p:cNvPr id="562" name="Google Shape;562;g3f8386f7cd2_2_438"/>
          <p:cNvSpPr/>
          <p:nvPr/>
        </p:nvSpPr>
        <p:spPr>
          <a:xfrm>
            <a:off x="777219" y="3803440"/>
            <a:ext cx="82293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9EDEA"/>
              </a:buClr>
              <a:buSzPts val="4400"/>
              <a:buFont typeface="Cambria"/>
              <a:buNone/>
            </a:pPr>
            <a:r>
              <a:rPr b="0" i="0" lang="en-US" sz="4400" u="none" cap="none" strike="noStrike">
                <a:solidFill>
                  <a:srgbClr val="E9EDEA"/>
                </a:solidFill>
                <a:latin typeface="Cambria"/>
                <a:ea typeface="Cambria"/>
                <a:cs typeface="Cambria"/>
                <a:sym typeface="Cambria"/>
              </a:rPr>
              <a:t>Limitations &amp; Future Steps</a:t>
            </a:r>
            <a:endParaRPr b="0" i="0" sz="4400" u="none" cap="none" strike="noStrike">
              <a:solidFill>
                <a:schemeClr val="dk1"/>
              </a:solidFill>
              <a:latin typeface="Calibri"/>
              <a:ea typeface="Calibri"/>
              <a:cs typeface="Calibri"/>
              <a:sym typeface="Calibri"/>
            </a:endParaRPr>
          </a:p>
        </p:txBody>
      </p:sp>
      <p:sp>
        <p:nvSpPr>
          <p:cNvPr id="563" name="Google Shape;563;g3f8386f7cd2_2_438"/>
          <p:cNvSpPr/>
          <p:nvPr/>
        </p:nvSpPr>
        <p:spPr>
          <a:xfrm>
            <a:off x="777219" y="5609844"/>
            <a:ext cx="118800" cy="118800"/>
          </a:xfrm>
          <a:prstGeom prst="ellipse">
            <a:avLst/>
          </a:prstGeom>
          <a:solidFill>
            <a:srgbClr val="16232E"/>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g3f8386f7cd2_2_438"/>
          <p:cNvSpPr/>
          <p:nvPr/>
        </p:nvSpPr>
        <p:spPr>
          <a:xfrm>
            <a:off x="1088107" y="5577840"/>
            <a:ext cx="183000" cy="183000"/>
          </a:xfrm>
          <a:prstGeom prst="ellipse">
            <a:avLst/>
          </a:prstGeom>
          <a:solidFill>
            <a:srgbClr val="16232E"/>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g3f8386f7cd2_2_438"/>
          <p:cNvSpPr/>
          <p:nvPr/>
        </p:nvSpPr>
        <p:spPr>
          <a:xfrm>
            <a:off x="1398995" y="5532120"/>
            <a:ext cx="274200" cy="274200"/>
          </a:xfrm>
          <a:prstGeom prst="ellipse">
            <a:avLst/>
          </a:prstGeom>
          <a:solidFill>
            <a:srgbClr val="16232E"/>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g3f8386f7cd2_2_438"/>
          <p:cNvSpPr/>
          <p:nvPr/>
        </p:nvSpPr>
        <p:spPr>
          <a:xfrm>
            <a:off x="1709882" y="5577840"/>
            <a:ext cx="183000" cy="183000"/>
          </a:xfrm>
          <a:prstGeom prst="ellipse">
            <a:avLst/>
          </a:prstGeom>
          <a:solidFill>
            <a:srgbClr val="B44A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570" name="Shape 570"/>
        <p:cNvGrpSpPr/>
        <p:nvPr/>
      </p:nvGrpSpPr>
      <p:grpSpPr>
        <a:xfrm>
          <a:off x="0" y="0"/>
          <a:ext cx="0" cy="0"/>
          <a:chOff x="0" y="0"/>
          <a:chExt cx="0" cy="0"/>
        </a:xfrm>
      </p:grpSpPr>
      <p:sp>
        <p:nvSpPr>
          <p:cNvPr id="571" name="Google Shape;571;g3f83a022279_10_0"/>
          <p:cNvSpPr/>
          <p:nvPr/>
        </p:nvSpPr>
        <p:spPr>
          <a:xfrm>
            <a:off x="777219" y="502920"/>
            <a:ext cx="73149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F706C"/>
              </a:buClr>
              <a:buSzPts val="1100"/>
              <a:buFont typeface="Calibri"/>
              <a:buNone/>
            </a:pPr>
            <a:r>
              <a:rPr b="1" i="0" lang="en-US" sz="1100" u="none" cap="none" strike="noStrike">
                <a:solidFill>
                  <a:srgbClr val="5F706C"/>
                </a:solidFill>
                <a:latin typeface="Calibri"/>
                <a:ea typeface="Calibri"/>
                <a:cs typeface="Calibri"/>
                <a:sym typeface="Calibri"/>
              </a:rPr>
              <a:t>FUTURE WORK</a:t>
            </a:r>
            <a:endParaRPr b="0" i="0" sz="1100" u="none" cap="none" strike="noStrike">
              <a:solidFill>
                <a:schemeClr val="dk1"/>
              </a:solidFill>
              <a:latin typeface="Calibri"/>
              <a:ea typeface="Calibri"/>
              <a:cs typeface="Calibri"/>
              <a:sym typeface="Calibri"/>
            </a:endParaRPr>
          </a:p>
        </p:txBody>
      </p:sp>
      <p:sp>
        <p:nvSpPr>
          <p:cNvPr id="572" name="Google Shape;572;g3f83a022279_10_0"/>
          <p:cNvSpPr/>
          <p:nvPr/>
        </p:nvSpPr>
        <p:spPr>
          <a:xfrm>
            <a:off x="777219" y="868680"/>
            <a:ext cx="10241100" cy="640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2E"/>
              </a:buClr>
              <a:buSzPts val="3200"/>
              <a:buFont typeface="Cambria"/>
              <a:buNone/>
            </a:pPr>
            <a:r>
              <a:rPr b="0" i="0" lang="en-US" sz="3200" u="none" cap="none" strike="noStrike">
                <a:solidFill>
                  <a:srgbClr val="16232E"/>
                </a:solidFill>
                <a:latin typeface="Cambria"/>
                <a:ea typeface="Cambria"/>
                <a:cs typeface="Cambria"/>
                <a:sym typeface="Cambria"/>
              </a:rPr>
              <a:t>How will people know?</a:t>
            </a:r>
            <a:endParaRPr b="0" i="0" sz="3200" u="none" cap="none" strike="noStrike">
              <a:solidFill>
                <a:schemeClr val="dk1"/>
              </a:solidFill>
              <a:latin typeface="Calibri"/>
              <a:ea typeface="Calibri"/>
              <a:cs typeface="Calibri"/>
              <a:sym typeface="Calibri"/>
            </a:endParaRPr>
          </a:p>
        </p:txBody>
      </p:sp>
      <p:sp>
        <p:nvSpPr>
          <p:cNvPr id="573" name="Google Shape;573;g3f83a022279_10_0"/>
          <p:cNvSpPr txBox="1"/>
          <p:nvPr/>
        </p:nvSpPr>
        <p:spPr>
          <a:xfrm>
            <a:off x="777240" y="1379857"/>
            <a:ext cx="9875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5F706C"/>
                </a:solidFill>
                <a:latin typeface="Calibri"/>
                <a:ea typeface="Calibri"/>
                <a:cs typeface="Calibri"/>
                <a:sym typeface="Calibri"/>
              </a:rPr>
              <a:t>Four routes, in the order they can be built — and one limit that governs all of them.</a:t>
            </a:r>
            <a:endParaRPr/>
          </a:p>
        </p:txBody>
      </p:sp>
      <p:sp>
        <p:nvSpPr>
          <p:cNvPr id="574" name="Google Shape;574;g3f83a022279_10_0"/>
          <p:cNvSpPr txBox="1"/>
          <p:nvPr/>
        </p:nvSpPr>
        <p:spPr>
          <a:xfrm>
            <a:off x="777240" y="4956048"/>
            <a:ext cx="265176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B44A3C"/>
                </a:solidFill>
                <a:latin typeface="Calibri"/>
                <a:ea typeface="Calibri"/>
                <a:cs typeface="Calibri"/>
                <a:sym typeface="Calibri"/>
              </a:rPr>
              <a:t>REACH</a:t>
            </a:r>
            <a:endParaRPr/>
          </a:p>
        </p:txBody>
      </p:sp>
      <p:sp>
        <p:nvSpPr>
          <p:cNvPr id="575" name="Google Shape;575;g3f83a022279_10_0"/>
          <p:cNvSpPr txBox="1"/>
          <p:nvPr/>
        </p:nvSpPr>
        <p:spPr>
          <a:xfrm>
            <a:off x="777240" y="5230368"/>
            <a:ext cx="2487168"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00" u="none" cap="none" strike="noStrike">
                <a:solidFill>
                  <a:srgbClr val="22333D"/>
                </a:solidFill>
                <a:latin typeface="Calibri"/>
                <a:ea typeface="Calibri"/>
                <a:cs typeface="Calibri"/>
                <a:sym typeface="Calibri"/>
              </a:rPr>
              <a:t>Low-stigma doors, on the dates grief is already licensed</a:t>
            </a:r>
            <a:endParaRPr/>
          </a:p>
        </p:txBody>
      </p:sp>
      <p:sp>
        <p:nvSpPr>
          <p:cNvPr id="576" name="Google Shape;576;g3f83a022279_10_0"/>
          <p:cNvSpPr txBox="1"/>
          <p:nvPr/>
        </p:nvSpPr>
        <p:spPr>
          <a:xfrm>
            <a:off x="3502152" y="4956048"/>
            <a:ext cx="265176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B44A3C"/>
                </a:solidFill>
                <a:latin typeface="Calibri"/>
                <a:ea typeface="Calibri"/>
                <a:cs typeface="Calibri"/>
                <a:sym typeface="Calibri"/>
              </a:rPr>
              <a:t>LEGITIMACY</a:t>
            </a:r>
            <a:endParaRPr/>
          </a:p>
        </p:txBody>
      </p:sp>
      <p:sp>
        <p:nvSpPr>
          <p:cNvPr id="577" name="Google Shape;577;g3f83a022279_10_0"/>
          <p:cNvSpPr txBox="1"/>
          <p:nvPr/>
        </p:nvSpPr>
        <p:spPr>
          <a:xfrm>
            <a:off x="3502152" y="5230368"/>
            <a:ext cx="2487168"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00" u="none" cap="none" strike="noStrike">
                <a:solidFill>
                  <a:srgbClr val="22333D"/>
                </a:solidFill>
                <a:latin typeface="Calibri"/>
                <a:ea typeface="Calibri"/>
                <a:cs typeface="Calibri"/>
                <a:sym typeface="Calibri"/>
              </a:rPr>
              <a:t>A nurse telling a family that something exists</a:t>
            </a:r>
            <a:endParaRPr/>
          </a:p>
        </p:txBody>
      </p:sp>
      <p:sp>
        <p:nvSpPr>
          <p:cNvPr id="578" name="Google Shape;578;g3f83a022279_10_0"/>
          <p:cNvSpPr txBox="1"/>
          <p:nvPr/>
        </p:nvSpPr>
        <p:spPr>
          <a:xfrm>
            <a:off x="6227064" y="4956048"/>
            <a:ext cx="265176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B44A3C"/>
                </a:solidFill>
                <a:latin typeface="Calibri"/>
                <a:ea typeface="Calibri"/>
                <a:cs typeface="Calibri"/>
                <a:sym typeface="Calibri"/>
              </a:rPr>
              <a:t>ACCESS</a:t>
            </a:r>
            <a:endParaRPr/>
          </a:p>
        </p:txBody>
      </p:sp>
      <p:sp>
        <p:nvSpPr>
          <p:cNvPr id="579" name="Google Shape;579;g3f83a022279_10_0"/>
          <p:cNvSpPr txBox="1"/>
          <p:nvPr/>
        </p:nvSpPr>
        <p:spPr>
          <a:xfrm>
            <a:off x="6227064" y="5230368"/>
            <a:ext cx="2487168"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00" u="none" cap="none" strike="noStrike">
                <a:solidFill>
                  <a:srgbClr val="22333D"/>
                </a:solidFill>
                <a:latin typeface="Calibri"/>
                <a:ea typeface="Calibri"/>
                <a:cs typeface="Calibri"/>
                <a:sym typeface="Calibri"/>
              </a:rPr>
              <a:t>A link in the family group chat; no install</a:t>
            </a:r>
            <a:endParaRPr/>
          </a:p>
        </p:txBody>
      </p:sp>
      <p:sp>
        <p:nvSpPr>
          <p:cNvPr id="580" name="Google Shape;580;g3f83a022279_10_0"/>
          <p:cNvSpPr txBox="1"/>
          <p:nvPr/>
        </p:nvSpPr>
        <p:spPr>
          <a:xfrm>
            <a:off x="8951976" y="4956048"/>
            <a:ext cx="265176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B44A3C"/>
                </a:solidFill>
                <a:latin typeface="Calibri"/>
                <a:ea typeface="Calibri"/>
                <a:cs typeface="Calibri"/>
                <a:sym typeface="Calibri"/>
              </a:rPr>
              <a:t>CIRCULATION</a:t>
            </a:r>
            <a:endParaRPr/>
          </a:p>
        </p:txBody>
      </p:sp>
      <p:sp>
        <p:nvSpPr>
          <p:cNvPr id="581" name="Google Shape;581;g3f83a022279_10_0"/>
          <p:cNvSpPr txBox="1"/>
          <p:nvPr/>
        </p:nvSpPr>
        <p:spPr>
          <a:xfrm>
            <a:off x="8951976" y="5230368"/>
            <a:ext cx="2487168"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00" u="none" cap="none" strike="noStrike">
                <a:solidFill>
                  <a:srgbClr val="22333D"/>
                </a:solidFill>
                <a:latin typeface="Calibri"/>
                <a:ea typeface="Calibri"/>
                <a:cs typeface="Calibri"/>
                <a:sym typeface="Calibri"/>
              </a:rPr>
              <a:t>Built to travel, not to hold people</a:t>
            </a:r>
            <a:endParaRPr/>
          </a:p>
        </p:txBody>
      </p:sp>
      <p:sp>
        <p:nvSpPr>
          <p:cNvPr id="582" name="Google Shape;582;g3f83a022279_10_0"/>
          <p:cNvSpPr/>
          <p:nvPr/>
        </p:nvSpPr>
        <p:spPr>
          <a:xfrm>
            <a:off x="777240" y="5870448"/>
            <a:ext cx="10634472" cy="566928"/>
          </a:xfrm>
          <a:prstGeom prst="roundRect">
            <a:avLst>
              <a:gd fmla="val 4500" name="adj"/>
            </a:avLst>
          </a:prstGeom>
          <a:solidFill>
            <a:srgbClr val="16232E"/>
          </a:solidFill>
          <a:ln>
            <a:noFill/>
          </a:ln>
        </p:spPr>
        <p:txBody>
          <a:bodyPr anchorCtr="0" anchor="ctr" bIns="45700" lIns="274300" spcFirstLastPara="1" rIns="274300" wrap="square" tIns="45700">
            <a:noAutofit/>
          </a:bodyPr>
          <a:lstStyle/>
          <a:p>
            <a:pPr indent="0" lvl="0" marL="0" marR="0" rtl="0" algn="l">
              <a:lnSpc>
                <a:spcPct val="100000"/>
              </a:lnSpc>
              <a:spcBef>
                <a:spcPts val="0"/>
              </a:spcBef>
              <a:spcAft>
                <a:spcPts val="0"/>
              </a:spcAft>
              <a:buNone/>
            </a:pPr>
            <a:r>
              <a:rPr b="0" i="0" lang="en-US" sz="1350" u="none" cap="none" strike="noStrike">
                <a:solidFill>
                  <a:srgbClr val="E9EDEA"/>
                </a:solidFill>
                <a:latin typeface="Calibri"/>
                <a:ea typeface="Calibri"/>
                <a:cs typeface="Calibri"/>
                <a:sym typeface="Calibri"/>
              </a:rPr>
              <a:t>Moderation capacity, not channel reach, is the ceiling: the forum may grow only as fast as the duty rota that keeps it safe.</a:t>
            </a:r>
            <a:endParaRPr/>
          </a:p>
        </p:txBody>
      </p:sp>
      <p:pic>
        <p:nvPicPr>
          <p:cNvPr id="583" name="Google Shape;583;g3f83a022279_10_0"/>
          <p:cNvPicPr preferRelativeResize="0"/>
          <p:nvPr/>
        </p:nvPicPr>
        <p:blipFill rotWithShape="1">
          <a:blip r:embed="rId3">
            <a:alphaModFix/>
          </a:blip>
          <a:srcRect b="0" l="0" r="0" t="0"/>
          <a:stretch/>
        </p:blipFill>
        <p:spPr>
          <a:xfrm>
            <a:off x="0" y="1286968"/>
            <a:ext cx="12191675" cy="407364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588" name="Shape 588"/>
        <p:cNvGrpSpPr/>
        <p:nvPr/>
      </p:nvGrpSpPr>
      <p:grpSpPr>
        <a:xfrm>
          <a:off x="0" y="0"/>
          <a:ext cx="0" cy="0"/>
          <a:chOff x="0" y="0"/>
          <a:chExt cx="0" cy="0"/>
        </a:xfrm>
      </p:grpSpPr>
      <p:sp>
        <p:nvSpPr>
          <p:cNvPr id="589" name="Google Shape;589;g3f8386f7cd2_2_455"/>
          <p:cNvSpPr/>
          <p:nvPr/>
        </p:nvSpPr>
        <p:spPr>
          <a:xfrm>
            <a:off x="777219" y="502920"/>
            <a:ext cx="7315005"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F706C"/>
              </a:buClr>
              <a:buSzPts val="1100"/>
              <a:buFont typeface="Calibri"/>
              <a:buNone/>
            </a:pPr>
            <a:r>
              <a:rPr b="1" lang="en-US" sz="1100">
                <a:solidFill>
                  <a:srgbClr val="B44A3C"/>
                </a:solidFill>
                <a:latin typeface="Calibri"/>
                <a:ea typeface="Calibri"/>
                <a:cs typeface="Calibri"/>
                <a:sym typeface="Calibri"/>
              </a:rPr>
              <a:t>FUTURE WORK</a:t>
            </a:r>
            <a:endParaRPr b="0" i="0" sz="1100" u="none" cap="none" strike="noStrike">
              <a:solidFill>
                <a:schemeClr val="dk1"/>
              </a:solidFill>
              <a:latin typeface="Calibri"/>
              <a:ea typeface="Calibri"/>
              <a:cs typeface="Calibri"/>
              <a:sym typeface="Calibri"/>
            </a:endParaRPr>
          </a:p>
        </p:txBody>
      </p:sp>
      <p:sp>
        <p:nvSpPr>
          <p:cNvPr id="590" name="Google Shape;590;g3f8386f7cd2_2_455"/>
          <p:cNvSpPr/>
          <p:nvPr/>
        </p:nvSpPr>
        <p:spPr>
          <a:xfrm>
            <a:off x="777219" y="868680"/>
            <a:ext cx="10241007" cy="6400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2E"/>
              </a:buClr>
              <a:buSzPts val="3200"/>
              <a:buFont typeface="Cambria"/>
              <a:buNone/>
            </a:pPr>
            <a:r>
              <a:rPr b="0" i="0" lang="en-US" sz="3200" u="none" cap="none" strike="noStrike">
                <a:solidFill>
                  <a:srgbClr val="16232E"/>
                </a:solidFill>
                <a:latin typeface="Cambria"/>
                <a:ea typeface="Cambria"/>
                <a:cs typeface="Cambria"/>
                <a:sym typeface="Cambria"/>
              </a:rPr>
              <a:t>The next steps are not technical.</a:t>
            </a:r>
            <a:endParaRPr b="0" i="0" sz="3200" u="none" cap="none" strike="noStrike">
              <a:solidFill>
                <a:schemeClr val="dk1"/>
              </a:solidFill>
              <a:latin typeface="Calibri"/>
              <a:ea typeface="Calibri"/>
              <a:cs typeface="Calibri"/>
              <a:sym typeface="Calibri"/>
            </a:endParaRPr>
          </a:p>
        </p:txBody>
      </p:sp>
      <p:sp>
        <p:nvSpPr>
          <p:cNvPr id="591" name="Google Shape;591;g3f8386f7cd2_2_455"/>
          <p:cNvSpPr/>
          <p:nvPr/>
        </p:nvSpPr>
        <p:spPr>
          <a:xfrm>
            <a:off x="777219" y="1874520"/>
            <a:ext cx="3291752" cy="2148840"/>
          </a:xfrm>
          <a:prstGeom prst="roundRect">
            <a:avLst>
              <a:gd fmla="val 3500" name="adj"/>
            </a:avLst>
          </a:prstGeom>
          <a:solidFill>
            <a:srgbClr val="F4F7F4"/>
          </a:solidFill>
          <a:ln cap="flat" cmpd="sng" w="12700">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g3f8386f7cd2_2_455"/>
          <p:cNvSpPr/>
          <p:nvPr/>
        </p:nvSpPr>
        <p:spPr>
          <a:xfrm>
            <a:off x="1033244" y="2084832"/>
            <a:ext cx="731501"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4A3C"/>
              </a:buClr>
              <a:buSzPts val="2000"/>
              <a:buFont typeface="Cambria"/>
              <a:buNone/>
            </a:pPr>
            <a:r>
              <a:rPr b="0" i="0" lang="en-US" sz="2000" u="none" cap="none" strike="noStrike">
                <a:solidFill>
                  <a:srgbClr val="B44A3C"/>
                </a:solidFill>
                <a:latin typeface="Cambria"/>
                <a:ea typeface="Cambria"/>
                <a:cs typeface="Cambria"/>
                <a:sym typeface="Cambria"/>
              </a:rPr>
              <a:t>01</a:t>
            </a:r>
            <a:endParaRPr b="0" i="0" sz="2000" u="none" cap="none" strike="noStrike">
              <a:solidFill>
                <a:schemeClr val="dk1"/>
              </a:solidFill>
              <a:latin typeface="Calibri"/>
              <a:ea typeface="Calibri"/>
              <a:cs typeface="Calibri"/>
              <a:sym typeface="Calibri"/>
            </a:endParaRPr>
          </a:p>
        </p:txBody>
      </p:sp>
      <p:sp>
        <p:nvSpPr>
          <p:cNvPr id="593" name="Google Shape;593;g3f8386f7cd2_2_455"/>
          <p:cNvSpPr/>
          <p:nvPr/>
        </p:nvSpPr>
        <p:spPr>
          <a:xfrm>
            <a:off x="1033244" y="2487168"/>
            <a:ext cx="2743127"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libri"/>
              <a:buNone/>
            </a:pPr>
            <a:r>
              <a:rPr b="1" i="0" lang="en-US" sz="1550" u="none" cap="none" strike="noStrike">
                <a:solidFill>
                  <a:srgbClr val="16232E"/>
                </a:solidFill>
                <a:latin typeface="Calibri"/>
                <a:ea typeface="Calibri"/>
                <a:cs typeface="Calibri"/>
                <a:sym typeface="Calibri"/>
              </a:rPr>
              <a:t>Clinical sign-off</a:t>
            </a:r>
            <a:endParaRPr b="0" i="0" sz="1550" u="none" cap="none" strike="noStrike">
              <a:solidFill>
                <a:schemeClr val="dk1"/>
              </a:solidFill>
              <a:latin typeface="Calibri"/>
              <a:ea typeface="Calibri"/>
              <a:cs typeface="Calibri"/>
              <a:sym typeface="Calibri"/>
            </a:endParaRPr>
          </a:p>
        </p:txBody>
      </p:sp>
      <p:sp>
        <p:nvSpPr>
          <p:cNvPr id="594" name="Google Shape;594;g3f8386f7cd2_2_455"/>
          <p:cNvSpPr/>
          <p:nvPr/>
        </p:nvSpPr>
        <p:spPr>
          <a:xfrm>
            <a:off x="1033244" y="2852928"/>
            <a:ext cx="2788846" cy="10515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2333D"/>
              </a:buClr>
              <a:buSzPts val="1300"/>
              <a:buFont typeface="Calibri"/>
              <a:buNone/>
            </a:pPr>
            <a:r>
              <a:rPr b="0" i="0" lang="en-US" sz="1300" u="none" cap="none" strike="noStrike">
                <a:solidFill>
                  <a:srgbClr val="22333D"/>
                </a:solidFill>
                <a:latin typeface="Calibri"/>
                <a:ea typeface="Calibri"/>
                <a:cs typeface="Calibri"/>
                <a:sym typeface="Calibri"/>
              </a:rPr>
              <a:t>Every guide, and the crisis protocol, written and signed by clinicians against the 2025 national practice guideline.</a:t>
            </a:r>
            <a:endParaRPr b="0" i="0" sz="1300" u="none" cap="none" strike="noStrike">
              <a:solidFill>
                <a:schemeClr val="dk1"/>
              </a:solidFill>
              <a:latin typeface="Calibri"/>
              <a:ea typeface="Calibri"/>
              <a:cs typeface="Calibri"/>
              <a:sym typeface="Calibri"/>
            </a:endParaRPr>
          </a:p>
        </p:txBody>
      </p:sp>
      <p:sp>
        <p:nvSpPr>
          <p:cNvPr id="595" name="Google Shape;595;g3f8386f7cd2_2_455"/>
          <p:cNvSpPr/>
          <p:nvPr/>
        </p:nvSpPr>
        <p:spPr>
          <a:xfrm>
            <a:off x="4389003" y="1874520"/>
            <a:ext cx="3291752" cy="2148840"/>
          </a:xfrm>
          <a:prstGeom prst="roundRect">
            <a:avLst>
              <a:gd fmla="val 3500" name="adj"/>
            </a:avLst>
          </a:prstGeom>
          <a:solidFill>
            <a:srgbClr val="F4F7F4"/>
          </a:solidFill>
          <a:ln cap="flat" cmpd="sng" w="12700">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g3f8386f7cd2_2_455"/>
          <p:cNvSpPr/>
          <p:nvPr/>
        </p:nvSpPr>
        <p:spPr>
          <a:xfrm>
            <a:off x="4645028" y="2084832"/>
            <a:ext cx="7315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4A3C"/>
              </a:buClr>
              <a:buSzPts val="2000"/>
              <a:buFont typeface="Cambria"/>
              <a:buNone/>
            </a:pPr>
            <a:r>
              <a:rPr b="0" i="0" lang="en-US" sz="2000" u="none" cap="none" strike="noStrike">
                <a:solidFill>
                  <a:srgbClr val="B44A3C"/>
                </a:solidFill>
                <a:latin typeface="Cambria"/>
                <a:ea typeface="Cambria"/>
                <a:cs typeface="Cambria"/>
                <a:sym typeface="Cambria"/>
              </a:rPr>
              <a:t>02</a:t>
            </a:r>
            <a:endParaRPr b="0" i="0" sz="2000" u="none" cap="none" strike="noStrike">
              <a:solidFill>
                <a:schemeClr val="dk1"/>
              </a:solidFill>
              <a:latin typeface="Calibri"/>
              <a:ea typeface="Calibri"/>
              <a:cs typeface="Calibri"/>
              <a:sym typeface="Calibri"/>
            </a:endParaRPr>
          </a:p>
        </p:txBody>
      </p:sp>
      <p:sp>
        <p:nvSpPr>
          <p:cNvPr id="597" name="Google Shape;597;g3f8386f7cd2_2_455"/>
          <p:cNvSpPr/>
          <p:nvPr/>
        </p:nvSpPr>
        <p:spPr>
          <a:xfrm>
            <a:off x="4645028" y="2487168"/>
            <a:ext cx="2743127"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libri"/>
              <a:buNone/>
            </a:pPr>
            <a:r>
              <a:rPr b="1" i="0" lang="en-US" sz="1550" u="none" cap="none" strike="noStrike">
                <a:solidFill>
                  <a:srgbClr val="16232E"/>
                </a:solidFill>
                <a:latin typeface="Calibri"/>
                <a:ea typeface="Calibri"/>
                <a:cs typeface="Calibri"/>
                <a:sym typeface="Calibri"/>
              </a:rPr>
              <a:t>The formative study</a:t>
            </a:r>
            <a:endParaRPr b="0" i="0" sz="1550" u="none" cap="none" strike="noStrike">
              <a:solidFill>
                <a:schemeClr val="dk1"/>
              </a:solidFill>
              <a:latin typeface="Calibri"/>
              <a:ea typeface="Calibri"/>
              <a:cs typeface="Calibri"/>
              <a:sym typeface="Calibri"/>
            </a:endParaRPr>
          </a:p>
        </p:txBody>
      </p:sp>
      <p:sp>
        <p:nvSpPr>
          <p:cNvPr id="598" name="Google Shape;598;g3f8386f7cd2_2_455"/>
          <p:cNvSpPr/>
          <p:nvPr/>
        </p:nvSpPr>
        <p:spPr>
          <a:xfrm>
            <a:off x="4645028" y="2852928"/>
            <a:ext cx="2788846" cy="10515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2333D"/>
              </a:buClr>
              <a:buSzPts val="1300"/>
              <a:buFont typeface="Calibri"/>
              <a:buNone/>
            </a:pPr>
            <a:r>
              <a:rPr b="0" i="0" lang="en-US" sz="1300" u="none" cap="none" strike="noStrike">
                <a:solidFill>
                  <a:srgbClr val="22333D"/>
                </a:solidFill>
                <a:latin typeface="Calibri"/>
                <a:ea typeface="Calibri"/>
                <a:cs typeface="Calibri"/>
                <a:sym typeface="Calibri"/>
              </a:rPr>
              <a:t>Older adults, half of them rural, telling us which of our assumptions about their willingness to talk are wrong.</a:t>
            </a:r>
            <a:endParaRPr b="0" i="0" sz="1300" u="none" cap="none" strike="noStrike">
              <a:solidFill>
                <a:schemeClr val="dk1"/>
              </a:solidFill>
              <a:latin typeface="Calibri"/>
              <a:ea typeface="Calibri"/>
              <a:cs typeface="Calibri"/>
              <a:sym typeface="Calibri"/>
            </a:endParaRPr>
          </a:p>
        </p:txBody>
      </p:sp>
      <p:sp>
        <p:nvSpPr>
          <p:cNvPr id="599" name="Google Shape;599;g3f8386f7cd2_2_455"/>
          <p:cNvSpPr/>
          <p:nvPr/>
        </p:nvSpPr>
        <p:spPr>
          <a:xfrm>
            <a:off x="8000787" y="1874520"/>
            <a:ext cx="3291752" cy="2148840"/>
          </a:xfrm>
          <a:prstGeom prst="roundRect">
            <a:avLst>
              <a:gd fmla="val 3500" name="adj"/>
            </a:avLst>
          </a:prstGeom>
          <a:solidFill>
            <a:srgbClr val="F4F7F4"/>
          </a:solidFill>
          <a:ln cap="flat" cmpd="sng" w="12700">
            <a:solidFill>
              <a:srgbClr val="C6D1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g3f8386f7cd2_2_455"/>
          <p:cNvSpPr/>
          <p:nvPr/>
        </p:nvSpPr>
        <p:spPr>
          <a:xfrm>
            <a:off x="8256812" y="2084832"/>
            <a:ext cx="731501"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4A3C"/>
              </a:buClr>
              <a:buSzPts val="2000"/>
              <a:buFont typeface="Cambria"/>
              <a:buNone/>
            </a:pPr>
            <a:r>
              <a:rPr b="0" i="0" lang="en-US" sz="2000" u="none" cap="none" strike="noStrike">
                <a:solidFill>
                  <a:srgbClr val="B44A3C"/>
                </a:solidFill>
                <a:latin typeface="Cambria"/>
                <a:ea typeface="Cambria"/>
                <a:cs typeface="Cambria"/>
                <a:sym typeface="Cambria"/>
              </a:rPr>
              <a:t>03</a:t>
            </a:r>
            <a:endParaRPr b="0" i="0" sz="2000" u="none" cap="none" strike="noStrike">
              <a:solidFill>
                <a:schemeClr val="dk1"/>
              </a:solidFill>
              <a:latin typeface="Calibri"/>
              <a:ea typeface="Calibri"/>
              <a:cs typeface="Calibri"/>
              <a:sym typeface="Calibri"/>
            </a:endParaRPr>
          </a:p>
        </p:txBody>
      </p:sp>
      <p:sp>
        <p:nvSpPr>
          <p:cNvPr id="601" name="Google Shape;601;g3f8386f7cd2_2_455"/>
          <p:cNvSpPr/>
          <p:nvPr/>
        </p:nvSpPr>
        <p:spPr>
          <a:xfrm>
            <a:off x="8256812" y="2487168"/>
            <a:ext cx="2743127"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libri"/>
              <a:buNone/>
            </a:pPr>
            <a:r>
              <a:rPr b="1" i="0" lang="en-US" sz="1550" u="none" cap="none" strike="noStrike">
                <a:solidFill>
                  <a:srgbClr val="16232E"/>
                </a:solidFill>
                <a:latin typeface="Calibri"/>
                <a:ea typeface="Calibri"/>
                <a:cs typeface="Calibri"/>
                <a:sym typeface="Calibri"/>
              </a:rPr>
              <a:t>Partnerships</a:t>
            </a:r>
            <a:endParaRPr b="0" i="0" sz="1550" u="none" cap="none" strike="noStrike">
              <a:solidFill>
                <a:schemeClr val="dk1"/>
              </a:solidFill>
              <a:latin typeface="Calibri"/>
              <a:ea typeface="Calibri"/>
              <a:cs typeface="Calibri"/>
              <a:sym typeface="Calibri"/>
            </a:endParaRPr>
          </a:p>
        </p:txBody>
      </p:sp>
      <p:sp>
        <p:nvSpPr>
          <p:cNvPr id="602" name="Google Shape;602;g3f8386f7cd2_2_455"/>
          <p:cNvSpPr/>
          <p:nvPr/>
        </p:nvSpPr>
        <p:spPr>
          <a:xfrm>
            <a:off x="8256812" y="2852928"/>
            <a:ext cx="2788846" cy="10515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2333D"/>
              </a:buClr>
              <a:buSzPts val="1300"/>
              <a:buFont typeface="Calibri"/>
              <a:buNone/>
            </a:pPr>
            <a:r>
              <a:rPr b="0" i="0" lang="en-US" sz="1300" u="none" cap="none" strike="noStrike">
                <a:solidFill>
                  <a:srgbClr val="22333D"/>
                </a:solidFill>
                <a:latin typeface="Calibri"/>
                <a:ea typeface="Calibri"/>
                <a:cs typeface="Calibri"/>
                <a:sym typeface="Calibri"/>
              </a:rPr>
              <a:t>Hospices, oncology services and NGOs. Without them the care map cannot be verified and no trial can be recruited.</a:t>
            </a:r>
            <a:endParaRPr b="0" i="0" sz="1300" u="none" cap="none" strike="noStrike">
              <a:solidFill>
                <a:schemeClr val="dk1"/>
              </a:solidFill>
              <a:latin typeface="Calibri"/>
              <a:ea typeface="Calibri"/>
              <a:cs typeface="Calibri"/>
              <a:sym typeface="Calibri"/>
            </a:endParaRPr>
          </a:p>
        </p:txBody>
      </p:sp>
      <p:sp>
        <p:nvSpPr>
          <p:cNvPr id="603" name="Google Shape;603;g3f8386f7cd2_2_455"/>
          <p:cNvSpPr/>
          <p:nvPr/>
        </p:nvSpPr>
        <p:spPr>
          <a:xfrm>
            <a:off x="777219" y="4315968"/>
            <a:ext cx="4571878"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F706C"/>
              </a:buClr>
              <a:buSzPts val="1100"/>
              <a:buFont typeface="Calibri"/>
              <a:buNone/>
            </a:pPr>
            <a:r>
              <a:rPr b="1" i="0" lang="en-US" sz="1100" u="none" cap="none" strike="noStrike">
                <a:solidFill>
                  <a:srgbClr val="5F706C"/>
                </a:solidFill>
                <a:latin typeface="Calibri"/>
                <a:ea typeface="Calibri"/>
                <a:cs typeface="Calibri"/>
                <a:sym typeface="Calibri"/>
              </a:rPr>
              <a:t>Then, as capacity allows</a:t>
            </a:r>
            <a:endParaRPr b="0" i="0" sz="1100" u="none" cap="none" strike="noStrike">
              <a:solidFill>
                <a:schemeClr val="dk1"/>
              </a:solidFill>
              <a:latin typeface="Calibri"/>
              <a:ea typeface="Calibri"/>
              <a:cs typeface="Calibri"/>
              <a:sym typeface="Calibri"/>
            </a:endParaRPr>
          </a:p>
        </p:txBody>
      </p:sp>
      <p:sp>
        <p:nvSpPr>
          <p:cNvPr id="604" name="Google Shape;604;g3f8386f7cd2_2_455"/>
          <p:cNvSpPr/>
          <p:nvPr/>
        </p:nvSpPr>
        <p:spPr>
          <a:xfrm>
            <a:off x="777219" y="4617720"/>
            <a:ext cx="10606757"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333D"/>
              </a:buClr>
              <a:buSzPts val="1400"/>
              <a:buFont typeface="Calibri"/>
              <a:buNone/>
            </a:pPr>
            <a:r>
              <a:rPr b="0" i="0" lang="en-US" sz="1400" u="none" cap="none" strike="noStrike">
                <a:solidFill>
                  <a:srgbClr val="22333D"/>
                </a:solidFill>
                <a:latin typeface="Calibri"/>
                <a:ea typeface="Calibri"/>
                <a:cs typeface="Calibri"/>
                <a:sym typeface="Calibri"/>
              </a:rPr>
              <a:t>City-by-city expansion of the directory   ·   Opening the forum as moderation capacity grows   ·   Longitudinal follow-up into bereavement</a:t>
            </a:r>
            <a:endParaRPr b="0" i="0" sz="1400" u="none" cap="none" strike="noStrike">
              <a:solidFill>
                <a:schemeClr val="dk1"/>
              </a:solidFill>
              <a:latin typeface="Calibri"/>
              <a:ea typeface="Calibri"/>
              <a:cs typeface="Calibri"/>
              <a:sym typeface="Calibri"/>
            </a:endParaRPr>
          </a:p>
        </p:txBody>
      </p:sp>
      <p:sp>
        <p:nvSpPr>
          <p:cNvPr id="605" name="Google Shape;605;g3f8386f7cd2_2_455"/>
          <p:cNvSpPr/>
          <p:nvPr/>
        </p:nvSpPr>
        <p:spPr>
          <a:xfrm>
            <a:off x="777219" y="5349240"/>
            <a:ext cx="10698195"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F625E"/>
              </a:buClr>
              <a:buSzPts val="1900"/>
              <a:buFont typeface="Cambria"/>
              <a:buNone/>
            </a:pPr>
            <a:r>
              <a:rPr b="0" i="1" lang="en-US" sz="1900" u="none" cap="none" strike="noStrike">
                <a:solidFill>
                  <a:srgbClr val="3F625E"/>
                </a:solidFill>
                <a:latin typeface="Cambria"/>
                <a:ea typeface="Cambria"/>
                <a:cs typeface="Cambria"/>
                <a:sym typeface="Cambria"/>
              </a:rPr>
              <a:t>The measure of success we would accept is narrow: more families having the conversation earlier.</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610" name="Shape 610"/>
        <p:cNvGrpSpPr/>
        <p:nvPr/>
      </p:nvGrpSpPr>
      <p:grpSpPr>
        <a:xfrm>
          <a:off x="0" y="0"/>
          <a:ext cx="0" cy="0"/>
          <a:chOff x="0" y="0"/>
          <a:chExt cx="0" cy="0"/>
        </a:xfrm>
      </p:grpSpPr>
      <p:sp>
        <p:nvSpPr>
          <p:cNvPr id="611" name="Google Shape;611;g3f8386f7cd2_2_476"/>
          <p:cNvSpPr/>
          <p:nvPr/>
        </p:nvSpPr>
        <p:spPr>
          <a:xfrm>
            <a:off x="777219" y="502920"/>
            <a:ext cx="7315005"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F706C"/>
              </a:buClr>
              <a:buSzPts val="1100"/>
              <a:buFont typeface="Calibri"/>
              <a:buNone/>
            </a:pPr>
            <a:r>
              <a:rPr b="1" lang="en-US" sz="1100">
                <a:solidFill>
                  <a:srgbClr val="B44A3C"/>
                </a:solidFill>
                <a:latin typeface="Calibri"/>
                <a:ea typeface="Calibri"/>
                <a:cs typeface="Calibri"/>
                <a:sym typeface="Calibri"/>
              </a:rPr>
              <a:t>LIMITATIONS</a:t>
            </a:r>
            <a:endParaRPr b="1" sz="1100">
              <a:solidFill>
                <a:srgbClr val="B44A3C"/>
              </a:solidFill>
              <a:latin typeface="Calibri"/>
              <a:ea typeface="Calibri"/>
              <a:cs typeface="Calibri"/>
              <a:sym typeface="Calibri"/>
            </a:endParaRPr>
          </a:p>
        </p:txBody>
      </p:sp>
      <p:sp>
        <p:nvSpPr>
          <p:cNvPr id="612" name="Google Shape;612;g3f8386f7cd2_2_476"/>
          <p:cNvSpPr/>
          <p:nvPr/>
        </p:nvSpPr>
        <p:spPr>
          <a:xfrm>
            <a:off x="777219" y="868680"/>
            <a:ext cx="10241007" cy="6400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2E"/>
              </a:buClr>
              <a:buSzPts val="3200"/>
              <a:buFont typeface="Cambria"/>
              <a:buNone/>
            </a:pPr>
            <a:r>
              <a:rPr b="0" i="0" lang="en-US" sz="3200" u="none" cap="none" strike="noStrike">
                <a:solidFill>
                  <a:srgbClr val="16232E"/>
                </a:solidFill>
                <a:latin typeface="Cambria"/>
                <a:ea typeface="Cambria"/>
                <a:cs typeface="Cambria"/>
                <a:sym typeface="Cambria"/>
              </a:rPr>
              <a:t>What we cannot claim.</a:t>
            </a:r>
            <a:endParaRPr b="0" i="0" sz="3200" u="none" cap="none" strike="noStrike">
              <a:solidFill>
                <a:schemeClr val="dk1"/>
              </a:solidFill>
              <a:latin typeface="Calibri"/>
              <a:ea typeface="Calibri"/>
              <a:cs typeface="Calibri"/>
              <a:sym typeface="Calibri"/>
            </a:endParaRPr>
          </a:p>
        </p:txBody>
      </p:sp>
      <p:sp>
        <p:nvSpPr>
          <p:cNvPr id="613" name="Google Shape;613;g3f8386f7cd2_2_476"/>
          <p:cNvSpPr/>
          <p:nvPr/>
        </p:nvSpPr>
        <p:spPr>
          <a:xfrm>
            <a:off x="777219" y="1783080"/>
            <a:ext cx="548625"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FAFA8"/>
              </a:buClr>
              <a:buSzPts val="1900"/>
              <a:buFont typeface="Cambria"/>
              <a:buNone/>
            </a:pPr>
            <a:r>
              <a:rPr b="0" i="0" lang="en-US" sz="1900" u="none" cap="none" strike="noStrike">
                <a:solidFill>
                  <a:srgbClr val="8FAFA8"/>
                </a:solidFill>
                <a:latin typeface="Cambria"/>
                <a:ea typeface="Cambria"/>
                <a:cs typeface="Cambria"/>
                <a:sym typeface="Cambria"/>
              </a:rPr>
              <a:t>01</a:t>
            </a:r>
            <a:endParaRPr b="0" i="0" sz="1900" u="none" cap="none" strike="noStrike">
              <a:solidFill>
                <a:schemeClr val="dk1"/>
              </a:solidFill>
              <a:latin typeface="Calibri"/>
              <a:ea typeface="Calibri"/>
              <a:cs typeface="Calibri"/>
              <a:sym typeface="Calibri"/>
            </a:endParaRPr>
          </a:p>
        </p:txBody>
      </p:sp>
      <p:sp>
        <p:nvSpPr>
          <p:cNvPr id="614" name="Google Shape;614;g3f8386f7cd2_2_476"/>
          <p:cNvSpPr/>
          <p:nvPr/>
        </p:nvSpPr>
        <p:spPr>
          <a:xfrm>
            <a:off x="1371563" y="1783080"/>
            <a:ext cx="4206128" cy="30175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libri"/>
              <a:buNone/>
            </a:pPr>
            <a:r>
              <a:rPr b="1" i="0" lang="en-US" sz="1550" u="none" cap="none" strike="noStrike">
                <a:solidFill>
                  <a:srgbClr val="16232E"/>
                </a:solidFill>
                <a:latin typeface="Calibri"/>
                <a:ea typeface="Calibri"/>
                <a:cs typeface="Calibri"/>
                <a:sym typeface="Calibri"/>
              </a:rPr>
              <a:t>Status</a:t>
            </a:r>
            <a:endParaRPr b="0" i="0" sz="1550" u="none" cap="none" strike="noStrike">
              <a:solidFill>
                <a:schemeClr val="dk1"/>
              </a:solidFill>
              <a:latin typeface="Calibri"/>
              <a:ea typeface="Calibri"/>
              <a:cs typeface="Calibri"/>
              <a:sym typeface="Calibri"/>
            </a:endParaRPr>
          </a:p>
        </p:txBody>
      </p:sp>
      <p:sp>
        <p:nvSpPr>
          <p:cNvPr id="615" name="Google Shape;615;g3f8386f7cd2_2_476"/>
          <p:cNvSpPr/>
          <p:nvPr/>
        </p:nvSpPr>
        <p:spPr>
          <a:xfrm>
            <a:off x="1371563" y="2130552"/>
            <a:ext cx="4343284" cy="9144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2333D"/>
              </a:buClr>
              <a:buSzPts val="1300"/>
              <a:buFont typeface="Calibri"/>
              <a:buNone/>
            </a:pPr>
            <a:r>
              <a:rPr b="0" i="0" lang="en-US" sz="1300" u="none" cap="none" strike="noStrike">
                <a:solidFill>
                  <a:srgbClr val="22333D"/>
                </a:solidFill>
                <a:latin typeface="Calibri"/>
                <a:ea typeface="Calibri"/>
                <a:cs typeface="Calibri"/>
                <a:sym typeface="Calibri"/>
              </a:rPr>
              <a:t>A prototype and a proposal. No component clinically signed off, no study run, every effect above hypothesised.</a:t>
            </a:r>
            <a:endParaRPr b="0" i="0" sz="1300" u="none" cap="none" strike="noStrike">
              <a:solidFill>
                <a:schemeClr val="dk1"/>
              </a:solidFill>
              <a:latin typeface="Calibri"/>
              <a:ea typeface="Calibri"/>
              <a:cs typeface="Calibri"/>
              <a:sym typeface="Calibri"/>
            </a:endParaRPr>
          </a:p>
        </p:txBody>
      </p:sp>
      <p:sp>
        <p:nvSpPr>
          <p:cNvPr id="616" name="Google Shape;616;g3f8386f7cd2_2_476"/>
          <p:cNvSpPr/>
          <p:nvPr/>
        </p:nvSpPr>
        <p:spPr>
          <a:xfrm>
            <a:off x="6263473" y="1783080"/>
            <a:ext cx="548625"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FAFA8"/>
              </a:buClr>
              <a:buSzPts val="1900"/>
              <a:buFont typeface="Cambria"/>
              <a:buNone/>
            </a:pPr>
            <a:r>
              <a:rPr b="0" i="0" lang="en-US" sz="1900" u="none" cap="none" strike="noStrike">
                <a:solidFill>
                  <a:srgbClr val="8FAFA8"/>
                </a:solidFill>
                <a:latin typeface="Cambria"/>
                <a:ea typeface="Cambria"/>
                <a:cs typeface="Cambria"/>
                <a:sym typeface="Cambria"/>
              </a:rPr>
              <a:t>02</a:t>
            </a:r>
            <a:endParaRPr b="0" i="0" sz="1900" u="none" cap="none" strike="noStrike">
              <a:solidFill>
                <a:schemeClr val="dk1"/>
              </a:solidFill>
              <a:latin typeface="Calibri"/>
              <a:ea typeface="Calibri"/>
              <a:cs typeface="Calibri"/>
              <a:sym typeface="Calibri"/>
            </a:endParaRPr>
          </a:p>
        </p:txBody>
      </p:sp>
      <p:sp>
        <p:nvSpPr>
          <p:cNvPr id="617" name="Google Shape;617;g3f8386f7cd2_2_476"/>
          <p:cNvSpPr/>
          <p:nvPr/>
        </p:nvSpPr>
        <p:spPr>
          <a:xfrm>
            <a:off x="6857817" y="1783080"/>
            <a:ext cx="4206128" cy="30175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libri"/>
              <a:buNone/>
            </a:pPr>
            <a:r>
              <a:rPr b="1" i="0" lang="en-US" sz="1550" u="none" cap="none" strike="noStrike">
                <a:solidFill>
                  <a:srgbClr val="16232E"/>
                </a:solidFill>
                <a:latin typeface="Calibri"/>
                <a:ea typeface="Calibri"/>
                <a:cs typeface="Calibri"/>
                <a:sym typeface="Calibri"/>
              </a:rPr>
              <a:t>Our framing may be too tidy</a:t>
            </a:r>
            <a:endParaRPr b="0" i="0" sz="1550" u="none" cap="none" strike="noStrike">
              <a:solidFill>
                <a:schemeClr val="dk1"/>
              </a:solidFill>
              <a:latin typeface="Calibri"/>
              <a:ea typeface="Calibri"/>
              <a:cs typeface="Calibri"/>
              <a:sym typeface="Calibri"/>
            </a:endParaRPr>
          </a:p>
        </p:txBody>
      </p:sp>
      <p:sp>
        <p:nvSpPr>
          <p:cNvPr id="618" name="Google Shape;618;g3f8386f7cd2_2_476"/>
          <p:cNvSpPr/>
          <p:nvPr/>
        </p:nvSpPr>
        <p:spPr>
          <a:xfrm>
            <a:off x="6857817" y="2130552"/>
            <a:ext cx="4343284" cy="9144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2333D"/>
              </a:buClr>
              <a:buSzPts val="1300"/>
              <a:buFont typeface="Calibri"/>
              <a:buNone/>
            </a:pPr>
            <a:r>
              <a:rPr b="0" i="0" lang="en-US" sz="1300" u="none" cap="none" strike="noStrike">
                <a:solidFill>
                  <a:srgbClr val="22333D"/>
                </a:solidFill>
                <a:latin typeface="Calibri"/>
                <a:ea typeface="Calibri"/>
                <a:cs typeface="Calibri"/>
                <a:sym typeface="Calibri"/>
              </a:rPr>
              <a:t>The two opening cases are journalism, not data. Cultural heterogeneity within China is treated too simply throughout.</a:t>
            </a:r>
            <a:endParaRPr b="0" i="0" sz="1300" u="none" cap="none" strike="noStrike">
              <a:solidFill>
                <a:schemeClr val="dk1"/>
              </a:solidFill>
              <a:latin typeface="Calibri"/>
              <a:ea typeface="Calibri"/>
              <a:cs typeface="Calibri"/>
              <a:sym typeface="Calibri"/>
            </a:endParaRPr>
          </a:p>
        </p:txBody>
      </p:sp>
      <p:sp>
        <p:nvSpPr>
          <p:cNvPr id="619" name="Google Shape;619;g3f8386f7cd2_2_476"/>
          <p:cNvSpPr/>
          <p:nvPr/>
        </p:nvSpPr>
        <p:spPr>
          <a:xfrm>
            <a:off x="777219" y="3264408"/>
            <a:ext cx="548625"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FAFA8"/>
              </a:buClr>
              <a:buSzPts val="1900"/>
              <a:buFont typeface="Cambria"/>
              <a:buNone/>
            </a:pPr>
            <a:r>
              <a:rPr b="0" i="0" lang="en-US" sz="1900" u="none" cap="none" strike="noStrike">
                <a:solidFill>
                  <a:srgbClr val="8FAFA8"/>
                </a:solidFill>
                <a:latin typeface="Cambria"/>
                <a:ea typeface="Cambria"/>
                <a:cs typeface="Cambria"/>
                <a:sym typeface="Cambria"/>
              </a:rPr>
              <a:t>03</a:t>
            </a:r>
            <a:endParaRPr b="0" i="0" sz="1900" u="none" cap="none" strike="noStrike">
              <a:solidFill>
                <a:schemeClr val="dk1"/>
              </a:solidFill>
              <a:latin typeface="Calibri"/>
              <a:ea typeface="Calibri"/>
              <a:cs typeface="Calibri"/>
              <a:sym typeface="Calibri"/>
            </a:endParaRPr>
          </a:p>
        </p:txBody>
      </p:sp>
      <p:sp>
        <p:nvSpPr>
          <p:cNvPr id="620" name="Google Shape;620;g3f8386f7cd2_2_476"/>
          <p:cNvSpPr/>
          <p:nvPr/>
        </p:nvSpPr>
        <p:spPr>
          <a:xfrm>
            <a:off x="1371563" y="3264408"/>
            <a:ext cx="4206128" cy="30175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1550"/>
              <a:buFont typeface="Calibri"/>
              <a:buNone/>
            </a:pPr>
            <a:r>
              <a:rPr b="1" i="0" lang="en-US" sz="1550" u="none" cap="none" strike="noStrike">
                <a:solidFill>
                  <a:srgbClr val="16232E"/>
                </a:solidFill>
                <a:latin typeface="Calibri"/>
                <a:ea typeface="Calibri"/>
                <a:cs typeface="Calibri"/>
                <a:sym typeface="Calibri"/>
              </a:rPr>
              <a:t>The outcomes we most want are unreachable</a:t>
            </a:r>
            <a:endParaRPr b="0" i="0" sz="1550" u="none" cap="none" strike="noStrike">
              <a:solidFill>
                <a:schemeClr val="dk1"/>
              </a:solidFill>
              <a:latin typeface="Calibri"/>
              <a:ea typeface="Calibri"/>
              <a:cs typeface="Calibri"/>
              <a:sym typeface="Calibri"/>
            </a:endParaRPr>
          </a:p>
        </p:txBody>
      </p:sp>
      <p:sp>
        <p:nvSpPr>
          <p:cNvPr id="621" name="Google Shape;621;g3f8386f7cd2_2_476"/>
          <p:cNvSpPr/>
          <p:nvPr/>
        </p:nvSpPr>
        <p:spPr>
          <a:xfrm>
            <a:off x="1371563" y="3611880"/>
            <a:ext cx="4343284" cy="9144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2333D"/>
              </a:buClr>
              <a:buSzPts val="1300"/>
              <a:buFont typeface="Calibri"/>
              <a:buNone/>
            </a:pPr>
            <a:r>
              <a:rPr b="0" i="0" lang="en-US" sz="1300" u="none" cap="none" strike="noStrike">
                <a:solidFill>
                  <a:srgbClr val="22333D"/>
                </a:solidFill>
                <a:latin typeface="Calibri"/>
                <a:ea typeface="Calibri"/>
                <a:cs typeface="Calibri"/>
                <a:sym typeface="Calibri"/>
              </a:rPr>
              <a:t>They belong to people we should not enroll, and the consent problem removes much of the patient-reported data an evaluator would want.</a:t>
            </a:r>
            <a:endParaRPr b="0" i="0" sz="1300" u="none" cap="none" strike="noStrike">
              <a:solidFill>
                <a:schemeClr val="dk1"/>
              </a:solidFill>
              <a:latin typeface="Calibri"/>
              <a:ea typeface="Calibri"/>
              <a:cs typeface="Calibri"/>
              <a:sym typeface="Calibri"/>
            </a:endParaRPr>
          </a:p>
        </p:txBody>
      </p:sp>
      <p:sp>
        <p:nvSpPr>
          <p:cNvPr id="622" name="Google Shape;622;g3f8386f7cd2_2_476"/>
          <p:cNvSpPr/>
          <p:nvPr/>
        </p:nvSpPr>
        <p:spPr>
          <a:xfrm>
            <a:off x="6126726" y="3264400"/>
            <a:ext cx="5074500" cy="1764900"/>
          </a:xfrm>
          <a:prstGeom prst="roundRect">
            <a:avLst>
              <a:gd fmla="val 3500" name="adj"/>
            </a:avLst>
          </a:prstGeom>
          <a:solidFill>
            <a:srgbClr val="F4F7F4"/>
          </a:solidFill>
          <a:ln cap="flat" cmpd="sng" w="12700">
            <a:solidFill>
              <a:srgbClr val="B44A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g3f8386f7cd2_2_476"/>
          <p:cNvSpPr/>
          <p:nvPr/>
        </p:nvSpPr>
        <p:spPr>
          <a:xfrm>
            <a:off x="6309207" y="3406138"/>
            <a:ext cx="5487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4A3C"/>
              </a:buClr>
              <a:buSzPts val="1900"/>
              <a:buFont typeface="Cambria"/>
              <a:buNone/>
            </a:pPr>
            <a:r>
              <a:rPr b="0" i="0" lang="en-US" sz="1900" u="none" cap="none" strike="noStrike">
                <a:solidFill>
                  <a:srgbClr val="B44A3C"/>
                </a:solidFill>
                <a:latin typeface="Cambria"/>
                <a:ea typeface="Cambria"/>
                <a:cs typeface="Cambria"/>
                <a:sym typeface="Cambria"/>
              </a:rPr>
              <a:t>04</a:t>
            </a:r>
            <a:endParaRPr b="0" i="0" sz="1900" u="none" cap="none" strike="noStrike">
              <a:solidFill>
                <a:schemeClr val="dk1"/>
              </a:solidFill>
              <a:latin typeface="Calibri"/>
              <a:ea typeface="Calibri"/>
              <a:cs typeface="Calibri"/>
              <a:sym typeface="Calibri"/>
            </a:endParaRPr>
          </a:p>
        </p:txBody>
      </p:sp>
      <p:sp>
        <p:nvSpPr>
          <p:cNvPr id="624" name="Google Shape;624;g3f8386f7cd2_2_476"/>
          <p:cNvSpPr/>
          <p:nvPr/>
        </p:nvSpPr>
        <p:spPr>
          <a:xfrm>
            <a:off x="6906776" y="3429000"/>
            <a:ext cx="4111500" cy="8229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2333D"/>
              </a:buClr>
              <a:buSzPts val="1300"/>
              <a:buFont typeface="Calibri"/>
              <a:buNone/>
            </a:pPr>
            <a:r>
              <a:rPr b="1" i="0" lang="en-US" sz="1300" u="none" cap="none" strike="noStrike">
                <a:solidFill>
                  <a:srgbClr val="22333D"/>
                </a:solidFill>
                <a:latin typeface="Calibri"/>
                <a:ea typeface="Calibri"/>
                <a:cs typeface="Calibri"/>
                <a:sym typeface="Calibri"/>
              </a:rPr>
              <a:t>And most seriously: the intervention could become the thing it opposes.  </a:t>
            </a:r>
            <a:r>
              <a:rPr b="0" i="0" lang="en-US" sz="1300" u="none" cap="none" strike="noStrike">
                <a:solidFill>
                  <a:srgbClr val="22333D"/>
                </a:solidFill>
                <a:latin typeface="Calibri"/>
                <a:ea typeface="Calibri"/>
                <a:cs typeface="Calibri"/>
                <a:sym typeface="Calibri"/>
              </a:rPr>
              <a:t>A family that reads a guide together, feels the matter has been handled, and never has the conversation has used the platform to repair the account rather than the situation. It is why “did the conversation happen” has to stay the primary question.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A"/>
        </a:solidFill>
      </p:bgPr>
    </p:bg>
    <p:spTree>
      <p:nvGrpSpPr>
        <p:cNvPr id="629" name="Shape 629"/>
        <p:cNvGrpSpPr/>
        <p:nvPr/>
      </p:nvGrpSpPr>
      <p:grpSpPr>
        <a:xfrm>
          <a:off x="0" y="0"/>
          <a:ext cx="0" cy="0"/>
          <a:chOff x="0" y="0"/>
          <a:chExt cx="0" cy="0"/>
        </a:xfrm>
      </p:grpSpPr>
      <p:pic>
        <p:nvPicPr>
          <p:cNvPr descr="/home/claude/badge.png" id="630" name="Google Shape;630;g3f8386f7cd2_2_502"/>
          <p:cNvPicPr preferRelativeResize="0"/>
          <p:nvPr/>
        </p:nvPicPr>
        <p:blipFill rotWithShape="1">
          <a:blip r:embed="rId3">
            <a:alphaModFix/>
          </a:blip>
          <a:srcRect b="0" l="0" r="0" t="0"/>
          <a:stretch/>
        </p:blipFill>
        <p:spPr>
          <a:xfrm>
            <a:off x="777219" y="1051560"/>
            <a:ext cx="1051532" cy="1051532"/>
          </a:xfrm>
          <a:prstGeom prst="rect">
            <a:avLst/>
          </a:prstGeom>
          <a:noFill/>
          <a:ln>
            <a:noFill/>
          </a:ln>
        </p:spPr>
      </p:pic>
      <p:sp>
        <p:nvSpPr>
          <p:cNvPr id="631" name="Google Shape;631;g3f8386f7cd2_2_502"/>
          <p:cNvSpPr/>
          <p:nvPr/>
        </p:nvSpPr>
        <p:spPr>
          <a:xfrm>
            <a:off x="777219" y="2377440"/>
            <a:ext cx="7315005"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5400"/>
              <a:buFont typeface="Cambria"/>
              <a:buNone/>
            </a:pPr>
            <a:r>
              <a:rPr b="0" i="0" lang="en-US" sz="5400" u="none" cap="none" strike="noStrike">
                <a:solidFill>
                  <a:srgbClr val="16232E"/>
                </a:solidFill>
                <a:latin typeface="Cambria"/>
                <a:ea typeface="Cambria"/>
                <a:cs typeface="Cambria"/>
                <a:sym typeface="Cambria"/>
              </a:rPr>
              <a:t>Thank you</a:t>
            </a:r>
            <a:endParaRPr b="0" i="0" sz="5400" u="none" cap="none" strike="noStrike">
              <a:solidFill>
                <a:schemeClr val="dk1"/>
              </a:solidFill>
              <a:latin typeface="Calibri"/>
              <a:ea typeface="Calibri"/>
              <a:cs typeface="Calibri"/>
              <a:sym typeface="Calibri"/>
            </a:endParaRPr>
          </a:p>
        </p:txBody>
      </p:sp>
      <p:sp>
        <p:nvSpPr>
          <p:cNvPr id="632" name="Google Shape;632;g3f8386f7cd2_2_502"/>
          <p:cNvSpPr/>
          <p:nvPr/>
        </p:nvSpPr>
        <p:spPr>
          <a:xfrm>
            <a:off x="777219" y="3474720"/>
            <a:ext cx="67663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333D"/>
              </a:buClr>
              <a:buSzPts val="1600"/>
              <a:buFont typeface="Calibri"/>
              <a:buNone/>
            </a:pPr>
            <a:r>
              <a:rPr b="0" i="0" lang="en-US" sz="1600" u="none" cap="none" strike="noStrike">
                <a:solidFill>
                  <a:srgbClr val="22333D"/>
                </a:solidFill>
                <a:latin typeface="Calibri"/>
                <a:ea typeface="Calibri"/>
                <a:cs typeface="Calibri"/>
                <a:sym typeface="Calibri"/>
              </a:rPr>
              <a:t>Questions, and the prototype is live if you would like to try it.</a:t>
            </a:r>
            <a:endParaRPr b="0" i="0" sz="1600" u="none" cap="none" strike="noStrike">
              <a:solidFill>
                <a:schemeClr val="dk1"/>
              </a:solidFill>
              <a:latin typeface="Calibri"/>
              <a:ea typeface="Calibri"/>
              <a:cs typeface="Calibri"/>
              <a:sym typeface="Calibri"/>
            </a:endParaRPr>
          </a:p>
        </p:txBody>
      </p:sp>
      <p:sp>
        <p:nvSpPr>
          <p:cNvPr id="633" name="Google Shape;633;g3f8386f7cd2_2_502"/>
          <p:cNvSpPr/>
          <p:nvPr/>
        </p:nvSpPr>
        <p:spPr>
          <a:xfrm>
            <a:off x="777219" y="4206240"/>
            <a:ext cx="749788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2E"/>
              </a:buClr>
              <a:buSzPts val="1350"/>
              <a:buFont typeface="Calibri"/>
              <a:buNone/>
            </a:pPr>
            <a:r>
              <a:rPr b="1" i="0" lang="en-US" sz="1350" u="none" cap="none" strike="noStrike">
                <a:solidFill>
                  <a:srgbClr val="16232E"/>
                </a:solidFill>
                <a:latin typeface="Calibri"/>
                <a:ea typeface="Calibri"/>
                <a:cs typeface="Calibri"/>
                <a:sym typeface="Calibri"/>
              </a:rPr>
              <a:t>Jason Shi  ·  Ksenia Kozhukhar  ·  Antonio Capilla  ·  Selena Zhang  ·  Carlina Moore</a:t>
            </a:r>
            <a:endParaRPr b="0" i="0" sz="1350" u="none" cap="none" strike="noStrike">
              <a:solidFill>
                <a:schemeClr val="dk1"/>
              </a:solidFill>
              <a:latin typeface="Calibri"/>
              <a:ea typeface="Calibri"/>
              <a:cs typeface="Calibri"/>
              <a:sym typeface="Calibri"/>
            </a:endParaRPr>
          </a:p>
        </p:txBody>
      </p:sp>
      <p:sp>
        <p:nvSpPr>
          <p:cNvPr id="634" name="Google Shape;634;g3f8386f7cd2_2_502"/>
          <p:cNvSpPr/>
          <p:nvPr/>
        </p:nvSpPr>
        <p:spPr>
          <a:xfrm>
            <a:off x="777219" y="4617720"/>
            <a:ext cx="749788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F706C"/>
              </a:buClr>
              <a:buSzPts val="1300"/>
              <a:buFont typeface="Calibri"/>
              <a:buNone/>
            </a:pPr>
            <a:r>
              <a:rPr b="0" i="0" lang="en-US" sz="1300" u="none" cap="none" strike="noStrike">
                <a:solidFill>
                  <a:srgbClr val="5F706C"/>
                </a:solidFill>
                <a:latin typeface="Calibri"/>
                <a:ea typeface="Calibri"/>
                <a:cs typeface="Calibri"/>
                <a:sym typeface="Calibri"/>
              </a:rPr>
              <a:t>Group 2      Teaching Assistant: Michelle Shi</a:t>
            </a:r>
            <a:endParaRPr b="0" i="0" sz="1300" u="none" cap="none" strike="noStrike">
              <a:solidFill>
                <a:schemeClr val="dk1"/>
              </a:solidFill>
              <a:latin typeface="Calibri"/>
              <a:ea typeface="Calibri"/>
              <a:cs typeface="Calibri"/>
              <a:sym typeface="Calibri"/>
            </a:endParaRPr>
          </a:p>
        </p:txBody>
      </p:sp>
      <p:sp>
        <p:nvSpPr>
          <p:cNvPr id="635" name="Google Shape;635;g3f8386f7cd2_2_502"/>
          <p:cNvSpPr/>
          <p:nvPr/>
        </p:nvSpPr>
        <p:spPr>
          <a:xfrm>
            <a:off x="8778006" y="2148840"/>
            <a:ext cx="2651689" cy="2651760"/>
          </a:xfrm>
          <a:prstGeom prst="roundRect">
            <a:avLst>
              <a:gd fmla="val 3500" name="adj"/>
            </a:avLst>
          </a:prstGeom>
          <a:solidFill>
            <a:srgbClr val="F4F7F4"/>
          </a:solidFill>
          <a:ln cap="flat" cmpd="sng" w="12700">
            <a:solidFill>
              <a:srgbClr val="C6D1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g3f8386f7cd2_2_502"/>
          <p:cNvSpPr/>
          <p:nvPr/>
        </p:nvSpPr>
        <p:spPr>
          <a:xfrm>
            <a:off x="8778006" y="3291840"/>
            <a:ext cx="2651689"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F706C"/>
              </a:buClr>
              <a:buSzPts val="1200"/>
              <a:buFont typeface="Calibri"/>
              <a:buNone/>
            </a:pPr>
            <a:r>
              <a:rPr b="0" i="0" lang="en-US" sz="1200" u="none" cap="none" strike="noStrike">
                <a:solidFill>
                  <a:srgbClr val="5F706C"/>
                </a:solidFill>
                <a:latin typeface="Calibri"/>
                <a:ea typeface="Calibri"/>
                <a:cs typeface="Calibri"/>
                <a:sym typeface="Calibri"/>
              </a:rPr>
              <a:t>QR here</a:t>
            </a:r>
            <a:endParaRPr b="0" i="0" sz="1200" u="none" cap="none" strike="noStrike">
              <a:solidFill>
                <a:schemeClr val="dk1"/>
              </a:solidFill>
              <a:latin typeface="Calibri"/>
              <a:ea typeface="Calibri"/>
              <a:cs typeface="Calibri"/>
              <a:sym typeface="Calibri"/>
            </a:endParaRPr>
          </a:p>
        </p:txBody>
      </p:sp>
      <p:sp>
        <p:nvSpPr>
          <p:cNvPr id="637" name="Google Shape;637;g3f8386f7cd2_2_502"/>
          <p:cNvSpPr/>
          <p:nvPr/>
        </p:nvSpPr>
        <p:spPr>
          <a:xfrm>
            <a:off x="777219" y="5747004"/>
            <a:ext cx="118869" cy="118872"/>
          </a:xfrm>
          <a:prstGeom prst="ellipse">
            <a:avLst/>
          </a:prstGeom>
          <a:solidFill>
            <a:srgbClr val="E9EDEA"/>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g3f8386f7cd2_2_502"/>
          <p:cNvSpPr/>
          <p:nvPr/>
        </p:nvSpPr>
        <p:spPr>
          <a:xfrm>
            <a:off x="1088107" y="5715000"/>
            <a:ext cx="182875" cy="182880"/>
          </a:xfrm>
          <a:prstGeom prst="ellipse">
            <a:avLst/>
          </a:prstGeom>
          <a:solidFill>
            <a:srgbClr val="E9EDEA"/>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g3f8386f7cd2_2_502"/>
          <p:cNvSpPr/>
          <p:nvPr/>
        </p:nvSpPr>
        <p:spPr>
          <a:xfrm>
            <a:off x="1398995" y="5669280"/>
            <a:ext cx="274313" cy="274320"/>
          </a:xfrm>
          <a:prstGeom prst="ellipse">
            <a:avLst/>
          </a:prstGeom>
          <a:solidFill>
            <a:srgbClr val="E9EDEA"/>
          </a:solidFill>
          <a:ln cap="flat" cmpd="sng" w="12700">
            <a:solidFill>
              <a:srgbClr val="8FAF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g3f8386f7cd2_2_502"/>
          <p:cNvSpPr/>
          <p:nvPr/>
        </p:nvSpPr>
        <p:spPr>
          <a:xfrm>
            <a:off x="1709882" y="5715000"/>
            <a:ext cx="182875" cy="182880"/>
          </a:xfrm>
          <a:prstGeom prst="ellipse">
            <a:avLst/>
          </a:prstGeom>
          <a:solidFill>
            <a:srgbClr val="B44A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41" name="Google Shape;641;g3f8386f7cd2_2_502" title="Screenshot 2026-08-22 at 6.50.19 PM.png"/>
          <p:cNvPicPr preferRelativeResize="0"/>
          <p:nvPr/>
        </p:nvPicPr>
        <p:blipFill rotWithShape="1">
          <a:blip r:embed="rId4">
            <a:alphaModFix/>
          </a:blip>
          <a:srcRect b="0" l="0" r="0" t="0"/>
          <a:stretch/>
        </p:blipFill>
        <p:spPr>
          <a:xfrm>
            <a:off x="7748578" y="1642026"/>
            <a:ext cx="3567149" cy="35739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